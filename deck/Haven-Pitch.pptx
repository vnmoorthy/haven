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MRR ($k)</c:v>
                </c:pt>
              </c:strCache>
            </c:strRef>
          </c:tx>
          <c:spPr>
            <a:ln w="34925">
              <a:solidFill>
                <a:srgbClr val="22D3EE"/>
              </a:solidFill>
            </a:ln>
          </c:spPr>
          <c:marker>
            <c:size val="7"/>
            <c:spPr>
              <a:solidFill>
                <a:srgbClr val="A78BFA"/>
              </a:solidFill>
              <a:ln>
                <a:solidFill>
                  <a:srgbClr val="A78BFA"/>
                </a:solidFill>
              </a:ln>
            </c:spPr>
          </c:marker>
          <c:cat>
            <c:strRef>
              <c:f>Sheet1!$A$2:$A$6</c:f>
              <c:strCache>
                <c:ptCount val="5"/>
                <c:pt idx="0">
                  <c:v>M1</c:v>
                </c:pt>
                <c:pt idx="1">
                  <c:v>M3</c:v>
                </c:pt>
                <c:pt idx="2">
                  <c:v>M6</c:v>
                </c:pt>
                <c:pt idx="3">
                  <c:v>M9</c:v>
                </c:pt>
                <c:pt idx="4">
                  <c:v>M12</c:v>
                </c:pt>
              </c:strCache>
            </c:strRef>
          </c:cat>
          <c:val>
            <c:numRef>
              <c:f>Sheet1!$B$2:$B$6</c:f>
              <c:numCache>
                <c:formatCode>General</c:formatCode>
                <c:ptCount val="5"/>
                <c:pt idx="0">
                  <c:v>0.6</c:v>
                </c:pt>
                <c:pt idx="1">
                  <c:v>3</c:v>
                </c:pt>
                <c:pt idx="2">
                  <c:v>12</c:v>
                </c:pt>
                <c:pt idx="3">
                  <c:v>30</c:v>
                </c:pt>
                <c:pt idx="4">
                  <c:v>60</c:v>
                </c:pt>
              </c:numCache>
            </c:numRef>
          </c:val>
          <c:smooth/>
        </c:ser>
        <c:dLbls>
          <c:numFmt formatCode="&quot;$&quot;0.#&quot;k&quot;" sourceLinked="0"/>
          <c:txPr>
            <a:bodyPr/>
            <a:lstStyle/>
            <a:p>
              <a:pPr>
                <a:defRPr sz="1000" b="1">
                  <a:solidFill>
                    <a:srgbClr val="E6E8EF"/>
                  </a:solidFill>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2A2E3E"/>
            </a:solidFill>
          </a:ln>
        </c:spPr>
        <c:txPr>
          <a:bodyPr/>
          <a:lstStyle/>
          <a:p>
            <a:pPr>
              <a:defRPr>
                <a:solidFill>
                  <a:srgbClr val="8B90A0"/>
                </a:solidFill>
              </a:defRPr>
            </a:pPr>
          </a:p>
        </c:txPr>
        <c:crossAx val="2140495176"/>
        <c:crosses val="autoZero"/>
        <c:auto val="1"/>
        <c:lblAlgn val="ctr"/>
        <c:lblOffset val="100"/>
        <c:noMultiLvlLbl val="0"/>
      </c:catAx>
      <c:valAx>
        <c:axId val="2140495176"/>
        <c:scaling/>
        <c:delete/>
        <c:axPos val="l"/>
        <c:majorTickMark val="out"/>
        <c:minorTickMark val="none"/>
        <c:tickLblPos val="nextTo"/>
        <c:crossAx val="2118791784"/>
        <c:crosses val="autoZero"/>
      </c:valAx>
    </c:plotArea>
    <c:plotVisOnly val="1"/>
    <c:dispBlanksAs val="gap"/>
    <c:showDLblsOverMax val="0"/>
  </c:chart>
  <c:txPr>
    <a:bodyPr/>
    <a:lstStyle/>
    <a:p>
      <a:pPr>
        <a:defRPr sz="1000">
          <a:solidFill>
            <a:srgbClr val="8B90A0"/>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Moorthy. This is Haven: the AI Trust and Safety team for every online community. Haven is an AI-native company: one human founder and eight AI employees who screen messages, investigate threats, and care for people in crisis, around the clock. We built it on fourteen sponsor tools. In the next few minutes I'll show you the problem, the team, and a live takedown.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more than thirty million online communities, and almost all of them are protected by unpaid volunteers. Scams, phishing links, raids and people in crisis show up at 3 AM, when nobody is online. A human moderator costs about four dollars twenty per incident, so most communities simply go unprotected. Moderators burn out, and harm spreads in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Haven is an AI-native Trust and Safety company. It plugs into your community and does three things. It detects threats in under a second: Nova screens every message. It investigates with evidence: Rex detonates suspicious links in a sandbox. And it cares for humans: Mira responds to people in crisis within seconds. This is Mission Control, where the founder sees everything live.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company. I'm the only human. Aria, our Chief of Staff, routes every task over BAND and writes my daily briefing. Under her are seven specialists: Nova triages, Rex investigates links, Mira handles wellbeing and crisis, Kai audits third-party bots, Iris answers data questions, Juno owns policy, and Leo runs onboarding and customer success. Each one uses specific sponsor tools.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message flows through one loop. Nova screens it with a RocketRide pipeline. Anything risky goes over BAND to Aria, who delegates to the right specialist: Rex for links, Mira for crisis, Juno for policy, Kai for bots. Bans come to me for a one-click approval, n8n logs enforcement, and PromptQL plus Finch skills turn every incident into learning. All model calls run through Flatkey.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live demo. A scammer posts a fake free Premium link. In 0.4 seconds Nova flags it and quarantines it. Aria delegates to Rex, who detonates the link in a Celesto sandbox and captures the credential harvester at four seconds. At six seconds Rex warns the channel and Juno blocklists the domain. I approve the ban in one click. Same speed for crisis care, bot audits and data questions.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has to be designed in. AI never bans on its own: every ban needs my one-click approval. Crisis messages are never auto-deleted and always reach a human. We redact personal data before any model call. Our policies are specs checked by Prelint, and our CI is gated by Snyk on Tenki runners. On the left, Kai's audit of a malicious bot, graded 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Haven is built on fourteen sponsor tools, and each one has a real job. Kylon defines the workforce, BAND carries agent messages, RocketRide does triage, AdaL and Celesto detonate links, Masky gives Mira a face and voice, Flatkey routes models, PromptQL answers questions, Paritok compresses context, Finch holds skills, n8n runs workflows, and Snyk, Tenki and Prelint keep us secure and on-policy.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business is simple SaaS. Starter is forty-nine dollars a month for up to a thousand members, Growth is two ninety-nine for up to twenty-five thousand, and Enterprise is custom for platforms. A human moderator costs about four twenty per incident; Haven costs about a cent. The market is over fifteen billion dollars, and today we protect four demo communities with forty thousand members.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vision: every online community, big or small, gets its own 24/7 AI Trust and Safety team. We're looking for design-partner communities to pilot Haven, platform partners for distribution, and sponsor support to scale the AI team. Everything is open on GitHub at vnmoorthy/haven. Thank you. Haven, built by one human and eight AI employees.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hyperlink" Target="https://github.com/vnmoorthy/haven" TargetMode="Externa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10.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13.png"/><Relationship Id="rId8" Type="http://schemas.openxmlformats.org/officeDocument/2006/relationships/image" Target="../media/image10.png"/><Relationship Id="rId9" Type="http://schemas.openxmlformats.org/officeDocument/2006/relationships/image" Target="../media/image12.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16.png"/><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chart" Target="../charts/char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hyperlink" Target="https://github.com/vnmoorthy/haven" TargetMode="External"/><Relationship Id="rId8"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60A"/>
        </a:solidFill>
        <a:effectLst/>
      </p:bgPr>
    </p:bg>
    <p:spTree>
      <p:nvGrpSpPr>
        <p:cNvPr id="1" name=""/>
        <p:cNvGrpSpPr/>
        <p:nvPr/>
      </p:nvGrpSpPr>
      <p:grpSpPr/>
      <p:pic>
        <p:nvPicPr>
          <p:cNvPr id="2" name="!!bg" descr="bg.png"/>
          <p:cNvPicPr>
            <a:picLocks noChangeAspect="1"/>
          </p:cNvPicPr>
          <p:nvPr/>
        </p:nvPicPr>
        <p:blipFill>
          <a:blip r:embed="rId2"/>
          <a:stretch>
            <a:fillRect/>
          </a:stretch>
        </p:blipFill>
        <p:spPr>
          <a:xfrm>
            <a:off x="0" y="0"/>
            <a:ext cx="12191695" cy="6858000"/>
          </a:xfrm>
          <a:prstGeom prst="rect">
            <a:avLst/>
          </a:prstGeom>
        </p:spPr>
      </p:pic>
      <p:pic>
        <p:nvPicPr>
          <p:cNvPr id="3" name="!!orb_violet" descr="orb_violet.png"/>
          <p:cNvPicPr>
            <a:picLocks noChangeAspect="1"/>
          </p:cNvPicPr>
          <p:nvPr/>
        </p:nvPicPr>
        <p:blipFill>
          <a:blip r:embed="rId3"/>
          <a:stretch>
            <a:fillRect/>
          </a:stretch>
        </p:blipFill>
        <p:spPr>
          <a:xfrm>
            <a:off x="-1371600" y="-1828800"/>
            <a:ext cx="7315200" cy="7315200"/>
          </a:xfrm>
          <a:prstGeom prst="rect">
            <a:avLst/>
          </a:prstGeom>
        </p:spPr>
      </p:pic>
      <p:pic>
        <p:nvPicPr>
          <p:cNvPr id="4" name="!!orb_cyan" descr="orb_cyan.png"/>
          <p:cNvPicPr>
            <a:picLocks noChangeAspect="1"/>
          </p:cNvPicPr>
          <p:nvPr/>
        </p:nvPicPr>
        <p:blipFill>
          <a:blip r:embed="rId4"/>
          <a:stretch>
            <a:fillRect/>
          </a:stretch>
        </p:blipFill>
        <p:spPr>
          <a:xfrm>
            <a:off x="6858000" y="2286000"/>
            <a:ext cx="7315200" cy="7315200"/>
          </a:xfrm>
          <a:prstGeom prst="rect">
            <a:avLst/>
          </a:prstGeom>
        </p:spPr>
      </p:pic>
      <p:pic>
        <p:nvPicPr>
          <p:cNvPr id="5" name="!!orb_rose" descr="orb_rose.png"/>
          <p:cNvPicPr>
            <a:picLocks noChangeAspect="1"/>
          </p:cNvPicPr>
          <p:nvPr/>
        </p:nvPicPr>
        <p:blipFill>
          <a:blip r:embed="rId5"/>
          <a:stretch>
            <a:fillRect/>
          </a:stretch>
        </p:blipFill>
        <p:spPr>
          <a:xfrm>
            <a:off x="4114800" y="4754880"/>
            <a:ext cx="4572000" cy="4572000"/>
          </a:xfrm>
          <a:prstGeom prst="rect">
            <a:avLst/>
          </a:prstGeom>
        </p:spPr>
      </p:pic>
      <p:pic>
        <p:nvPicPr>
          <p:cNvPr id="6" name="!!herologo" descr="logo.png"/>
          <p:cNvPicPr>
            <a:picLocks noChangeAspect="1"/>
          </p:cNvPicPr>
          <p:nvPr/>
        </p:nvPicPr>
        <p:blipFill>
          <a:blip r:embed="rId6"/>
          <a:stretch>
            <a:fillRect/>
          </a:stretch>
        </p:blipFill>
        <p:spPr>
          <a:xfrm>
            <a:off x="5410047" y="868680"/>
            <a:ext cx="1371600" cy="1371600"/>
          </a:xfrm>
          <a:prstGeom prst="rect">
            <a:avLst/>
          </a:prstGeom>
        </p:spPr>
      </p:pic>
      <p:sp>
        <p:nvSpPr>
          <p:cNvPr id="7" name="text_1"/>
          <p:cNvSpPr txBox="1"/>
          <p:nvPr/>
        </p:nvSpPr>
        <p:spPr>
          <a:xfrm>
            <a:off x="914400" y="2377440"/>
            <a:ext cx="10362895" cy="1280160"/>
          </a:xfrm>
          <a:prstGeom prst="rect">
            <a:avLst/>
          </a:prstGeom>
          <a:noFill/>
        </p:spPr>
        <p:txBody>
          <a:bodyPr wrap="square" lIns="0" rIns="0" tIns="0" bIns="0" anchor="ctr">
            <a:spAutoFit/>
          </a:bodyPr>
          <a:lstStyle/>
          <a:p>
            <a:pPr algn="ctr"/>
            <a:r>
              <a:rPr sz="9600" b="1" i="0" spc="-200">
                <a:gradFill>
                  <a:gsLst>
                    <a:gs pos="0">
                      <a:srgbClr val="A78BFA"/>
                    </a:gs>
                    <a:gs pos="100000">
                      <a:srgbClr val="22D3EE"/>
                    </a:gs>
                  </a:gsLst>
                  <a:lin ang="0" scaled="0"/>
                </a:gradFill>
                <a:latin typeface="Arial"/>
              </a:rPr>
              <a:t>Haven</a:t>
            </a:r>
          </a:p>
        </p:txBody>
      </p:sp>
      <p:sp>
        <p:nvSpPr>
          <p:cNvPr id="8" name="text_2"/>
          <p:cNvSpPr txBox="1"/>
          <p:nvPr/>
        </p:nvSpPr>
        <p:spPr>
          <a:xfrm>
            <a:off x="1371600" y="3703320"/>
            <a:ext cx="9448495" cy="548640"/>
          </a:xfrm>
          <a:prstGeom prst="rect">
            <a:avLst/>
          </a:prstGeom>
          <a:noFill/>
        </p:spPr>
        <p:txBody>
          <a:bodyPr wrap="square" lIns="0" rIns="0" tIns="0" bIns="0" anchor="ctr">
            <a:spAutoFit/>
          </a:bodyPr>
          <a:lstStyle/>
          <a:p>
            <a:pPr algn="ctr"/>
            <a:r>
              <a:rPr sz="2600" b="0" i="0">
                <a:solidFill>
                  <a:srgbClr val="E6E8EF"/>
                </a:solidFill>
                <a:latin typeface="Arial"/>
              </a:rPr>
              <a:t>The AI Trust &amp; Safety team for every online community</a:t>
            </a:r>
          </a:p>
        </p:txBody>
      </p:sp>
      <p:grpSp>
        <p:nvGrpSpPr>
          <p:cNvPr id="9" name="group_3"/>
          <p:cNvGrpSpPr/>
          <p:nvPr/>
        </p:nvGrpSpPr>
        <p:grpSpPr>
          <a:xfrm>
            <a:off x="2118207" y="4617720"/>
            <a:ext cx="2468880" cy="512064"/>
            <a:chOff x="2118207" y="4617720"/>
            <a:chExt cx="2468880" cy="512064"/>
          </a:xfrm>
        </p:grpSpPr>
        <p:sp>
          <p:nvSpPr>
            <p:cNvPr id="10" name="shape_4"/>
            <p:cNvSpPr/>
            <p:nvPr/>
          </p:nvSpPr>
          <p:spPr>
            <a:xfrm>
              <a:off x="2118207" y="4617720"/>
              <a:ext cx="2468880" cy="512064"/>
            </a:xfrm>
            <a:prstGeom prst="roundRect">
              <a:avLst>
                <a:gd name="adj" fmla="val 50000"/>
              </a:avLst>
            </a:prstGeom>
            <a:solidFill>
              <a:srgbClr val="FFFFFF">
                <a:alpha val="6000"/>
              </a:srgbClr>
            </a:solidFill>
            <a:ln w="9525">
              <a:solidFill>
                <a:srgbClr val="FFFFFF">
                  <a:alpha val="14000"/>
                </a:srgbClr>
              </a:solidFill>
            </a:ln>
          </p:spPr>
          <p:txBody>
            <a:bodyPr rtlCol="0" anchor="ctr"/>
            <a:lstStyle/>
            <a:p/>
          </p:txBody>
        </p:sp>
        <p:sp>
          <p:nvSpPr>
            <p:cNvPr id="11" name="shape_5"/>
            <p:cNvSpPr/>
            <p:nvPr/>
          </p:nvSpPr>
          <p:spPr>
            <a:xfrm>
              <a:off x="2312791" y="4796942"/>
              <a:ext cx="153619" cy="153619"/>
            </a:xfrm>
            <a:prstGeom prst="ellipse">
              <a:avLst/>
            </a:prstGeom>
            <a:solidFill>
              <a:srgbClr val="A78BFA"/>
            </a:solidFill>
            <a:ln>
              <a:noFill/>
            </a:ln>
          </p:spPr>
          <p:txBody>
            <a:bodyPr rtlCol="0" anchor="ctr"/>
            <a:lstStyle/>
            <a:p/>
          </p:txBody>
        </p:sp>
        <p:sp>
          <p:nvSpPr>
            <p:cNvPr id="12" name="text_6"/>
            <p:cNvSpPr txBox="1"/>
            <p:nvPr/>
          </p:nvSpPr>
          <p:spPr>
            <a:xfrm>
              <a:off x="2466411" y="4617720"/>
              <a:ext cx="2120676" cy="512064"/>
            </a:xfrm>
            <a:prstGeom prst="rect">
              <a:avLst/>
            </a:prstGeom>
            <a:noFill/>
          </p:spPr>
          <p:txBody>
            <a:bodyPr wrap="square" lIns="0" rIns="0" tIns="0" bIns="0" anchor="ctr">
              <a:spAutoFit/>
            </a:bodyPr>
            <a:lstStyle/>
            <a:p>
              <a:pPr algn="ctr"/>
              <a:r>
                <a:rPr sz="1500" b="1" i="0">
                  <a:solidFill>
                    <a:srgbClr val="E6E8EF"/>
                  </a:solidFill>
                  <a:latin typeface="Arial"/>
                </a:rPr>
                <a:t>8 AI employees</a:t>
              </a:r>
            </a:p>
          </p:txBody>
        </p:sp>
      </p:grpSp>
      <p:grpSp>
        <p:nvGrpSpPr>
          <p:cNvPr id="13" name="group_7"/>
          <p:cNvGrpSpPr/>
          <p:nvPr/>
        </p:nvGrpSpPr>
        <p:grpSpPr>
          <a:xfrm>
            <a:off x="4861407" y="4617720"/>
            <a:ext cx="2468880" cy="512064"/>
            <a:chOff x="4861407" y="4617720"/>
            <a:chExt cx="2468880" cy="512064"/>
          </a:xfrm>
        </p:grpSpPr>
        <p:sp>
          <p:nvSpPr>
            <p:cNvPr id="14" name="shape_8"/>
            <p:cNvSpPr/>
            <p:nvPr/>
          </p:nvSpPr>
          <p:spPr>
            <a:xfrm>
              <a:off x="4861407" y="4617720"/>
              <a:ext cx="2468880" cy="512064"/>
            </a:xfrm>
            <a:prstGeom prst="roundRect">
              <a:avLst>
                <a:gd name="adj" fmla="val 50000"/>
              </a:avLst>
            </a:prstGeom>
            <a:solidFill>
              <a:srgbClr val="FFFFFF">
                <a:alpha val="6000"/>
              </a:srgbClr>
            </a:solidFill>
            <a:ln w="9525">
              <a:solidFill>
                <a:srgbClr val="FFFFFF">
                  <a:alpha val="14000"/>
                </a:srgbClr>
              </a:solidFill>
            </a:ln>
          </p:spPr>
          <p:txBody>
            <a:bodyPr rtlCol="0" anchor="ctr"/>
            <a:lstStyle/>
            <a:p/>
          </p:txBody>
        </p:sp>
        <p:sp>
          <p:nvSpPr>
            <p:cNvPr id="15" name="shape_9"/>
            <p:cNvSpPr/>
            <p:nvPr/>
          </p:nvSpPr>
          <p:spPr>
            <a:xfrm>
              <a:off x="5055991" y="4796942"/>
              <a:ext cx="153619" cy="153619"/>
            </a:xfrm>
            <a:prstGeom prst="ellipse">
              <a:avLst/>
            </a:prstGeom>
            <a:solidFill>
              <a:srgbClr val="22D3EE"/>
            </a:solidFill>
            <a:ln>
              <a:noFill/>
            </a:ln>
          </p:spPr>
          <p:txBody>
            <a:bodyPr rtlCol="0" anchor="ctr"/>
            <a:lstStyle/>
            <a:p/>
          </p:txBody>
        </p:sp>
        <p:sp>
          <p:nvSpPr>
            <p:cNvPr id="16" name="text_10"/>
            <p:cNvSpPr txBox="1"/>
            <p:nvPr/>
          </p:nvSpPr>
          <p:spPr>
            <a:xfrm>
              <a:off x="5209611" y="4617720"/>
              <a:ext cx="2120676" cy="512064"/>
            </a:xfrm>
            <a:prstGeom prst="rect">
              <a:avLst/>
            </a:prstGeom>
            <a:noFill/>
          </p:spPr>
          <p:txBody>
            <a:bodyPr wrap="square" lIns="0" rIns="0" tIns="0" bIns="0" anchor="ctr">
              <a:spAutoFit/>
            </a:bodyPr>
            <a:lstStyle/>
            <a:p>
              <a:pPr algn="ctr"/>
              <a:r>
                <a:rPr sz="1500" b="1" i="0">
                  <a:solidFill>
                    <a:srgbClr val="E6E8EF"/>
                  </a:solidFill>
                  <a:latin typeface="Arial"/>
                </a:rPr>
                <a:t>1 human founder</a:t>
              </a:r>
            </a:p>
          </p:txBody>
        </p:sp>
      </p:grpSp>
      <p:grpSp>
        <p:nvGrpSpPr>
          <p:cNvPr id="17" name="group_11"/>
          <p:cNvGrpSpPr/>
          <p:nvPr/>
        </p:nvGrpSpPr>
        <p:grpSpPr>
          <a:xfrm>
            <a:off x="7604607" y="4617720"/>
            <a:ext cx="2468880" cy="512064"/>
            <a:chOff x="7604607" y="4617720"/>
            <a:chExt cx="2468880" cy="512064"/>
          </a:xfrm>
        </p:grpSpPr>
        <p:sp>
          <p:nvSpPr>
            <p:cNvPr id="18" name="shape_12"/>
            <p:cNvSpPr/>
            <p:nvPr/>
          </p:nvSpPr>
          <p:spPr>
            <a:xfrm>
              <a:off x="7604607" y="4617720"/>
              <a:ext cx="2468880" cy="512064"/>
            </a:xfrm>
            <a:prstGeom prst="roundRect">
              <a:avLst>
                <a:gd name="adj" fmla="val 50000"/>
              </a:avLst>
            </a:prstGeom>
            <a:solidFill>
              <a:srgbClr val="FFFFFF">
                <a:alpha val="6000"/>
              </a:srgbClr>
            </a:solidFill>
            <a:ln w="9525">
              <a:solidFill>
                <a:srgbClr val="FFFFFF">
                  <a:alpha val="14000"/>
                </a:srgbClr>
              </a:solidFill>
            </a:ln>
          </p:spPr>
          <p:txBody>
            <a:bodyPr rtlCol="0" anchor="ctr"/>
            <a:lstStyle/>
            <a:p/>
          </p:txBody>
        </p:sp>
        <p:sp>
          <p:nvSpPr>
            <p:cNvPr id="19" name="shape_13"/>
            <p:cNvSpPr/>
            <p:nvPr/>
          </p:nvSpPr>
          <p:spPr>
            <a:xfrm>
              <a:off x="7799191" y="4796942"/>
              <a:ext cx="153619" cy="153619"/>
            </a:xfrm>
            <a:prstGeom prst="ellipse">
              <a:avLst/>
            </a:prstGeom>
            <a:solidFill>
              <a:srgbClr val="10B981"/>
            </a:solidFill>
            <a:ln>
              <a:noFill/>
            </a:ln>
          </p:spPr>
          <p:txBody>
            <a:bodyPr rtlCol="0" anchor="ctr"/>
            <a:lstStyle/>
            <a:p/>
          </p:txBody>
        </p:sp>
        <p:sp>
          <p:nvSpPr>
            <p:cNvPr id="20" name="text_14"/>
            <p:cNvSpPr txBox="1"/>
            <p:nvPr/>
          </p:nvSpPr>
          <p:spPr>
            <a:xfrm>
              <a:off x="7952811" y="4617720"/>
              <a:ext cx="2120676" cy="512064"/>
            </a:xfrm>
            <a:prstGeom prst="rect">
              <a:avLst/>
            </a:prstGeom>
            <a:noFill/>
          </p:spPr>
          <p:txBody>
            <a:bodyPr wrap="square" lIns="0" rIns="0" tIns="0" bIns="0" anchor="ctr">
              <a:spAutoFit/>
            </a:bodyPr>
            <a:lstStyle/>
            <a:p>
              <a:pPr algn="ctr"/>
              <a:r>
                <a:rPr sz="1500" b="1" i="0">
                  <a:solidFill>
                    <a:srgbClr val="E6E8EF"/>
                  </a:solidFill>
                  <a:latin typeface="Arial"/>
                </a:rPr>
                <a:t>14 sponsor tools</a:t>
              </a:r>
            </a:p>
          </p:txBody>
        </p:sp>
      </p:grpSp>
      <p:sp>
        <p:nvSpPr>
          <p:cNvPr id="21" name="text_15">
            <a:hlinkClick r:id="rId7"/>
          </p:cNvPr>
          <p:cNvSpPr txBox="1"/>
          <p:nvPr/>
        </p:nvSpPr>
        <p:spPr>
          <a:xfrm>
            <a:off x="914400" y="5989320"/>
            <a:ext cx="10362895" cy="320040"/>
          </a:xfrm>
          <a:prstGeom prst="rect">
            <a:avLst/>
          </a:prstGeom>
          <a:noFill/>
        </p:spPr>
        <p:txBody>
          <a:bodyPr wrap="square" lIns="0" rIns="0" tIns="0" bIns="0" anchor="ctr">
            <a:spAutoFit/>
          </a:bodyPr>
          <a:lstStyle/>
          <a:p>
            <a:pPr algn="ctr"/>
            <a:r>
              <a:rPr sz="1200" b="0" i="0">
                <a:solidFill>
                  <a:srgbClr val="8B90A0"/>
                </a:solidFill>
                <a:latin typeface="Arial"/>
              </a:rPr>
              <a:t>github.com/vnmoorthy/haven  ·  Founder: Moorthy (CEO)</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800" fill="hold"/>
                                        <p:tgtEl>
                                          <p:spTgt spid="6"/>
                                        </p:tgtEl>
                                        <p:attrNameLst>
                                          <p:attrName>ppt_w</p:attrName>
                                        </p:attrNameLst>
                                      </p:cBhvr>
                                      <p:tavLst>
                                        <p:tav tm="0">
                                          <p:val>
                                            <p:strVal val="0"/>
                                          </p:val>
                                        </p:tav>
                                        <p:tav tm="100000">
                                          <p:val>
                                            <p:strVal val="#ppt_w"/>
                                          </p:val>
                                        </p:tav>
                                      </p:tavLst>
                                    </p:anim>
                                    <p:anim calcmode="lin" valueType="num">
                                      <p:cBhvr additive="base">
                                        <p:cTn id="8" dur="800" fill="hold"/>
                                        <p:tgtEl>
                                          <p:spTgt spid="6"/>
                                        </p:tgtEl>
                                        <p:attrNameLst>
                                          <p:attrName>ppt_h</p:attrName>
                                        </p:attrNameLst>
                                      </p:cBhvr>
                                      <p:tavLst>
                                        <p:tav tm="0">
                                          <p:val>
                                            <p:strVal val="0"/>
                                          </p:val>
                                        </p:tav>
                                        <p:tav tm="100000">
                                          <p:val>
                                            <p:strVal val="#ppt_h"/>
                                          </p:val>
                                        </p:tav>
                                      </p:tavLst>
                                    </p:anim>
                                    <p:animEffect transition="in" filter="fade">
                                      <p:cBhvr>
                                        <p:cTn id="9" dur="800"/>
                                        <p:tgtEl>
                                          <p:spTgt spid="6"/>
                                        </p:tgtEl>
                                      </p:cBhvr>
                                    </p:animEffect>
                                  </p:childTnLst>
                                </p:cTn>
                              </p:par>
                              <p:par>
                                <p:cTn id="10" presetID="42" presetClass="entr" presetSubtype="0" fill="hold" grpId="0" nodeType="withEffect">
                                  <p:stCondLst>
                                    <p:cond delay="30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800"/>
                                        <p:tgtEl>
                                          <p:spTgt spid="7"/>
                                        </p:tgtEl>
                                      </p:cBhvr>
                                    </p:animEffect>
                                    <p:anim calcmode="lin" valueType="num">
                                      <p:cBhvr additive="base">
                                        <p:cTn id="13" dur="800" fill="hold"/>
                                        <p:tgtEl>
                                          <p:spTgt spid="7"/>
                                        </p:tgtEl>
                                        <p:attrNameLst>
                                          <p:attrName>ppt_x</p:attrName>
                                        </p:attrNameLst>
                                      </p:cBhvr>
                                      <p:tavLst>
                                        <p:tav tm="0">
                                          <p:val>
                                            <p:strVal val="#ppt_x"/>
                                          </p:val>
                                        </p:tav>
                                        <p:tav tm="100000">
                                          <p:val>
                                            <p:strVal val="#ppt_x"/>
                                          </p:val>
                                        </p:tav>
                                      </p:tavLst>
                                    </p:anim>
                                    <p:anim calcmode="lin" valueType="num">
                                      <p:cBhvr additive="base">
                                        <p:cTn id="14" dur="800" fill="hold"/>
                                        <p:tgtEl>
                                          <p:spTgt spid="7"/>
                                        </p:tgtEl>
                                        <p:attrNameLst>
                                          <p:attrName>ppt_y</p:attrName>
                                        </p:attrNameLst>
                                      </p:cBhvr>
                                      <p:tavLst>
                                        <p:tav tm="0">
                                          <p:val>
                                            <p:strVal val="#ppt_y+.06"/>
                                          </p:val>
                                        </p:tav>
                                        <p:tav tm="100000">
                                          <p:val>
                                            <p:strVal val="#ppt_y"/>
                                          </p:val>
                                        </p:tav>
                                      </p:tavLst>
                                    </p:anim>
                                  </p:childTnLst>
                                </p:cTn>
                              </p:par>
                              <p:par>
                                <p:cTn id="15" presetID="42" presetClass="entr" presetSubtype="0" fill="hold" grpId="0" nodeType="withEffect">
                                  <p:stCondLst>
                                    <p:cond delay="70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700"/>
                                        <p:tgtEl>
                                          <p:spTgt spid="8"/>
                                        </p:tgtEl>
                                      </p:cBhvr>
                                    </p:animEffect>
                                    <p:anim calcmode="lin" valueType="num">
                                      <p:cBhvr additive="base">
                                        <p:cTn id="18" dur="700" fill="hold"/>
                                        <p:tgtEl>
                                          <p:spTgt spid="8"/>
                                        </p:tgtEl>
                                        <p:attrNameLst>
                                          <p:attrName>ppt_x</p:attrName>
                                        </p:attrNameLst>
                                      </p:cBhvr>
                                      <p:tavLst>
                                        <p:tav tm="0">
                                          <p:val>
                                            <p:strVal val="#ppt_x"/>
                                          </p:val>
                                        </p:tav>
                                        <p:tav tm="100000">
                                          <p:val>
                                            <p:strVal val="#ppt_x"/>
                                          </p:val>
                                        </p:tav>
                                      </p:tavLst>
                                    </p:anim>
                                    <p:anim calcmode="lin" valueType="num">
                                      <p:cBhvr additive="base">
                                        <p:cTn id="19" dur="700" fill="hold"/>
                                        <p:tgtEl>
                                          <p:spTgt spid="8"/>
                                        </p:tgtEl>
                                        <p:attrNameLst>
                                          <p:attrName>ppt_y</p:attrName>
                                        </p:attrNameLst>
                                      </p:cBhvr>
                                      <p:tavLst>
                                        <p:tav tm="0">
                                          <p:val>
                                            <p:strVal val="#ppt_y+.06"/>
                                          </p:val>
                                        </p:tav>
                                        <p:tav tm="100000">
                                          <p:val>
                                            <p:strVal val="#ppt_y"/>
                                          </p:val>
                                        </p:tav>
                                      </p:tavLst>
                                    </p:anim>
                                  </p:childTnLst>
                                </p:cTn>
                              </p:par>
                              <p:par>
                                <p:cTn id="20" presetID="42" presetClass="entr" presetSubtype="0" fill="hold" grpId="0" nodeType="withEffect">
                                  <p:stCondLst>
                                    <p:cond delay="11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anim calcmode="lin" valueType="num">
                                      <p:cBhvr additive="base">
                                        <p:cTn id="23" dur="600" fill="hold"/>
                                        <p:tgtEl>
                                          <p:spTgt spid="9"/>
                                        </p:tgtEl>
                                        <p:attrNameLst>
                                          <p:attrName>ppt_x</p:attrName>
                                        </p:attrNameLst>
                                      </p:cBhvr>
                                      <p:tavLst>
                                        <p:tav tm="0">
                                          <p:val>
                                            <p:strVal val="#ppt_x"/>
                                          </p:val>
                                        </p:tav>
                                        <p:tav tm="100000">
                                          <p:val>
                                            <p:strVal val="#ppt_x"/>
                                          </p:val>
                                        </p:tav>
                                      </p:tavLst>
                                    </p:anim>
                                    <p:anim calcmode="lin" valueType="num">
                                      <p:cBhvr additive="base">
                                        <p:cTn id="24" dur="600" fill="hold"/>
                                        <p:tgtEl>
                                          <p:spTgt spid="9"/>
                                        </p:tgtEl>
                                        <p:attrNameLst>
                                          <p:attrName>ppt_y</p:attrName>
                                        </p:attrNameLst>
                                      </p:cBhvr>
                                      <p:tavLst>
                                        <p:tav tm="0">
                                          <p:val>
                                            <p:strVal val="#ppt_y+.06"/>
                                          </p:val>
                                        </p:tav>
                                        <p:tav tm="100000">
                                          <p:val>
                                            <p:strVal val="#ppt_y"/>
                                          </p:val>
                                        </p:tav>
                                      </p:tavLst>
                                    </p:anim>
                                  </p:childTnLst>
                                </p:cTn>
                              </p:par>
                              <p:par>
                                <p:cTn id="25" presetID="42" presetClass="entr" presetSubtype="0" fill="hold" grpId="0" nodeType="withEffect">
                                  <p:stCondLst>
                                    <p:cond delay="128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600"/>
                                        <p:tgtEl>
                                          <p:spTgt spid="13"/>
                                        </p:tgtEl>
                                      </p:cBhvr>
                                    </p:animEffect>
                                    <p:anim calcmode="lin" valueType="num">
                                      <p:cBhvr additive="base">
                                        <p:cTn id="28" dur="600" fill="hold"/>
                                        <p:tgtEl>
                                          <p:spTgt spid="13"/>
                                        </p:tgtEl>
                                        <p:attrNameLst>
                                          <p:attrName>ppt_x</p:attrName>
                                        </p:attrNameLst>
                                      </p:cBhvr>
                                      <p:tavLst>
                                        <p:tav tm="0">
                                          <p:val>
                                            <p:strVal val="#ppt_x"/>
                                          </p:val>
                                        </p:tav>
                                        <p:tav tm="100000">
                                          <p:val>
                                            <p:strVal val="#ppt_x"/>
                                          </p:val>
                                        </p:tav>
                                      </p:tavLst>
                                    </p:anim>
                                    <p:anim calcmode="lin" valueType="num">
                                      <p:cBhvr additive="base">
                                        <p:cTn id="29" dur="600" fill="hold"/>
                                        <p:tgtEl>
                                          <p:spTgt spid="13"/>
                                        </p:tgtEl>
                                        <p:attrNameLst>
                                          <p:attrName>ppt_y</p:attrName>
                                        </p:attrNameLst>
                                      </p:cBhvr>
                                      <p:tavLst>
                                        <p:tav tm="0">
                                          <p:val>
                                            <p:strVal val="#ppt_y+.06"/>
                                          </p:val>
                                        </p:tav>
                                        <p:tav tm="100000">
                                          <p:val>
                                            <p:strVal val="#ppt_y"/>
                                          </p:val>
                                        </p:tav>
                                      </p:tavLst>
                                    </p:anim>
                                  </p:childTnLst>
                                </p:cTn>
                              </p:par>
                              <p:par>
                                <p:cTn id="30" presetID="42" presetClass="entr" presetSubtype="0" fill="hold" grpId="0" nodeType="withEffect">
                                  <p:stCondLst>
                                    <p:cond delay="146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600"/>
                                        <p:tgtEl>
                                          <p:spTgt spid="17"/>
                                        </p:tgtEl>
                                      </p:cBhvr>
                                    </p:animEffect>
                                    <p:anim calcmode="lin" valueType="num">
                                      <p:cBhvr additive="base">
                                        <p:cTn id="33" dur="600" fill="hold"/>
                                        <p:tgtEl>
                                          <p:spTgt spid="17"/>
                                        </p:tgtEl>
                                        <p:attrNameLst>
                                          <p:attrName>ppt_x</p:attrName>
                                        </p:attrNameLst>
                                      </p:cBhvr>
                                      <p:tavLst>
                                        <p:tav tm="0">
                                          <p:val>
                                            <p:strVal val="#ppt_x"/>
                                          </p:val>
                                        </p:tav>
                                        <p:tav tm="100000">
                                          <p:val>
                                            <p:strVal val="#ppt_x"/>
                                          </p:val>
                                        </p:tav>
                                      </p:tavLst>
                                    </p:anim>
                                    <p:anim calcmode="lin" valueType="num">
                                      <p:cBhvr additive="base">
                                        <p:cTn id="34" dur="600" fill="hold"/>
                                        <p:tgtEl>
                                          <p:spTgt spid="17"/>
                                        </p:tgtEl>
                                        <p:attrNameLst>
                                          <p:attrName>ppt_y</p:attrName>
                                        </p:attrNameLst>
                                      </p:cBhvr>
                                      <p:tavLst>
                                        <p:tav tm="0">
                                          <p:val>
                                            <p:strVal val="#ppt_y+.06"/>
                                          </p:val>
                                        </p:tav>
                                        <p:tav tm="100000">
                                          <p:val>
                                            <p:strVal val="#ppt_y"/>
                                          </p:val>
                                        </p:tav>
                                      </p:tavLst>
                                    </p:anim>
                                  </p:childTnLst>
                                </p:cTn>
                              </p:par>
                              <p:par>
                                <p:cTn id="35" presetID="10" presetClass="entr" presetSubtype="0" fill="hold" grpId="0" nodeType="withEffect">
                                  <p:stCondLst>
                                    <p:cond delay="180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21"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60A"/>
        </a:solidFill>
        <a:effectLst/>
      </p:bgPr>
    </p:bg>
    <p:spTree>
      <p:nvGrpSpPr>
        <p:cNvPr id="1" name=""/>
        <p:cNvGrpSpPr/>
        <p:nvPr/>
      </p:nvGrpSpPr>
      <p:grpSpPr/>
      <p:pic>
        <p:nvPicPr>
          <p:cNvPr id="2" name="!!bg" descr="bg.png"/>
          <p:cNvPicPr>
            <a:picLocks noChangeAspect="1"/>
          </p:cNvPicPr>
          <p:nvPr/>
        </p:nvPicPr>
        <p:blipFill>
          <a:blip r:embed="rId2"/>
          <a:stretch>
            <a:fillRect/>
          </a:stretch>
        </p:blipFill>
        <p:spPr>
          <a:xfrm>
            <a:off x="0" y="0"/>
            <a:ext cx="12191695" cy="6858000"/>
          </a:xfrm>
          <a:prstGeom prst="rect">
            <a:avLst/>
          </a:prstGeom>
        </p:spPr>
      </p:pic>
      <p:pic>
        <p:nvPicPr>
          <p:cNvPr id="3" name="!!orb_violet" descr="orb_violet.png"/>
          <p:cNvPicPr>
            <a:picLocks noChangeAspect="1"/>
          </p:cNvPicPr>
          <p:nvPr/>
        </p:nvPicPr>
        <p:blipFill>
          <a:blip r:embed="rId3"/>
          <a:stretch>
            <a:fillRect/>
          </a:stretch>
        </p:blipFill>
        <p:spPr>
          <a:xfrm>
            <a:off x="7772400" y="-2743200"/>
            <a:ext cx="6858000" cy="6858000"/>
          </a:xfrm>
          <a:prstGeom prst="rect">
            <a:avLst/>
          </a:prstGeom>
        </p:spPr>
      </p:pic>
      <p:pic>
        <p:nvPicPr>
          <p:cNvPr id="4" name="!!orb_cyan" descr="orb_cyan.png"/>
          <p:cNvPicPr>
            <a:picLocks noChangeAspect="1"/>
          </p:cNvPicPr>
          <p:nvPr/>
        </p:nvPicPr>
        <p:blipFill>
          <a:blip r:embed="rId4"/>
          <a:stretch>
            <a:fillRect/>
          </a:stretch>
        </p:blipFill>
        <p:spPr>
          <a:xfrm>
            <a:off x="-2743200" y="3200400"/>
            <a:ext cx="6400800" cy="6400800"/>
          </a:xfrm>
          <a:prstGeom prst="rect">
            <a:avLst/>
          </a:prstGeom>
        </p:spPr>
      </p:pic>
      <p:pic>
        <p:nvPicPr>
          <p:cNvPr id="5" name="!!orb_rose" descr="orb_rose.png"/>
          <p:cNvPicPr>
            <a:picLocks noChangeAspect="1"/>
          </p:cNvPicPr>
          <p:nvPr/>
        </p:nvPicPr>
        <p:blipFill>
          <a:blip r:embed="rId5"/>
          <a:stretch>
            <a:fillRect/>
          </a:stretch>
        </p:blipFill>
        <p:spPr>
          <a:xfrm>
            <a:off x="9601200" y="4114800"/>
            <a:ext cx="4114800" cy="4114800"/>
          </a:xfrm>
          <a:prstGeom prst="rect">
            <a:avLst/>
          </a:prstGeom>
        </p:spPr>
      </p:pic>
      <p:pic>
        <p:nvPicPr>
          <p:cNvPr id="6" name="!!footlogo" descr="logo.png"/>
          <p:cNvPicPr>
            <a:picLocks noChangeAspect="1"/>
          </p:cNvPicPr>
          <p:nvPr/>
        </p:nvPicPr>
        <p:blipFill>
          <a:blip r:embed="rId6"/>
          <a:stretch>
            <a:fillRect/>
          </a:stretch>
        </p:blipFill>
        <p:spPr>
          <a:xfrm>
            <a:off x="548640" y="6327648"/>
            <a:ext cx="237744" cy="237744"/>
          </a:xfrm>
          <a:prstGeom prst="rect">
            <a:avLst/>
          </a:prstGeom>
        </p:spPr>
      </p:pic>
      <p:sp>
        <p:nvSpPr>
          <p:cNvPr id="7" name="!!footname"/>
          <p:cNvSpPr txBox="1"/>
          <p:nvPr/>
        </p:nvSpPr>
        <p:spPr>
          <a:xfrm>
            <a:off x="868680" y="6327648"/>
            <a:ext cx="2743200" cy="237744"/>
          </a:xfrm>
          <a:prstGeom prst="rect">
            <a:avLst/>
          </a:prstGeom>
          <a:noFill/>
        </p:spPr>
        <p:txBody>
          <a:bodyPr wrap="square" lIns="0" rIns="0" tIns="0" bIns="0" anchor="ctr">
            <a:spAutoFit/>
          </a:bodyPr>
          <a:lstStyle/>
          <a:p>
            <a:pPr algn="l"/>
            <a:r>
              <a:rPr sz="1100" b="1" i="0">
                <a:solidFill>
                  <a:srgbClr val="8B90A0"/>
                </a:solidFill>
                <a:latin typeface="Arial"/>
              </a:rPr>
              <a:t>Haven</a:t>
            </a:r>
          </a:p>
        </p:txBody>
      </p:sp>
      <p:sp>
        <p:nvSpPr>
          <p:cNvPr id="8" name="!!pageno"/>
          <p:cNvSpPr txBox="1"/>
          <p:nvPr/>
        </p:nvSpPr>
        <p:spPr>
          <a:xfrm>
            <a:off x="9814255" y="6327648"/>
            <a:ext cx="1828800" cy="237744"/>
          </a:xfrm>
          <a:prstGeom prst="rect">
            <a:avLst/>
          </a:prstGeom>
          <a:noFill/>
        </p:spPr>
        <p:txBody>
          <a:bodyPr wrap="square" lIns="0" rIns="0" tIns="0" bIns="0" anchor="ctr">
            <a:spAutoFit/>
          </a:bodyPr>
          <a:lstStyle/>
          <a:p>
            <a:pPr algn="r"/>
            <a:r>
              <a:rPr sz="1100" b="0" i="0">
                <a:solidFill>
                  <a:srgbClr val="8B90A0"/>
                </a:solidFill>
                <a:latin typeface="Arial"/>
              </a:rPr>
              <a:t>02 / 10</a:t>
            </a:r>
          </a:p>
        </p:txBody>
      </p:sp>
      <p:sp>
        <p:nvSpPr>
          <p:cNvPr id="9" name="text_16"/>
          <p:cNvSpPr txBox="1"/>
          <p:nvPr/>
        </p:nvSpPr>
        <p:spPr>
          <a:xfrm>
            <a:off x="548640" y="457200"/>
            <a:ext cx="7315200" cy="274320"/>
          </a:xfrm>
          <a:prstGeom prst="rect">
            <a:avLst/>
          </a:prstGeom>
          <a:noFill/>
        </p:spPr>
        <p:txBody>
          <a:bodyPr wrap="square" lIns="0" rIns="0" tIns="0" bIns="0" anchor="t">
            <a:spAutoFit/>
          </a:bodyPr>
          <a:lstStyle/>
          <a:p>
            <a:pPr algn="l"/>
            <a:r>
              <a:rPr sz="1200" b="1" i="0" spc="300">
                <a:solidFill>
                  <a:srgbClr val="22D3EE"/>
                </a:solidFill>
                <a:latin typeface="Arial"/>
              </a:rPr>
              <a:t>THE PROBLEM</a:t>
            </a:r>
          </a:p>
        </p:txBody>
      </p:sp>
      <p:sp>
        <p:nvSpPr>
          <p:cNvPr id="10" name="text_17"/>
          <p:cNvSpPr txBox="1"/>
          <p:nvPr/>
        </p:nvSpPr>
        <p:spPr>
          <a:xfrm>
            <a:off x="548640" y="749808"/>
            <a:ext cx="11064240" cy="685800"/>
          </a:xfrm>
          <a:prstGeom prst="rect">
            <a:avLst/>
          </a:prstGeom>
          <a:noFill/>
        </p:spPr>
        <p:txBody>
          <a:bodyPr wrap="square" lIns="0" rIns="0" tIns="0" bIns="0" anchor="t">
            <a:spAutoFit/>
          </a:bodyPr>
          <a:lstStyle/>
          <a:p>
            <a:pPr algn="l"/>
            <a:r>
              <a:rPr sz="3400" b="1" i="0">
                <a:solidFill>
                  <a:srgbClr val="FFFFFF"/>
                </a:solidFill>
                <a:latin typeface="Arial"/>
              </a:rPr>
              <a:t>Volunteers can't keep up with 3 AM threats</a:t>
            </a:r>
          </a:p>
        </p:txBody>
      </p:sp>
      <p:sp>
        <p:nvSpPr>
          <p:cNvPr id="11" name="text_18"/>
          <p:cNvSpPr txBox="1"/>
          <p:nvPr/>
        </p:nvSpPr>
        <p:spPr>
          <a:xfrm>
            <a:off x="548640" y="1481328"/>
            <a:ext cx="10515600" cy="365760"/>
          </a:xfrm>
          <a:prstGeom prst="rect">
            <a:avLst/>
          </a:prstGeom>
          <a:noFill/>
        </p:spPr>
        <p:txBody>
          <a:bodyPr wrap="square" lIns="0" rIns="0" tIns="0" bIns="0" anchor="t">
            <a:spAutoFit/>
          </a:bodyPr>
          <a:lstStyle/>
          <a:p>
            <a:pPr algn="l"/>
            <a:r>
              <a:rPr sz="1600" b="0" i="0">
                <a:solidFill>
                  <a:srgbClr val="8B90A0"/>
                </a:solidFill>
                <a:latin typeface="Arial"/>
              </a:rPr>
              <a:t>Most of the world's 30M+ online communities are moderated by unpaid volunteers. Harm lands in seconds; human response takes hours.</a:t>
            </a:r>
          </a:p>
        </p:txBody>
      </p:sp>
      <p:grpSp>
        <p:nvGrpSpPr>
          <p:cNvPr id="12" name="group_19"/>
          <p:cNvGrpSpPr/>
          <p:nvPr/>
        </p:nvGrpSpPr>
        <p:grpSpPr>
          <a:xfrm>
            <a:off x="548640" y="2148840"/>
            <a:ext cx="2567178" cy="1965960"/>
            <a:chOff x="548640" y="2148840"/>
            <a:chExt cx="2567178" cy="1965960"/>
          </a:xfrm>
        </p:grpSpPr>
        <p:sp>
          <p:nvSpPr>
            <p:cNvPr id="13" name="shape_20"/>
            <p:cNvSpPr/>
            <p:nvPr/>
          </p:nvSpPr>
          <p:spPr>
            <a:xfrm>
              <a:off x="548640" y="2148840"/>
              <a:ext cx="2567178" cy="1965960"/>
            </a:xfrm>
            <a:prstGeom prst="roundRect">
              <a:avLst>
                <a:gd name="adj" fmla="val 8372"/>
              </a:avLst>
            </a:prstGeom>
            <a:solidFill>
              <a:srgbClr val="FFFFFF">
                <a:alpha val="5000"/>
              </a:srgbClr>
            </a:solidFill>
            <a:ln w="9525">
              <a:solidFill>
                <a:srgbClr val="FFFFFF">
                  <a:alpha val="10000"/>
                </a:srgbClr>
              </a:solidFill>
            </a:ln>
          </p:spPr>
          <p:txBody>
            <a:bodyPr rtlCol="0" anchor="ctr"/>
            <a:lstStyle/>
            <a:p/>
          </p:txBody>
        </p:sp>
        <p:sp>
          <p:nvSpPr>
            <p:cNvPr id="14" name="text_21"/>
            <p:cNvSpPr txBox="1"/>
            <p:nvPr/>
          </p:nvSpPr>
          <p:spPr>
            <a:xfrm>
              <a:off x="822959" y="2404872"/>
              <a:ext cx="2018538" cy="777240"/>
            </a:xfrm>
            <a:prstGeom prst="rect">
              <a:avLst/>
            </a:prstGeom>
            <a:noFill/>
          </p:spPr>
          <p:txBody>
            <a:bodyPr wrap="square" lIns="0" rIns="0" tIns="0" bIns="0" anchor="t">
              <a:spAutoFit/>
            </a:bodyPr>
            <a:lstStyle/>
            <a:p>
              <a:pPr algn="l"/>
              <a:r>
                <a:rPr sz="4400" b="1" i="0">
                  <a:solidFill>
                    <a:srgbClr val="A78BFA"/>
                  </a:solidFill>
                  <a:latin typeface="Arial"/>
                </a:rPr>
                <a:t>30M+</a:t>
              </a:r>
            </a:p>
          </p:txBody>
        </p:sp>
        <p:sp>
          <p:nvSpPr>
            <p:cNvPr id="15" name="text_22"/>
            <p:cNvSpPr txBox="1"/>
            <p:nvPr/>
          </p:nvSpPr>
          <p:spPr>
            <a:xfrm>
              <a:off x="822959" y="3200400"/>
              <a:ext cx="2018538" cy="777240"/>
            </a:xfrm>
            <a:prstGeom prst="rect">
              <a:avLst/>
            </a:prstGeom>
            <a:noFill/>
          </p:spPr>
          <p:txBody>
            <a:bodyPr wrap="square" lIns="0" rIns="0" tIns="0" bIns="0" anchor="t">
              <a:spAutoFit/>
            </a:bodyPr>
            <a:lstStyle/>
            <a:p>
              <a:pPr algn="l"/>
              <a:r>
                <a:rPr sz="1300" b="0" i="0">
                  <a:solidFill>
                    <a:srgbClr val="8B90A0"/>
                  </a:solidFill>
                  <a:latin typeface="Arial"/>
                </a:rPr>
                <a:t>online communities on Discord, Slack, Telegram and forums</a:t>
              </a:r>
            </a:p>
          </p:txBody>
        </p:sp>
      </p:grpSp>
      <p:grpSp>
        <p:nvGrpSpPr>
          <p:cNvPr id="16" name="group_23"/>
          <p:cNvGrpSpPr/>
          <p:nvPr/>
        </p:nvGrpSpPr>
        <p:grpSpPr>
          <a:xfrm>
            <a:off x="3390138" y="2148840"/>
            <a:ext cx="2567178" cy="1965960"/>
            <a:chOff x="3390138" y="2148840"/>
            <a:chExt cx="2567178" cy="1965960"/>
          </a:xfrm>
        </p:grpSpPr>
        <p:sp>
          <p:nvSpPr>
            <p:cNvPr id="17" name="shape_24"/>
            <p:cNvSpPr/>
            <p:nvPr/>
          </p:nvSpPr>
          <p:spPr>
            <a:xfrm>
              <a:off x="3390138" y="2148840"/>
              <a:ext cx="2567178" cy="1965960"/>
            </a:xfrm>
            <a:prstGeom prst="roundRect">
              <a:avLst>
                <a:gd name="adj" fmla="val 8372"/>
              </a:avLst>
            </a:prstGeom>
            <a:solidFill>
              <a:srgbClr val="FFFFFF">
                <a:alpha val="5000"/>
              </a:srgbClr>
            </a:solidFill>
            <a:ln w="9525">
              <a:solidFill>
                <a:srgbClr val="FFFFFF">
                  <a:alpha val="10000"/>
                </a:srgbClr>
              </a:solidFill>
            </a:ln>
          </p:spPr>
          <p:txBody>
            <a:bodyPr rtlCol="0" anchor="ctr"/>
            <a:lstStyle/>
            <a:p/>
          </p:txBody>
        </p:sp>
        <p:sp>
          <p:nvSpPr>
            <p:cNvPr id="18" name="text_25"/>
            <p:cNvSpPr txBox="1"/>
            <p:nvPr/>
          </p:nvSpPr>
          <p:spPr>
            <a:xfrm>
              <a:off x="3664458" y="2404872"/>
              <a:ext cx="2018538" cy="777240"/>
            </a:xfrm>
            <a:prstGeom prst="rect">
              <a:avLst/>
            </a:prstGeom>
            <a:noFill/>
          </p:spPr>
          <p:txBody>
            <a:bodyPr wrap="square" lIns="0" rIns="0" tIns="0" bIns="0" anchor="t">
              <a:spAutoFit/>
            </a:bodyPr>
            <a:lstStyle/>
            <a:p>
              <a:pPr algn="l"/>
              <a:r>
                <a:rPr sz="4400" b="1" i="0">
                  <a:solidFill>
                    <a:srgbClr val="22D3EE"/>
                  </a:solidFill>
                  <a:latin typeface="Arial"/>
                </a:rPr>
                <a:t>$15B+</a:t>
              </a:r>
            </a:p>
          </p:txBody>
        </p:sp>
        <p:sp>
          <p:nvSpPr>
            <p:cNvPr id="19" name="text_26"/>
            <p:cNvSpPr txBox="1"/>
            <p:nvPr/>
          </p:nvSpPr>
          <p:spPr>
            <a:xfrm>
              <a:off x="3664458" y="3200400"/>
              <a:ext cx="2018538" cy="777240"/>
            </a:xfrm>
            <a:prstGeom prst="rect">
              <a:avLst/>
            </a:prstGeom>
            <a:noFill/>
          </p:spPr>
          <p:txBody>
            <a:bodyPr wrap="square" lIns="0" rIns="0" tIns="0" bIns="0" anchor="t">
              <a:spAutoFit/>
            </a:bodyPr>
            <a:lstStyle/>
            <a:p>
              <a:pPr algn="l"/>
              <a:r>
                <a:rPr sz="1300" b="0" i="0">
                  <a:solidFill>
                    <a:srgbClr val="8B90A0"/>
                  </a:solidFill>
                  <a:latin typeface="Arial"/>
                </a:rPr>
                <a:t>trust &amp; safety market, growing as platforms push safety down to communities</a:t>
              </a:r>
            </a:p>
          </p:txBody>
        </p:sp>
      </p:grpSp>
      <p:grpSp>
        <p:nvGrpSpPr>
          <p:cNvPr id="20" name="group_27"/>
          <p:cNvGrpSpPr/>
          <p:nvPr/>
        </p:nvGrpSpPr>
        <p:grpSpPr>
          <a:xfrm>
            <a:off x="6231636" y="2148840"/>
            <a:ext cx="2567178" cy="1965960"/>
            <a:chOff x="6231636" y="2148840"/>
            <a:chExt cx="2567178" cy="1965960"/>
          </a:xfrm>
        </p:grpSpPr>
        <p:sp>
          <p:nvSpPr>
            <p:cNvPr id="21" name="shape_28"/>
            <p:cNvSpPr/>
            <p:nvPr/>
          </p:nvSpPr>
          <p:spPr>
            <a:xfrm>
              <a:off x="6231636" y="2148840"/>
              <a:ext cx="2567178" cy="1965960"/>
            </a:xfrm>
            <a:prstGeom prst="roundRect">
              <a:avLst>
                <a:gd name="adj" fmla="val 8372"/>
              </a:avLst>
            </a:prstGeom>
            <a:solidFill>
              <a:srgbClr val="FFFFFF">
                <a:alpha val="5000"/>
              </a:srgbClr>
            </a:solidFill>
            <a:ln w="9525">
              <a:solidFill>
                <a:srgbClr val="FFFFFF">
                  <a:alpha val="10000"/>
                </a:srgbClr>
              </a:solidFill>
            </a:ln>
          </p:spPr>
          <p:txBody>
            <a:bodyPr rtlCol="0" anchor="ctr"/>
            <a:lstStyle/>
            <a:p/>
          </p:txBody>
        </p:sp>
        <p:sp>
          <p:nvSpPr>
            <p:cNvPr id="22" name="text_29"/>
            <p:cNvSpPr txBox="1"/>
            <p:nvPr/>
          </p:nvSpPr>
          <p:spPr>
            <a:xfrm>
              <a:off x="6505955" y="2404872"/>
              <a:ext cx="2018538" cy="777240"/>
            </a:xfrm>
            <a:prstGeom prst="rect">
              <a:avLst/>
            </a:prstGeom>
            <a:noFill/>
          </p:spPr>
          <p:txBody>
            <a:bodyPr wrap="square" lIns="0" rIns="0" tIns="0" bIns="0" anchor="t">
              <a:spAutoFit/>
            </a:bodyPr>
            <a:lstStyle/>
            <a:p>
              <a:pPr algn="l"/>
              <a:r>
                <a:rPr sz="4400" b="1" i="0">
                  <a:solidFill>
                    <a:srgbClr val="F59E0B"/>
                  </a:solidFill>
                  <a:latin typeface="Arial"/>
                </a:rPr>
                <a:t>$4.20</a:t>
              </a:r>
            </a:p>
          </p:txBody>
        </p:sp>
        <p:sp>
          <p:nvSpPr>
            <p:cNvPr id="23" name="text_30"/>
            <p:cNvSpPr txBox="1"/>
            <p:nvPr/>
          </p:nvSpPr>
          <p:spPr>
            <a:xfrm>
              <a:off x="6505955" y="3200400"/>
              <a:ext cx="2018538" cy="777240"/>
            </a:xfrm>
            <a:prstGeom prst="rect">
              <a:avLst/>
            </a:prstGeom>
            <a:noFill/>
          </p:spPr>
          <p:txBody>
            <a:bodyPr wrap="square" lIns="0" rIns="0" tIns="0" bIns="0" anchor="t">
              <a:spAutoFit/>
            </a:bodyPr>
            <a:lstStyle/>
            <a:p>
              <a:pPr algn="l"/>
              <a:r>
                <a:rPr sz="1300" b="0" i="0">
                  <a:solidFill>
                    <a:srgbClr val="8B90A0"/>
                  </a:solidFill>
                  <a:latin typeface="Arial"/>
                </a:rPr>
                <a:t>average human moderator cost to handle one incident</a:t>
              </a:r>
            </a:p>
          </p:txBody>
        </p:sp>
      </p:grpSp>
      <p:grpSp>
        <p:nvGrpSpPr>
          <p:cNvPr id="24" name="group_31"/>
          <p:cNvGrpSpPr/>
          <p:nvPr/>
        </p:nvGrpSpPr>
        <p:grpSpPr>
          <a:xfrm>
            <a:off x="9073134" y="2148840"/>
            <a:ext cx="2567178" cy="1965960"/>
            <a:chOff x="9073134" y="2148840"/>
            <a:chExt cx="2567178" cy="1965960"/>
          </a:xfrm>
        </p:grpSpPr>
        <p:sp>
          <p:nvSpPr>
            <p:cNvPr id="25" name="shape_32"/>
            <p:cNvSpPr/>
            <p:nvPr/>
          </p:nvSpPr>
          <p:spPr>
            <a:xfrm>
              <a:off x="9073134" y="2148840"/>
              <a:ext cx="2567178" cy="1965960"/>
            </a:xfrm>
            <a:prstGeom prst="roundRect">
              <a:avLst>
                <a:gd name="adj" fmla="val 8372"/>
              </a:avLst>
            </a:prstGeom>
            <a:solidFill>
              <a:srgbClr val="FFFFFF">
                <a:alpha val="5000"/>
              </a:srgbClr>
            </a:solidFill>
            <a:ln w="9525">
              <a:solidFill>
                <a:srgbClr val="FFFFFF">
                  <a:alpha val="10000"/>
                </a:srgbClr>
              </a:solidFill>
            </a:ln>
          </p:spPr>
          <p:txBody>
            <a:bodyPr rtlCol="0" anchor="ctr"/>
            <a:lstStyle/>
            <a:p/>
          </p:txBody>
        </p:sp>
        <p:sp>
          <p:nvSpPr>
            <p:cNvPr id="26" name="text_33"/>
            <p:cNvSpPr txBox="1"/>
            <p:nvPr/>
          </p:nvSpPr>
          <p:spPr>
            <a:xfrm>
              <a:off x="9347454" y="2404872"/>
              <a:ext cx="2018538" cy="777240"/>
            </a:xfrm>
            <a:prstGeom prst="rect">
              <a:avLst/>
            </a:prstGeom>
            <a:noFill/>
          </p:spPr>
          <p:txBody>
            <a:bodyPr wrap="square" lIns="0" rIns="0" tIns="0" bIns="0" anchor="t">
              <a:spAutoFit/>
            </a:bodyPr>
            <a:lstStyle/>
            <a:p>
              <a:pPr algn="l"/>
              <a:r>
                <a:rPr sz="4400" b="1" i="0">
                  <a:solidFill>
                    <a:srgbClr val="F43F5E"/>
                  </a:solidFill>
                  <a:latin typeface="Arial"/>
                </a:rPr>
                <a:t>3 AM</a:t>
              </a:r>
            </a:p>
          </p:txBody>
        </p:sp>
        <p:sp>
          <p:nvSpPr>
            <p:cNvPr id="27" name="text_34"/>
            <p:cNvSpPr txBox="1"/>
            <p:nvPr/>
          </p:nvSpPr>
          <p:spPr>
            <a:xfrm>
              <a:off x="9347454" y="3200400"/>
              <a:ext cx="2018538" cy="777240"/>
            </a:xfrm>
            <a:prstGeom prst="rect">
              <a:avLst/>
            </a:prstGeom>
            <a:noFill/>
          </p:spPr>
          <p:txBody>
            <a:bodyPr wrap="square" lIns="0" rIns="0" tIns="0" bIns="0" anchor="t">
              <a:spAutoFit/>
            </a:bodyPr>
            <a:lstStyle/>
            <a:p>
              <a:pPr algn="l"/>
              <a:r>
                <a:rPr sz="1300" b="0" i="0">
                  <a:solidFill>
                    <a:srgbClr val="8B90A0"/>
                  </a:solidFill>
                  <a:latin typeface="Arial"/>
                </a:rPr>
                <a:t>when the scams, raids and crises arrive and nobody is online</a:t>
              </a:r>
            </a:p>
          </p:txBody>
        </p:sp>
      </p:grpSp>
      <p:sp>
        <p:nvSpPr>
          <p:cNvPr id="28" name="text_35"/>
          <p:cNvSpPr txBox="1"/>
          <p:nvPr/>
        </p:nvSpPr>
        <p:spPr>
          <a:xfrm>
            <a:off x="548640" y="4434840"/>
            <a:ext cx="5486400" cy="274320"/>
          </a:xfrm>
          <a:prstGeom prst="rect">
            <a:avLst/>
          </a:prstGeom>
          <a:noFill/>
        </p:spPr>
        <p:txBody>
          <a:bodyPr wrap="square" lIns="0" rIns="0" tIns="0" bIns="0" anchor="t">
            <a:spAutoFit/>
          </a:bodyPr>
          <a:lstStyle/>
          <a:p>
            <a:pPr algn="l"/>
            <a:r>
              <a:rPr sz="1100" b="1" i="0" spc="200">
                <a:solidFill>
                  <a:srgbClr val="8B90A0"/>
                </a:solidFill>
                <a:latin typeface="Arial"/>
              </a:rPr>
              <a:t>WHAT VOLUNTEERS FACE EVERY NIGHT</a:t>
            </a:r>
          </a:p>
        </p:txBody>
      </p:sp>
      <p:grpSp>
        <p:nvGrpSpPr>
          <p:cNvPr id="29" name="group_36"/>
          <p:cNvGrpSpPr/>
          <p:nvPr/>
        </p:nvGrpSpPr>
        <p:grpSpPr>
          <a:xfrm>
            <a:off x="548640" y="4818888"/>
            <a:ext cx="2567178" cy="566928"/>
            <a:chOff x="548640" y="4818888"/>
            <a:chExt cx="2567178" cy="566928"/>
          </a:xfrm>
        </p:grpSpPr>
        <p:sp>
          <p:nvSpPr>
            <p:cNvPr id="30" name="shape_37"/>
            <p:cNvSpPr/>
            <p:nvPr/>
          </p:nvSpPr>
          <p:spPr>
            <a:xfrm>
              <a:off x="548640" y="4818888"/>
              <a:ext cx="2567178" cy="566928"/>
            </a:xfrm>
            <a:prstGeom prst="roundRect">
              <a:avLst>
                <a:gd name="adj" fmla="val 50000"/>
              </a:avLst>
            </a:prstGeom>
            <a:solidFill>
              <a:srgbClr val="F43F5E">
                <a:alpha val="8000"/>
              </a:srgbClr>
            </a:solidFill>
            <a:ln w="9525">
              <a:solidFill>
                <a:srgbClr val="F43F5E">
                  <a:alpha val="35000"/>
                </a:srgbClr>
              </a:solidFill>
            </a:ln>
          </p:spPr>
          <p:txBody>
            <a:bodyPr rtlCol="0" anchor="ctr"/>
            <a:lstStyle/>
            <a:p/>
          </p:txBody>
        </p:sp>
        <p:sp>
          <p:nvSpPr>
            <p:cNvPr id="31" name="shape_38"/>
            <p:cNvSpPr/>
            <p:nvPr/>
          </p:nvSpPr>
          <p:spPr>
            <a:xfrm>
              <a:off x="764072" y="5017312"/>
              <a:ext cx="170078" cy="170078"/>
            </a:xfrm>
            <a:prstGeom prst="ellipse">
              <a:avLst/>
            </a:prstGeom>
            <a:solidFill>
              <a:srgbClr val="F43F5E"/>
            </a:solidFill>
            <a:ln>
              <a:noFill/>
            </a:ln>
          </p:spPr>
          <p:txBody>
            <a:bodyPr rtlCol="0" anchor="ctr"/>
            <a:lstStyle/>
            <a:p/>
          </p:txBody>
        </p:sp>
        <p:sp>
          <p:nvSpPr>
            <p:cNvPr id="32" name="text_39"/>
            <p:cNvSpPr txBox="1"/>
            <p:nvPr/>
          </p:nvSpPr>
          <p:spPr>
            <a:xfrm>
              <a:off x="934151" y="4818888"/>
              <a:ext cx="2181666" cy="566928"/>
            </a:xfrm>
            <a:prstGeom prst="rect">
              <a:avLst/>
            </a:prstGeom>
            <a:noFill/>
          </p:spPr>
          <p:txBody>
            <a:bodyPr wrap="square" lIns="0" rIns="0" tIns="0" bIns="0" anchor="ctr">
              <a:spAutoFit/>
            </a:bodyPr>
            <a:lstStyle/>
            <a:p>
              <a:pPr algn="ctr"/>
              <a:r>
                <a:rPr sz="1300" b="0" i="0">
                  <a:solidFill>
                    <a:srgbClr val="E6E8EF"/>
                  </a:solidFill>
                  <a:latin typeface="Arial"/>
                </a:rPr>
                <a:t>Phishing &amp; fake “free Premium” links</a:t>
              </a:r>
            </a:p>
          </p:txBody>
        </p:sp>
      </p:grpSp>
      <p:grpSp>
        <p:nvGrpSpPr>
          <p:cNvPr id="33" name="group_40"/>
          <p:cNvGrpSpPr/>
          <p:nvPr/>
        </p:nvGrpSpPr>
        <p:grpSpPr>
          <a:xfrm>
            <a:off x="3390138" y="4818888"/>
            <a:ext cx="2567178" cy="566928"/>
            <a:chOff x="3390138" y="4818888"/>
            <a:chExt cx="2567178" cy="566928"/>
          </a:xfrm>
        </p:grpSpPr>
        <p:sp>
          <p:nvSpPr>
            <p:cNvPr id="34" name="shape_41"/>
            <p:cNvSpPr/>
            <p:nvPr/>
          </p:nvSpPr>
          <p:spPr>
            <a:xfrm>
              <a:off x="3390138" y="4818888"/>
              <a:ext cx="2567178" cy="566928"/>
            </a:xfrm>
            <a:prstGeom prst="roundRect">
              <a:avLst>
                <a:gd name="adj" fmla="val 50000"/>
              </a:avLst>
            </a:prstGeom>
            <a:solidFill>
              <a:srgbClr val="F59E0B">
                <a:alpha val="8000"/>
              </a:srgbClr>
            </a:solidFill>
            <a:ln w="9525">
              <a:solidFill>
                <a:srgbClr val="F59E0B">
                  <a:alpha val="35000"/>
                </a:srgbClr>
              </a:solidFill>
            </a:ln>
          </p:spPr>
          <p:txBody>
            <a:bodyPr rtlCol="0" anchor="ctr"/>
            <a:lstStyle/>
            <a:p/>
          </p:txBody>
        </p:sp>
        <p:sp>
          <p:nvSpPr>
            <p:cNvPr id="35" name="shape_42"/>
            <p:cNvSpPr/>
            <p:nvPr/>
          </p:nvSpPr>
          <p:spPr>
            <a:xfrm>
              <a:off x="3605570" y="5017312"/>
              <a:ext cx="170078" cy="170078"/>
            </a:xfrm>
            <a:prstGeom prst="ellipse">
              <a:avLst/>
            </a:prstGeom>
            <a:solidFill>
              <a:srgbClr val="F59E0B"/>
            </a:solidFill>
            <a:ln>
              <a:noFill/>
            </a:ln>
          </p:spPr>
          <p:txBody>
            <a:bodyPr rtlCol="0" anchor="ctr"/>
            <a:lstStyle/>
            <a:p/>
          </p:txBody>
        </p:sp>
        <p:sp>
          <p:nvSpPr>
            <p:cNvPr id="36" name="text_43"/>
            <p:cNvSpPr txBox="1"/>
            <p:nvPr/>
          </p:nvSpPr>
          <p:spPr>
            <a:xfrm>
              <a:off x="3775649" y="4818888"/>
              <a:ext cx="2181666" cy="566928"/>
            </a:xfrm>
            <a:prstGeom prst="rect">
              <a:avLst/>
            </a:prstGeom>
            <a:noFill/>
          </p:spPr>
          <p:txBody>
            <a:bodyPr wrap="square" lIns="0" rIns="0" tIns="0" bIns="0" anchor="ctr">
              <a:spAutoFit/>
            </a:bodyPr>
            <a:lstStyle/>
            <a:p>
              <a:pPr algn="ctr"/>
              <a:r>
                <a:rPr sz="1300" b="0" i="0">
                  <a:solidFill>
                    <a:srgbClr val="E6E8EF"/>
                  </a:solidFill>
                  <a:latin typeface="Arial"/>
                </a:rPr>
                <a:t>Raids &amp; spam floods</a:t>
              </a:r>
            </a:p>
          </p:txBody>
        </p:sp>
      </p:grpSp>
      <p:grpSp>
        <p:nvGrpSpPr>
          <p:cNvPr id="37" name="group_44"/>
          <p:cNvGrpSpPr/>
          <p:nvPr/>
        </p:nvGrpSpPr>
        <p:grpSpPr>
          <a:xfrm>
            <a:off x="6231636" y="4818888"/>
            <a:ext cx="2567178" cy="566928"/>
            <a:chOff x="6231636" y="4818888"/>
            <a:chExt cx="2567178" cy="566928"/>
          </a:xfrm>
        </p:grpSpPr>
        <p:sp>
          <p:nvSpPr>
            <p:cNvPr id="38" name="shape_45"/>
            <p:cNvSpPr/>
            <p:nvPr/>
          </p:nvSpPr>
          <p:spPr>
            <a:xfrm>
              <a:off x="6231636" y="4818888"/>
              <a:ext cx="2567178" cy="566928"/>
            </a:xfrm>
            <a:prstGeom prst="roundRect">
              <a:avLst>
                <a:gd name="adj" fmla="val 50000"/>
              </a:avLst>
            </a:prstGeom>
            <a:solidFill>
              <a:srgbClr val="A78BFA">
                <a:alpha val="8000"/>
              </a:srgbClr>
            </a:solidFill>
            <a:ln w="9525">
              <a:solidFill>
                <a:srgbClr val="A78BFA">
                  <a:alpha val="35000"/>
                </a:srgbClr>
              </a:solidFill>
            </a:ln>
          </p:spPr>
          <p:txBody>
            <a:bodyPr rtlCol="0" anchor="ctr"/>
            <a:lstStyle/>
            <a:p/>
          </p:txBody>
        </p:sp>
        <p:sp>
          <p:nvSpPr>
            <p:cNvPr id="39" name="shape_46"/>
            <p:cNvSpPr/>
            <p:nvPr/>
          </p:nvSpPr>
          <p:spPr>
            <a:xfrm>
              <a:off x="6447068" y="5017312"/>
              <a:ext cx="170078" cy="170078"/>
            </a:xfrm>
            <a:prstGeom prst="ellipse">
              <a:avLst/>
            </a:prstGeom>
            <a:solidFill>
              <a:srgbClr val="A78BFA"/>
            </a:solidFill>
            <a:ln>
              <a:noFill/>
            </a:ln>
          </p:spPr>
          <p:txBody>
            <a:bodyPr rtlCol="0" anchor="ctr"/>
            <a:lstStyle/>
            <a:p/>
          </p:txBody>
        </p:sp>
        <p:sp>
          <p:nvSpPr>
            <p:cNvPr id="40" name="text_47"/>
            <p:cNvSpPr txBox="1"/>
            <p:nvPr/>
          </p:nvSpPr>
          <p:spPr>
            <a:xfrm>
              <a:off x="6617147" y="4818888"/>
              <a:ext cx="2181666" cy="566928"/>
            </a:xfrm>
            <a:prstGeom prst="rect">
              <a:avLst/>
            </a:prstGeom>
            <a:noFill/>
          </p:spPr>
          <p:txBody>
            <a:bodyPr wrap="square" lIns="0" rIns="0" tIns="0" bIns="0" anchor="ctr">
              <a:spAutoFit/>
            </a:bodyPr>
            <a:lstStyle/>
            <a:p>
              <a:pPr algn="ctr"/>
              <a:r>
                <a:rPr sz="1300" b="0" i="0">
                  <a:solidFill>
                    <a:srgbClr val="E6E8EF"/>
                  </a:solidFill>
                  <a:latin typeface="Arial"/>
                </a:rPr>
                <a:t>Malicious third-party bots</a:t>
              </a:r>
            </a:p>
          </p:txBody>
        </p:sp>
      </p:grpSp>
      <p:grpSp>
        <p:nvGrpSpPr>
          <p:cNvPr id="41" name="group_48"/>
          <p:cNvGrpSpPr/>
          <p:nvPr/>
        </p:nvGrpSpPr>
        <p:grpSpPr>
          <a:xfrm>
            <a:off x="9073134" y="4818888"/>
            <a:ext cx="2567178" cy="566928"/>
            <a:chOff x="9073134" y="4818888"/>
            <a:chExt cx="2567178" cy="566928"/>
          </a:xfrm>
        </p:grpSpPr>
        <p:sp>
          <p:nvSpPr>
            <p:cNvPr id="42" name="shape_49"/>
            <p:cNvSpPr/>
            <p:nvPr/>
          </p:nvSpPr>
          <p:spPr>
            <a:xfrm>
              <a:off x="9073134" y="4818888"/>
              <a:ext cx="2567178" cy="566928"/>
            </a:xfrm>
            <a:prstGeom prst="roundRect">
              <a:avLst>
                <a:gd name="adj" fmla="val 50000"/>
              </a:avLst>
            </a:prstGeom>
            <a:solidFill>
              <a:srgbClr val="22D3EE">
                <a:alpha val="8000"/>
              </a:srgbClr>
            </a:solidFill>
            <a:ln w="9525">
              <a:solidFill>
                <a:srgbClr val="22D3EE">
                  <a:alpha val="35000"/>
                </a:srgbClr>
              </a:solidFill>
            </a:ln>
          </p:spPr>
          <p:txBody>
            <a:bodyPr rtlCol="0" anchor="ctr"/>
            <a:lstStyle/>
            <a:p/>
          </p:txBody>
        </p:sp>
        <p:sp>
          <p:nvSpPr>
            <p:cNvPr id="43" name="shape_50"/>
            <p:cNvSpPr/>
            <p:nvPr/>
          </p:nvSpPr>
          <p:spPr>
            <a:xfrm>
              <a:off x="9288566" y="5017312"/>
              <a:ext cx="170078" cy="170078"/>
            </a:xfrm>
            <a:prstGeom prst="ellipse">
              <a:avLst/>
            </a:prstGeom>
            <a:solidFill>
              <a:srgbClr val="22D3EE"/>
            </a:solidFill>
            <a:ln>
              <a:noFill/>
            </a:ln>
          </p:spPr>
          <p:txBody>
            <a:bodyPr rtlCol="0" anchor="ctr"/>
            <a:lstStyle/>
            <a:p/>
          </p:txBody>
        </p:sp>
        <p:sp>
          <p:nvSpPr>
            <p:cNvPr id="44" name="text_51"/>
            <p:cNvSpPr txBox="1"/>
            <p:nvPr/>
          </p:nvSpPr>
          <p:spPr>
            <a:xfrm>
              <a:off x="9458645" y="4818888"/>
              <a:ext cx="2181666" cy="566928"/>
            </a:xfrm>
            <a:prstGeom prst="rect">
              <a:avLst/>
            </a:prstGeom>
            <a:noFill/>
          </p:spPr>
          <p:txBody>
            <a:bodyPr wrap="square" lIns="0" rIns="0" tIns="0" bIns="0" anchor="ctr">
              <a:spAutoFit/>
            </a:bodyPr>
            <a:lstStyle/>
            <a:p>
              <a:pPr algn="ctr"/>
              <a:r>
                <a:rPr sz="1300" b="0" i="0">
                  <a:solidFill>
                    <a:srgbClr val="E6E8EF"/>
                  </a:solidFill>
                  <a:latin typeface="Arial"/>
                </a:rPr>
                <a:t>Members in crisis, alone at night</a:t>
              </a:r>
            </a:p>
          </p:txBody>
        </p:sp>
      </p:grpSp>
      <p:sp>
        <p:nvSpPr>
          <p:cNvPr id="45" name="text_52"/>
          <p:cNvSpPr txBox="1"/>
          <p:nvPr/>
        </p:nvSpPr>
        <p:spPr>
          <a:xfrm>
            <a:off x="548640" y="5623560"/>
            <a:ext cx="11064240" cy="411480"/>
          </a:xfrm>
          <a:prstGeom prst="rect">
            <a:avLst/>
          </a:prstGeom>
          <a:noFill/>
        </p:spPr>
        <p:txBody>
          <a:bodyPr wrap="square" lIns="0" rIns="0" tIns="0" bIns="0" anchor="t">
            <a:spAutoFit/>
          </a:bodyPr>
          <a:lstStyle/>
          <a:p>
            <a:pPr algn="l"/>
            <a:r>
              <a:rPr sz="1500" b="1" i="0">
                <a:solidFill>
                  <a:srgbClr val="E6E8EF"/>
                </a:solidFill>
                <a:latin typeface="Arial"/>
              </a:rPr>
              <a:t>Result: </a:t>
            </a:r>
            <a:r>
              <a:rPr sz="1500" b="0" i="0">
                <a:solidFill>
                  <a:srgbClr val="8B90A0"/>
                </a:solidFill>
                <a:latin typeface="Arial"/>
              </a:rPr>
              <a:t>moderators burn out, scams spread, and the people who most need help wait until morning.</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600"/>
                                        <p:tgtEl>
                                          <p:spTgt spid="10"/>
                                        </p:tgtEl>
                                      </p:cBhvr>
                                    </p:animEffect>
                                    <p:anim calcmode="lin" valueType="num">
                                      <p:cBhvr additive="base">
                                        <p:cTn id="11" dur="600" fill="hold"/>
                                        <p:tgtEl>
                                          <p:spTgt spid="10"/>
                                        </p:tgtEl>
                                        <p:attrNameLst>
                                          <p:attrName>ppt_x</p:attrName>
                                        </p:attrNameLst>
                                      </p:cBhvr>
                                      <p:tavLst>
                                        <p:tav tm="0">
                                          <p:val>
                                            <p:strVal val="#ppt_x"/>
                                          </p:val>
                                        </p:tav>
                                        <p:tav tm="100000">
                                          <p:val>
                                            <p:strVal val="#ppt_x"/>
                                          </p:val>
                                        </p:tav>
                                      </p:tavLst>
                                    </p:anim>
                                    <p:anim calcmode="lin" valueType="num">
                                      <p:cBhvr additive="base">
                                        <p:cTn id="12" dur="600" fill="hold"/>
                                        <p:tgtEl>
                                          <p:spTgt spid="10"/>
                                        </p:tgtEl>
                                        <p:attrNameLst>
                                          <p:attrName>ppt_y</p:attrName>
                                        </p:attrNameLst>
                                      </p:cBhvr>
                                      <p:tavLst>
                                        <p:tav tm="0">
                                          <p:val>
                                            <p:strVal val="#ppt_y+.06"/>
                                          </p:val>
                                        </p:tav>
                                        <p:tav tm="100000">
                                          <p:val>
                                            <p:strVal val="#ppt_y"/>
                                          </p:val>
                                        </p:tav>
                                      </p:tavLst>
                                    </p:anim>
                                  </p:childTnLst>
                                </p:cTn>
                              </p:par>
                              <p:par>
                                <p:cTn id="13" presetID="10" presetClass="entr" presetSubtype="0" fill="hold" grpId="0" nodeType="withEffect">
                                  <p:stCondLst>
                                    <p:cond delay="35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600"/>
                                        <p:tgtEl>
                                          <p:spTgt spid="11"/>
                                        </p:tgtEl>
                                      </p:cBhvr>
                                    </p:animEffect>
                                  </p:childTnLst>
                                </p:cTn>
                              </p:par>
                              <p:par>
                                <p:cTn id="16" presetID="42" presetClass="entr" presetSubtype="0" fill="hold" grpId="0" nodeType="withEffect">
                                  <p:stCondLst>
                                    <p:cond delay="50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600"/>
                                        <p:tgtEl>
                                          <p:spTgt spid="12"/>
                                        </p:tgtEl>
                                      </p:cBhvr>
                                    </p:animEffect>
                                    <p:anim calcmode="lin" valueType="num">
                                      <p:cBhvr additive="base">
                                        <p:cTn id="19" dur="600" fill="hold"/>
                                        <p:tgtEl>
                                          <p:spTgt spid="12"/>
                                        </p:tgtEl>
                                        <p:attrNameLst>
                                          <p:attrName>ppt_x</p:attrName>
                                        </p:attrNameLst>
                                      </p:cBhvr>
                                      <p:tavLst>
                                        <p:tav tm="0">
                                          <p:val>
                                            <p:strVal val="#ppt_x"/>
                                          </p:val>
                                        </p:tav>
                                        <p:tav tm="100000">
                                          <p:val>
                                            <p:strVal val="#ppt_x"/>
                                          </p:val>
                                        </p:tav>
                                      </p:tavLst>
                                    </p:anim>
                                    <p:anim calcmode="lin" valueType="num">
                                      <p:cBhvr additive="base">
                                        <p:cTn id="20" dur="600" fill="hold"/>
                                        <p:tgtEl>
                                          <p:spTgt spid="12"/>
                                        </p:tgtEl>
                                        <p:attrNameLst>
                                          <p:attrName>ppt_y</p:attrName>
                                        </p:attrNameLst>
                                      </p:cBhvr>
                                      <p:tavLst>
                                        <p:tav tm="0">
                                          <p:val>
                                            <p:strVal val="#ppt_y+.06"/>
                                          </p:val>
                                        </p:tav>
                                        <p:tav tm="100000">
                                          <p:val>
                                            <p:strVal val="#ppt_y"/>
                                          </p:val>
                                        </p:tav>
                                      </p:tavLst>
                                    </p:anim>
                                  </p:childTnLst>
                                </p:cTn>
                              </p:par>
                              <p:par>
                                <p:cTn id="21" presetID="42" presetClass="entr" presetSubtype="0" fill="hold" grpId="0" nodeType="withEffect">
                                  <p:stCondLst>
                                    <p:cond delay="66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600"/>
                                        <p:tgtEl>
                                          <p:spTgt spid="16"/>
                                        </p:tgtEl>
                                      </p:cBhvr>
                                    </p:animEffect>
                                    <p:anim calcmode="lin" valueType="num">
                                      <p:cBhvr additive="base">
                                        <p:cTn id="24" dur="600" fill="hold"/>
                                        <p:tgtEl>
                                          <p:spTgt spid="16"/>
                                        </p:tgtEl>
                                        <p:attrNameLst>
                                          <p:attrName>ppt_x</p:attrName>
                                        </p:attrNameLst>
                                      </p:cBhvr>
                                      <p:tavLst>
                                        <p:tav tm="0">
                                          <p:val>
                                            <p:strVal val="#ppt_x"/>
                                          </p:val>
                                        </p:tav>
                                        <p:tav tm="100000">
                                          <p:val>
                                            <p:strVal val="#ppt_x"/>
                                          </p:val>
                                        </p:tav>
                                      </p:tavLst>
                                    </p:anim>
                                    <p:anim calcmode="lin" valueType="num">
                                      <p:cBhvr additive="base">
                                        <p:cTn id="25" dur="600" fill="hold"/>
                                        <p:tgtEl>
                                          <p:spTgt spid="16"/>
                                        </p:tgtEl>
                                        <p:attrNameLst>
                                          <p:attrName>ppt_y</p:attrName>
                                        </p:attrNameLst>
                                      </p:cBhvr>
                                      <p:tavLst>
                                        <p:tav tm="0">
                                          <p:val>
                                            <p:strVal val="#ppt_y+.06"/>
                                          </p:val>
                                        </p:tav>
                                        <p:tav tm="100000">
                                          <p:val>
                                            <p:strVal val="#ppt_y"/>
                                          </p:val>
                                        </p:tav>
                                      </p:tavLst>
                                    </p:anim>
                                  </p:childTnLst>
                                </p:cTn>
                              </p:par>
                              <p:par>
                                <p:cTn id="26" presetID="42" presetClass="entr" presetSubtype="0" fill="hold" grpId="0" nodeType="withEffect">
                                  <p:stCondLst>
                                    <p:cond delay="82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600"/>
                                        <p:tgtEl>
                                          <p:spTgt spid="20"/>
                                        </p:tgtEl>
                                      </p:cBhvr>
                                    </p:animEffect>
                                    <p:anim calcmode="lin" valueType="num">
                                      <p:cBhvr additive="base">
                                        <p:cTn id="29" dur="600" fill="hold"/>
                                        <p:tgtEl>
                                          <p:spTgt spid="20"/>
                                        </p:tgtEl>
                                        <p:attrNameLst>
                                          <p:attrName>ppt_x</p:attrName>
                                        </p:attrNameLst>
                                      </p:cBhvr>
                                      <p:tavLst>
                                        <p:tav tm="0">
                                          <p:val>
                                            <p:strVal val="#ppt_x"/>
                                          </p:val>
                                        </p:tav>
                                        <p:tav tm="100000">
                                          <p:val>
                                            <p:strVal val="#ppt_x"/>
                                          </p:val>
                                        </p:tav>
                                      </p:tavLst>
                                    </p:anim>
                                    <p:anim calcmode="lin" valueType="num">
                                      <p:cBhvr additive="base">
                                        <p:cTn id="30" dur="600" fill="hold"/>
                                        <p:tgtEl>
                                          <p:spTgt spid="20"/>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98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600"/>
                                        <p:tgtEl>
                                          <p:spTgt spid="24"/>
                                        </p:tgtEl>
                                      </p:cBhvr>
                                    </p:animEffect>
                                    <p:anim calcmode="lin" valueType="num">
                                      <p:cBhvr additive="base">
                                        <p:cTn id="34" dur="600" fill="hold"/>
                                        <p:tgtEl>
                                          <p:spTgt spid="24"/>
                                        </p:tgtEl>
                                        <p:attrNameLst>
                                          <p:attrName>ppt_x</p:attrName>
                                        </p:attrNameLst>
                                      </p:cBhvr>
                                      <p:tavLst>
                                        <p:tav tm="0">
                                          <p:val>
                                            <p:strVal val="#ppt_x"/>
                                          </p:val>
                                        </p:tav>
                                        <p:tav tm="100000">
                                          <p:val>
                                            <p:strVal val="#ppt_x"/>
                                          </p:val>
                                        </p:tav>
                                      </p:tavLst>
                                    </p:anim>
                                    <p:anim calcmode="lin" valueType="num">
                                      <p:cBhvr additive="base">
                                        <p:cTn id="35" dur="600" fill="hold"/>
                                        <p:tgtEl>
                                          <p:spTgt spid="24"/>
                                        </p:tgtEl>
                                        <p:attrNameLst>
                                          <p:attrName>ppt_y</p:attrName>
                                        </p:attrNameLst>
                                      </p:cBhvr>
                                      <p:tavLst>
                                        <p:tav tm="0">
                                          <p:val>
                                            <p:strVal val="#ppt_y+.06"/>
                                          </p:val>
                                        </p:tav>
                                        <p:tav tm="100000">
                                          <p:val>
                                            <p:strVal val="#ppt_y"/>
                                          </p:val>
                                        </p:tav>
                                      </p:tavLst>
                                    </p:anim>
                                  </p:childTnLst>
                                </p:cTn>
                              </p:par>
                              <p:par>
                                <p:cTn id="36" presetID="10" presetClass="entr" presetSubtype="0" fill="hold" grpId="0" nodeType="withEffect">
                                  <p:stCondLst>
                                    <p:cond delay="115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600"/>
                                        <p:tgtEl>
                                          <p:spTgt spid="28"/>
                                        </p:tgtEl>
                                      </p:cBhvr>
                                    </p:animEffect>
                                  </p:childTnLst>
                                </p:cTn>
                              </p:par>
                              <p:par>
                                <p:cTn id="39" presetID="42" presetClass="entr" presetSubtype="0" fill="hold" grpId="0" nodeType="withEffect">
                                  <p:stCondLst>
                                    <p:cond delay="125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600"/>
                                        <p:tgtEl>
                                          <p:spTgt spid="29"/>
                                        </p:tgtEl>
                                      </p:cBhvr>
                                    </p:animEffect>
                                    <p:anim calcmode="lin" valueType="num">
                                      <p:cBhvr additive="base">
                                        <p:cTn id="42" dur="600" fill="hold"/>
                                        <p:tgtEl>
                                          <p:spTgt spid="29"/>
                                        </p:tgtEl>
                                        <p:attrNameLst>
                                          <p:attrName>ppt_x</p:attrName>
                                        </p:attrNameLst>
                                      </p:cBhvr>
                                      <p:tavLst>
                                        <p:tav tm="0">
                                          <p:val>
                                            <p:strVal val="#ppt_x"/>
                                          </p:val>
                                        </p:tav>
                                        <p:tav tm="100000">
                                          <p:val>
                                            <p:strVal val="#ppt_x"/>
                                          </p:val>
                                        </p:tav>
                                      </p:tavLst>
                                    </p:anim>
                                    <p:anim calcmode="lin" valueType="num">
                                      <p:cBhvr additive="base">
                                        <p:cTn id="43" dur="600" fill="hold"/>
                                        <p:tgtEl>
                                          <p:spTgt spid="29"/>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137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600"/>
                                        <p:tgtEl>
                                          <p:spTgt spid="33"/>
                                        </p:tgtEl>
                                      </p:cBhvr>
                                    </p:animEffect>
                                    <p:anim calcmode="lin" valueType="num">
                                      <p:cBhvr additive="base">
                                        <p:cTn id="47" dur="600" fill="hold"/>
                                        <p:tgtEl>
                                          <p:spTgt spid="33"/>
                                        </p:tgtEl>
                                        <p:attrNameLst>
                                          <p:attrName>ppt_x</p:attrName>
                                        </p:attrNameLst>
                                      </p:cBhvr>
                                      <p:tavLst>
                                        <p:tav tm="0">
                                          <p:val>
                                            <p:strVal val="#ppt_x"/>
                                          </p:val>
                                        </p:tav>
                                        <p:tav tm="100000">
                                          <p:val>
                                            <p:strVal val="#ppt_x"/>
                                          </p:val>
                                        </p:tav>
                                      </p:tavLst>
                                    </p:anim>
                                    <p:anim calcmode="lin" valueType="num">
                                      <p:cBhvr additive="base">
                                        <p:cTn id="48" dur="600" fill="hold"/>
                                        <p:tgtEl>
                                          <p:spTgt spid="33"/>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1490"/>
                                  </p:stCondLst>
                                  <p:childTnLst>
                                    <p:set>
                                      <p:cBhvr>
                                        <p:cTn id="50" dur="1" fill="hold">
                                          <p:stCondLst>
                                            <p:cond delay="0"/>
                                          </p:stCondLst>
                                        </p:cTn>
                                        <p:tgtEl>
                                          <p:spTgt spid="37"/>
                                        </p:tgtEl>
                                        <p:attrNameLst>
                                          <p:attrName>style.visibility</p:attrName>
                                        </p:attrNameLst>
                                      </p:cBhvr>
                                      <p:to>
                                        <p:strVal val="visible"/>
                                      </p:to>
                                    </p:set>
                                    <p:animEffect transition="in" filter="fade">
                                      <p:cBhvr>
                                        <p:cTn id="51" dur="600"/>
                                        <p:tgtEl>
                                          <p:spTgt spid="37"/>
                                        </p:tgtEl>
                                      </p:cBhvr>
                                    </p:animEffect>
                                    <p:anim calcmode="lin" valueType="num">
                                      <p:cBhvr additive="base">
                                        <p:cTn id="52" dur="600" fill="hold"/>
                                        <p:tgtEl>
                                          <p:spTgt spid="37"/>
                                        </p:tgtEl>
                                        <p:attrNameLst>
                                          <p:attrName>ppt_x</p:attrName>
                                        </p:attrNameLst>
                                      </p:cBhvr>
                                      <p:tavLst>
                                        <p:tav tm="0">
                                          <p:val>
                                            <p:strVal val="#ppt_x"/>
                                          </p:val>
                                        </p:tav>
                                        <p:tav tm="100000">
                                          <p:val>
                                            <p:strVal val="#ppt_x"/>
                                          </p:val>
                                        </p:tav>
                                      </p:tavLst>
                                    </p:anim>
                                    <p:anim calcmode="lin" valueType="num">
                                      <p:cBhvr additive="base">
                                        <p:cTn id="53" dur="600" fill="hold"/>
                                        <p:tgtEl>
                                          <p:spTgt spid="37"/>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1610"/>
                                  </p:stCondLst>
                                  <p:childTnLst>
                                    <p:set>
                                      <p:cBhvr>
                                        <p:cTn id="55" dur="1" fill="hold">
                                          <p:stCondLst>
                                            <p:cond delay="0"/>
                                          </p:stCondLst>
                                        </p:cTn>
                                        <p:tgtEl>
                                          <p:spTgt spid="41"/>
                                        </p:tgtEl>
                                        <p:attrNameLst>
                                          <p:attrName>style.visibility</p:attrName>
                                        </p:attrNameLst>
                                      </p:cBhvr>
                                      <p:to>
                                        <p:strVal val="visible"/>
                                      </p:to>
                                    </p:set>
                                    <p:animEffect transition="in" filter="fade">
                                      <p:cBhvr>
                                        <p:cTn id="56" dur="600"/>
                                        <p:tgtEl>
                                          <p:spTgt spid="41"/>
                                        </p:tgtEl>
                                      </p:cBhvr>
                                    </p:animEffect>
                                    <p:anim calcmode="lin" valueType="num">
                                      <p:cBhvr additive="base">
                                        <p:cTn id="57" dur="600" fill="hold"/>
                                        <p:tgtEl>
                                          <p:spTgt spid="41"/>
                                        </p:tgtEl>
                                        <p:attrNameLst>
                                          <p:attrName>ppt_x</p:attrName>
                                        </p:attrNameLst>
                                      </p:cBhvr>
                                      <p:tavLst>
                                        <p:tav tm="0">
                                          <p:val>
                                            <p:strVal val="#ppt_x"/>
                                          </p:val>
                                        </p:tav>
                                        <p:tav tm="100000">
                                          <p:val>
                                            <p:strVal val="#ppt_x"/>
                                          </p:val>
                                        </p:tav>
                                      </p:tavLst>
                                    </p:anim>
                                    <p:anim calcmode="lin" valueType="num">
                                      <p:cBhvr additive="base">
                                        <p:cTn id="58" dur="600" fill="hold"/>
                                        <p:tgtEl>
                                          <p:spTgt spid="41"/>
                                        </p:tgtEl>
                                        <p:attrNameLst>
                                          <p:attrName>ppt_y</p:attrName>
                                        </p:attrNameLst>
                                      </p:cBhvr>
                                      <p:tavLst>
                                        <p:tav tm="0">
                                          <p:val>
                                            <p:strVal val="#ppt_y+.06"/>
                                          </p:val>
                                        </p:tav>
                                        <p:tav tm="100000">
                                          <p:val>
                                            <p:strVal val="#ppt_y"/>
                                          </p:val>
                                        </p:tav>
                                      </p:tavLst>
                                    </p:anim>
                                  </p:childTnLst>
                                </p:cTn>
                              </p:par>
                              <p:par>
                                <p:cTn id="59" presetID="10" presetClass="entr" presetSubtype="0" fill="hold" grpId="0" nodeType="withEffect">
                                  <p:stCondLst>
                                    <p:cond delay="1800"/>
                                  </p:stCondLst>
                                  <p:childTnLst>
                                    <p:set>
                                      <p:cBhvr>
                                        <p:cTn id="60" dur="1" fill="hold">
                                          <p:stCondLst>
                                            <p:cond delay="0"/>
                                          </p:stCondLst>
                                        </p:cTn>
                                        <p:tgtEl>
                                          <p:spTgt spid="45"/>
                                        </p:tgtEl>
                                        <p:attrNameLst>
                                          <p:attrName>style.visibility</p:attrName>
                                        </p:attrNameLst>
                                      </p:cBhvr>
                                      <p:to>
                                        <p:strVal val="visible"/>
                                      </p:to>
                                    </p:set>
                                    <p:animEffect transition="in" filter="fade">
                                      <p:cBhvr>
                                        <p:cTn id="61" dur="6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28" grpId="0" animBg="1"/>
      <p:bldP spid="45"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60A"/>
        </a:solidFill>
        <a:effectLst/>
      </p:bgPr>
    </p:bg>
    <p:spTree>
      <p:nvGrpSpPr>
        <p:cNvPr id="1" name=""/>
        <p:cNvGrpSpPr/>
        <p:nvPr/>
      </p:nvGrpSpPr>
      <p:grpSpPr/>
      <p:pic>
        <p:nvPicPr>
          <p:cNvPr id="2" name="!!bg" descr="bg.png"/>
          <p:cNvPicPr>
            <a:picLocks noChangeAspect="1"/>
          </p:cNvPicPr>
          <p:nvPr/>
        </p:nvPicPr>
        <p:blipFill>
          <a:blip r:embed="rId2"/>
          <a:stretch>
            <a:fillRect/>
          </a:stretch>
        </p:blipFill>
        <p:spPr>
          <a:xfrm>
            <a:off x="0" y="0"/>
            <a:ext cx="12191695" cy="6858000"/>
          </a:xfrm>
          <a:prstGeom prst="rect">
            <a:avLst/>
          </a:prstGeom>
        </p:spPr>
      </p:pic>
      <p:pic>
        <p:nvPicPr>
          <p:cNvPr id="3" name="!!orb_violet" descr="orb_violet.png"/>
          <p:cNvPicPr>
            <a:picLocks noChangeAspect="1"/>
          </p:cNvPicPr>
          <p:nvPr/>
        </p:nvPicPr>
        <p:blipFill>
          <a:blip r:embed="rId3"/>
          <a:stretch>
            <a:fillRect/>
          </a:stretch>
        </p:blipFill>
        <p:spPr>
          <a:xfrm>
            <a:off x="-2286000" y="-2743200"/>
            <a:ext cx="6400800" cy="6400800"/>
          </a:xfrm>
          <a:prstGeom prst="rect">
            <a:avLst/>
          </a:prstGeom>
        </p:spPr>
      </p:pic>
      <p:pic>
        <p:nvPicPr>
          <p:cNvPr id="4" name="!!orb_cyan" descr="orb_cyan.png"/>
          <p:cNvPicPr>
            <a:picLocks noChangeAspect="1"/>
          </p:cNvPicPr>
          <p:nvPr/>
        </p:nvPicPr>
        <p:blipFill>
          <a:blip r:embed="rId4"/>
          <a:stretch>
            <a:fillRect/>
          </a:stretch>
        </p:blipFill>
        <p:spPr>
          <a:xfrm>
            <a:off x="7315200" y="3474720"/>
            <a:ext cx="6400800" cy="6400800"/>
          </a:xfrm>
          <a:prstGeom prst="rect">
            <a:avLst/>
          </a:prstGeom>
        </p:spPr>
      </p:pic>
      <p:pic>
        <p:nvPicPr>
          <p:cNvPr id="5" name="!!orb_rose" descr="orb_rose.png"/>
          <p:cNvPicPr>
            <a:picLocks noChangeAspect="1"/>
          </p:cNvPicPr>
          <p:nvPr/>
        </p:nvPicPr>
        <p:blipFill>
          <a:blip r:embed="rId5"/>
          <a:stretch>
            <a:fillRect/>
          </a:stretch>
        </p:blipFill>
        <p:spPr>
          <a:xfrm>
            <a:off x="10058400" y="-1371600"/>
            <a:ext cx="3657600" cy="3657600"/>
          </a:xfrm>
          <a:prstGeom prst="rect">
            <a:avLst/>
          </a:prstGeom>
        </p:spPr>
      </p:pic>
      <p:pic>
        <p:nvPicPr>
          <p:cNvPr id="6" name="!!footlogo" descr="logo.png"/>
          <p:cNvPicPr>
            <a:picLocks noChangeAspect="1"/>
          </p:cNvPicPr>
          <p:nvPr/>
        </p:nvPicPr>
        <p:blipFill>
          <a:blip r:embed="rId6"/>
          <a:stretch>
            <a:fillRect/>
          </a:stretch>
        </p:blipFill>
        <p:spPr>
          <a:xfrm>
            <a:off x="548640" y="6327648"/>
            <a:ext cx="237744" cy="237744"/>
          </a:xfrm>
          <a:prstGeom prst="rect">
            <a:avLst/>
          </a:prstGeom>
        </p:spPr>
      </p:pic>
      <p:sp>
        <p:nvSpPr>
          <p:cNvPr id="7" name="!!footname"/>
          <p:cNvSpPr txBox="1"/>
          <p:nvPr/>
        </p:nvSpPr>
        <p:spPr>
          <a:xfrm>
            <a:off x="868680" y="6327648"/>
            <a:ext cx="2743200" cy="237744"/>
          </a:xfrm>
          <a:prstGeom prst="rect">
            <a:avLst/>
          </a:prstGeom>
          <a:noFill/>
        </p:spPr>
        <p:txBody>
          <a:bodyPr wrap="square" lIns="0" rIns="0" tIns="0" bIns="0" anchor="ctr">
            <a:spAutoFit/>
          </a:bodyPr>
          <a:lstStyle/>
          <a:p>
            <a:pPr algn="l"/>
            <a:r>
              <a:rPr sz="1100" b="1" i="0">
                <a:solidFill>
                  <a:srgbClr val="8B90A0"/>
                </a:solidFill>
                <a:latin typeface="Arial"/>
              </a:rPr>
              <a:t>Haven</a:t>
            </a:r>
          </a:p>
        </p:txBody>
      </p:sp>
      <p:sp>
        <p:nvSpPr>
          <p:cNvPr id="8" name="!!pageno"/>
          <p:cNvSpPr txBox="1"/>
          <p:nvPr/>
        </p:nvSpPr>
        <p:spPr>
          <a:xfrm>
            <a:off x="9814255" y="6327648"/>
            <a:ext cx="1828800" cy="237744"/>
          </a:xfrm>
          <a:prstGeom prst="rect">
            <a:avLst/>
          </a:prstGeom>
          <a:noFill/>
        </p:spPr>
        <p:txBody>
          <a:bodyPr wrap="square" lIns="0" rIns="0" tIns="0" bIns="0" anchor="ctr">
            <a:spAutoFit/>
          </a:bodyPr>
          <a:lstStyle/>
          <a:p>
            <a:pPr algn="r"/>
            <a:r>
              <a:rPr sz="1100" b="0" i="0">
                <a:solidFill>
                  <a:srgbClr val="8B90A0"/>
                </a:solidFill>
                <a:latin typeface="Arial"/>
              </a:rPr>
              <a:t>03 / 10</a:t>
            </a:r>
          </a:p>
        </p:txBody>
      </p:sp>
      <p:sp>
        <p:nvSpPr>
          <p:cNvPr id="9" name="text_53"/>
          <p:cNvSpPr txBox="1"/>
          <p:nvPr/>
        </p:nvSpPr>
        <p:spPr>
          <a:xfrm>
            <a:off x="548640" y="457200"/>
            <a:ext cx="7315200" cy="274320"/>
          </a:xfrm>
          <a:prstGeom prst="rect">
            <a:avLst/>
          </a:prstGeom>
          <a:noFill/>
        </p:spPr>
        <p:txBody>
          <a:bodyPr wrap="square" lIns="0" rIns="0" tIns="0" bIns="0" anchor="t">
            <a:spAutoFit/>
          </a:bodyPr>
          <a:lstStyle/>
          <a:p>
            <a:pPr algn="l"/>
            <a:r>
              <a:rPr sz="1200" b="1" i="0" spc="300">
                <a:solidFill>
                  <a:srgbClr val="22D3EE"/>
                </a:solidFill>
                <a:latin typeface="Arial"/>
              </a:rPr>
              <a:t>THE SOLUTION</a:t>
            </a:r>
          </a:p>
        </p:txBody>
      </p:sp>
      <p:sp>
        <p:nvSpPr>
          <p:cNvPr id="10" name="text_54"/>
          <p:cNvSpPr txBox="1"/>
          <p:nvPr/>
        </p:nvSpPr>
        <p:spPr>
          <a:xfrm>
            <a:off x="548640" y="749808"/>
            <a:ext cx="11064240" cy="685800"/>
          </a:xfrm>
          <a:prstGeom prst="rect">
            <a:avLst/>
          </a:prstGeom>
          <a:noFill/>
        </p:spPr>
        <p:txBody>
          <a:bodyPr wrap="square" lIns="0" rIns="0" tIns="0" bIns="0" anchor="t">
            <a:spAutoFit/>
          </a:bodyPr>
          <a:lstStyle/>
          <a:p>
            <a:pPr algn="l"/>
            <a:r>
              <a:rPr sz="3400" b="1" i="0">
                <a:solidFill>
                  <a:srgbClr val="FFFFFF"/>
                </a:solidFill>
                <a:latin typeface="Arial"/>
              </a:rPr>
              <a:t>An AI-native T&amp;S team, on call 24/7</a:t>
            </a:r>
          </a:p>
        </p:txBody>
      </p:sp>
      <p:sp>
        <p:nvSpPr>
          <p:cNvPr id="11" name="text_55"/>
          <p:cNvSpPr txBox="1"/>
          <p:nvPr/>
        </p:nvSpPr>
        <p:spPr>
          <a:xfrm>
            <a:off x="548640" y="1554480"/>
            <a:ext cx="5394960" cy="868680"/>
          </a:xfrm>
          <a:prstGeom prst="rect">
            <a:avLst/>
          </a:prstGeom>
          <a:noFill/>
        </p:spPr>
        <p:txBody>
          <a:bodyPr wrap="square" lIns="0" rIns="0" tIns="0" bIns="0" anchor="t">
            <a:spAutoFit/>
          </a:bodyPr>
          <a:lstStyle/>
          <a:p>
            <a:pPr algn="l">
              <a:lnSpc>
                <a:spcPct val="110000"/>
              </a:lnSpc>
            </a:pPr>
            <a:r>
              <a:rPr sz="1600" b="0" i="0">
                <a:solidFill>
                  <a:srgbClr val="8B90A0"/>
                </a:solidFill>
                <a:latin typeface="Arial"/>
              </a:rPr>
              <a:t>Haven plugs into your community and runs a full Trust &amp; Safety team of AI employees, with a human founder approving every ban.</a:t>
            </a:r>
          </a:p>
        </p:txBody>
      </p:sp>
      <p:grpSp>
        <p:nvGrpSpPr>
          <p:cNvPr id="12" name="group_56"/>
          <p:cNvGrpSpPr/>
          <p:nvPr/>
        </p:nvGrpSpPr>
        <p:grpSpPr>
          <a:xfrm>
            <a:off x="548640" y="2606040"/>
            <a:ext cx="5394960" cy="1024128"/>
            <a:chOff x="548640" y="2606040"/>
            <a:chExt cx="5394960" cy="1024128"/>
          </a:xfrm>
        </p:grpSpPr>
        <p:sp>
          <p:nvSpPr>
            <p:cNvPr id="13" name="shape_57"/>
            <p:cNvSpPr/>
            <p:nvPr/>
          </p:nvSpPr>
          <p:spPr>
            <a:xfrm>
              <a:off x="548640" y="2606040"/>
              <a:ext cx="5394960" cy="1024128"/>
            </a:xfrm>
            <a:prstGeom prst="roundRect">
              <a:avLst>
                <a:gd name="adj" fmla="val 14285"/>
              </a:avLst>
            </a:prstGeom>
            <a:solidFill>
              <a:srgbClr val="FFFFFF">
                <a:alpha val="5000"/>
              </a:srgbClr>
            </a:solidFill>
            <a:ln w="9525">
              <a:solidFill>
                <a:srgbClr val="FFFFFF">
                  <a:alpha val="10000"/>
                </a:srgbClr>
              </a:solidFill>
            </a:ln>
          </p:spPr>
          <p:txBody>
            <a:bodyPr rtlCol="0" anchor="ctr"/>
            <a:lstStyle/>
            <a:p/>
          </p:txBody>
        </p:sp>
        <p:sp>
          <p:nvSpPr>
            <p:cNvPr id="14" name="shape_58"/>
            <p:cNvSpPr/>
            <p:nvPr/>
          </p:nvSpPr>
          <p:spPr>
            <a:xfrm>
              <a:off x="749808" y="2825496"/>
              <a:ext cx="585216" cy="585216"/>
            </a:xfrm>
            <a:prstGeom prst="ellipse">
              <a:avLst/>
            </a:prstGeom>
            <a:solidFill>
              <a:srgbClr val="22D3EE">
                <a:alpha val="18000"/>
              </a:srgbClr>
            </a:solidFill>
            <a:ln w="9525">
              <a:solidFill>
                <a:srgbClr val="22D3EE">
                  <a:alpha val="55000"/>
                </a:srgbClr>
              </a:solidFill>
            </a:ln>
          </p:spPr>
          <p:txBody>
            <a:bodyPr rtlCol="0" anchor="ctr"/>
            <a:lstStyle/>
            <a:p/>
          </p:txBody>
        </p:sp>
        <p:pic>
          <p:nvPicPr>
            <p:cNvPr id="15" name="pic_59" descr="icon_bolt.png"/>
            <p:cNvPicPr>
              <a:picLocks noChangeAspect="1"/>
            </p:cNvPicPr>
            <p:nvPr/>
          </p:nvPicPr>
          <p:blipFill>
            <a:blip r:embed="rId7"/>
            <a:stretch>
              <a:fillRect/>
            </a:stretch>
          </p:blipFill>
          <p:spPr>
            <a:xfrm>
              <a:off x="896112" y="2971800"/>
              <a:ext cx="292608" cy="292608"/>
            </a:xfrm>
            <a:prstGeom prst="rect">
              <a:avLst/>
            </a:prstGeom>
          </p:spPr>
        </p:pic>
        <p:sp>
          <p:nvSpPr>
            <p:cNvPr id="16" name="text_60"/>
            <p:cNvSpPr txBox="1"/>
            <p:nvPr/>
          </p:nvSpPr>
          <p:spPr>
            <a:xfrm>
              <a:off x="1554480" y="2752344"/>
              <a:ext cx="4206240" cy="292608"/>
            </a:xfrm>
            <a:prstGeom prst="rect">
              <a:avLst/>
            </a:prstGeom>
            <a:noFill/>
          </p:spPr>
          <p:txBody>
            <a:bodyPr wrap="square" lIns="0" rIns="0" tIns="0" bIns="0" anchor="t">
              <a:spAutoFit/>
            </a:bodyPr>
            <a:lstStyle/>
            <a:p>
              <a:pPr algn="l"/>
              <a:r>
                <a:rPr sz="1600" b="1" i="0">
                  <a:solidFill>
                    <a:srgbClr val="FFFFFF"/>
                  </a:solidFill>
                  <a:latin typeface="Arial"/>
                </a:rPr>
                <a:t>Detect in under 1 second</a:t>
              </a:r>
            </a:p>
          </p:txBody>
        </p:sp>
        <p:sp>
          <p:nvSpPr>
            <p:cNvPr id="17" name="text_61"/>
            <p:cNvSpPr txBox="1"/>
            <p:nvPr/>
          </p:nvSpPr>
          <p:spPr>
            <a:xfrm>
              <a:off x="1554480" y="3063240"/>
              <a:ext cx="4251960" cy="502920"/>
            </a:xfrm>
            <a:prstGeom prst="rect">
              <a:avLst/>
            </a:prstGeom>
            <a:noFill/>
          </p:spPr>
          <p:txBody>
            <a:bodyPr wrap="square" lIns="0" rIns="0" tIns="0" bIns="0" anchor="t">
              <a:spAutoFit/>
            </a:bodyPr>
            <a:lstStyle/>
            <a:p>
              <a:pPr algn="l"/>
              <a:r>
                <a:rPr sz="1200" b="0" i="0">
                  <a:solidFill>
                    <a:srgbClr val="8B90A0"/>
                  </a:solidFill>
                  <a:latin typeface="Arial"/>
                </a:rPr>
                <a:t>Nova screens every message through a RocketRide triage pipeline and quarantines threats instantly.</a:t>
              </a:r>
            </a:p>
          </p:txBody>
        </p:sp>
      </p:grpSp>
      <p:grpSp>
        <p:nvGrpSpPr>
          <p:cNvPr id="18" name="group_62"/>
          <p:cNvGrpSpPr/>
          <p:nvPr/>
        </p:nvGrpSpPr>
        <p:grpSpPr>
          <a:xfrm>
            <a:off x="548640" y="3794760"/>
            <a:ext cx="5394960" cy="1024128"/>
            <a:chOff x="548640" y="3794760"/>
            <a:chExt cx="5394960" cy="1024128"/>
          </a:xfrm>
        </p:grpSpPr>
        <p:sp>
          <p:nvSpPr>
            <p:cNvPr id="19" name="shape_63"/>
            <p:cNvSpPr/>
            <p:nvPr/>
          </p:nvSpPr>
          <p:spPr>
            <a:xfrm>
              <a:off x="548640" y="3794760"/>
              <a:ext cx="5394960" cy="1024128"/>
            </a:xfrm>
            <a:prstGeom prst="roundRect">
              <a:avLst>
                <a:gd name="adj" fmla="val 14285"/>
              </a:avLst>
            </a:prstGeom>
            <a:solidFill>
              <a:srgbClr val="FFFFFF">
                <a:alpha val="5000"/>
              </a:srgbClr>
            </a:solidFill>
            <a:ln w="9525">
              <a:solidFill>
                <a:srgbClr val="FFFFFF">
                  <a:alpha val="10000"/>
                </a:srgbClr>
              </a:solidFill>
            </a:ln>
          </p:spPr>
          <p:txBody>
            <a:bodyPr rtlCol="0" anchor="ctr"/>
            <a:lstStyle/>
            <a:p/>
          </p:txBody>
        </p:sp>
        <p:sp>
          <p:nvSpPr>
            <p:cNvPr id="20" name="shape_64"/>
            <p:cNvSpPr/>
            <p:nvPr/>
          </p:nvSpPr>
          <p:spPr>
            <a:xfrm>
              <a:off x="749808" y="4014216"/>
              <a:ext cx="585216" cy="585216"/>
            </a:xfrm>
            <a:prstGeom prst="ellipse">
              <a:avLst/>
            </a:prstGeom>
            <a:solidFill>
              <a:srgbClr val="A78BFA">
                <a:alpha val="18000"/>
              </a:srgbClr>
            </a:solidFill>
            <a:ln w="9525">
              <a:solidFill>
                <a:srgbClr val="A78BFA">
                  <a:alpha val="55000"/>
                </a:srgbClr>
              </a:solidFill>
            </a:ln>
          </p:spPr>
          <p:txBody>
            <a:bodyPr rtlCol="0" anchor="ctr"/>
            <a:lstStyle/>
            <a:p/>
          </p:txBody>
        </p:sp>
        <p:pic>
          <p:nvPicPr>
            <p:cNvPr id="21" name="pic_65" descr="icon_search.png"/>
            <p:cNvPicPr>
              <a:picLocks noChangeAspect="1"/>
            </p:cNvPicPr>
            <p:nvPr/>
          </p:nvPicPr>
          <p:blipFill>
            <a:blip r:embed="rId8"/>
            <a:stretch>
              <a:fillRect/>
            </a:stretch>
          </p:blipFill>
          <p:spPr>
            <a:xfrm>
              <a:off x="896112" y="4160520"/>
              <a:ext cx="292608" cy="292608"/>
            </a:xfrm>
            <a:prstGeom prst="rect">
              <a:avLst/>
            </a:prstGeom>
          </p:spPr>
        </p:pic>
        <p:sp>
          <p:nvSpPr>
            <p:cNvPr id="22" name="text_66"/>
            <p:cNvSpPr txBox="1"/>
            <p:nvPr/>
          </p:nvSpPr>
          <p:spPr>
            <a:xfrm>
              <a:off x="1554480" y="3941064"/>
              <a:ext cx="4206240" cy="292608"/>
            </a:xfrm>
            <a:prstGeom prst="rect">
              <a:avLst/>
            </a:prstGeom>
            <a:noFill/>
          </p:spPr>
          <p:txBody>
            <a:bodyPr wrap="square" lIns="0" rIns="0" tIns="0" bIns="0" anchor="t">
              <a:spAutoFit/>
            </a:bodyPr>
            <a:lstStyle/>
            <a:p>
              <a:pPr algn="l"/>
              <a:r>
                <a:rPr sz="1600" b="1" i="0">
                  <a:solidFill>
                    <a:srgbClr val="FFFFFF"/>
                  </a:solidFill>
                  <a:latin typeface="Arial"/>
                </a:rPr>
                <a:t>Investigate with evidence</a:t>
              </a:r>
            </a:p>
          </p:txBody>
        </p:sp>
        <p:sp>
          <p:nvSpPr>
            <p:cNvPr id="23" name="text_67"/>
            <p:cNvSpPr txBox="1"/>
            <p:nvPr/>
          </p:nvSpPr>
          <p:spPr>
            <a:xfrm>
              <a:off x="1554480" y="4251960"/>
              <a:ext cx="4251960" cy="502920"/>
            </a:xfrm>
            <a:prstGeom prst="rect">
              <a:avLst/>
            </a:prstGeom>
            <a:noFill/>
          </p:spPr>
          <p:txBody>
            <a:bodyPr wrap="square" lIns="0" rIns="0" tIns="0" bIns="0" anchor="t">
              <a:spAutoFit/>
            </a:bodyPr>
            <a:lstStyle/>
            <a:p>
              <a:pPr algn="l"/>
              <a:r>
                <a:rPr sz="1200" b="0" i="0">
                  <a:solidFill>
                    <a:srgbClr val="8B90A0"/>
                  </a:solidFill>
                  <a:latin typeface="Arial"/>
                </a:rPr>
                <a:t>Rex detonates links in an isolated Celesto computer via AdaL: screenshots, redirects, lookalikes.</a:t>
              </a:r>
            </a:p>
          </p:txBody>
        </p:sp>
      </p:grpSp>
      <p:grpSp>
        <p:nvGrpSpPr>
          <p:cNvPr id="24" name="group_68"/>
          <p:cNvGrpSpPr/>
          <p:nvPr/>
        </p:nvGrpSpPr>
        <p:grpSpPr>
          <a:xfrm>
            <a:off x="548640" y="4983480"/>
            <a:ext cx="5394960" cy="1024128"/>
            <a:chOff x="548640" y="4983480"/>
            <a:chExt cx="5394960" cy="1024128"/>
          </a:xfrm>
        </p:grpSpPr>
        <p:sp>
          <p:nvSpPr>
            <p:cNvPr id="25" name="shape_69"/>
            <p:cNvSpPr/>
            <p:nvPr/>
          </p:nvSpPr>
          <p:spPr>
            <a:xfrm>
              <a:off x="548640" y="4983480"/>
              <a:ext cx="5394960" cy="1024128"/>
            </a:xfrm>
            <a:prstGeom prst="roundRect">
              <a:avLst>
                <a:gd name="adj" fmla="val 14285"/>
              </a:avLst>
            </a:prstGeom>
            <a:solidFill>
              <a:srgbClr val="FFFFFF">
                <a:alpha val="5000"/>
              </a:srgbClr>
            </a:solidFill>
            <a:ln w="9525">
              <a:solidFill>
                <a:srgbClr val="FFFFFF">
                  <a:alpha val="10000"/>
                </a:srgbClr>
              </a:solidFill>
            </a:ln>
          </p:spPr>
          <p:txBody>
            <a:bodyPr rtlCol="0" anchor="ctr"/>
            <a:lstStyle/>
            <a:p/>
          </p:txBody>
        </p:sp>
        <p:sp>
          <p:nvSpPr>
            <p:cNvPr id="26" name="shape_70"/>
            <p:cNvSpPr/>
            <p:nvPr/>
          </p:nvSpPr>
          <p:spPr>
            <a:xfrm>
              <a:off x="749808" y="5202936"/>
              <a:ext cx="585216" cy="585216"/>
            </a:xfrm>
            <a:prstGeom prst="ellipse">
              <a:avLst/>
            </a:prstGeom>
            <a:solidFill>
              <a:srgbClr val="F43F5E">
                <a:alpha val="18000"/>
              </a:srgbClr>
            </a:solidFill>
            <a:ln w="9525">
              <a:solidFill>
                <a:srgbClr val="F43F5E">
                  <a:alpha val="55000"/>
                </a:srgbClr>
              </a:solidFill>
            </a:ln>
          </p:spPr>
          <p:txBody>
            <a:bodyPr rtlCol="0" anchor="ctr"/>
            <a:lstStyle/>
            <a:p/>
          </p:txBody>
        </p:sp>
        <p:pic>
          <p:nvPicPr>
            <p:cNvPr id="27" name="pic_71" descr="icon_heart.png"/>
            <p:cNvPicPr>
              <a:picLocks noChangeAspect="1"/>
            </p:cNvPicPr>
            <p:nvPr/>
          </p:nvPicPr>
          <p:blipFill>
            <a:blip r:embed="rId9"/>
            <a:stretch>
              <a:fillRect/>
            </a:stretch>
          </p:blipFill>
          <p:spPr>
            <a:xfrm>
              <a:off x="896112" y="5349240"/>
              <a:ext cx="292608" cy="292608"/>
            </a:xfrm>
            <a:prstGeom prst="rect">
              <a:avLst/>
            </a:prstGeom>
          </p:spPr>
        </p:pic>
        <p:sp>
          <p:nvSpPr>
            <p:cNvPr id="28" name="text_72"/>
            <p:cNvSpPr txBox="1"/>
            <p:nvPr/>
          </p:nvSpPr>
          <p:spPr>
            <a:xfrm>
              <a:off x="1554480" y="5129784"/>
              <a:ext cx="4206240" cy="292608"/>
            </a:xfrm>
            <a:prstGeom prst="rect">
              <a:avLst/>
            </a:prstGeom>
            <a:noFill/>
          </p:spPr>
          <p:txBody>
            <a:bodyPr wrap="square" lIns="0" rIns="0" tIns="0" bIns="0" anchor="t">
              <a:spAutoFit/>
            </a:bodyPr>
            <a:lstStyle/>
            <a:p>
              <a:pPr algn="l"/>
              <a:r>
                <a:rPr sz="1600" b="1" i="0">
                  <a:solidFill>
                    <a:srgbClr val="FFFFFF"/>
                  </a:solidFill>
                  <a:latin typeface="Arial"/>
                </a:rPr>
                <a:t>Care for humans</a:t>
              </a:r>
            </a:p>
          </p:txBody>
        </p:sp>
        <p:sp>
          <p:nvSpPr>
            <p:cNvPr id="29" name="text_73"/>
            <p:cNvSpPr txBox="1"/>
            <p:nvPr/>
          </p:nvSpPr>
          <p:spPr>
            <a:xfrm>
              <a:off x="1554480" y="5440680"/>
              <a:ext cx="4251960" cy="502920"/>
            </a:xfrm>
            <a:prstGeom prst="rect">
              <a:avLst/>
            </a:prstGeom>
            <a:noFill/>
          </p:spPr>
          <p:txBody>
            <a:bodyPr wrap="square" lIns="0" rIns="0" tIns="0" bIns="0" anchor="t">
              <a:spAutoFit/>
            </a:bodyPr>
            <a:lstStyle/>
            <a:p>
              <a:pPr algn="l"/>
              <a:r>
                <a:rPr sz="1200" b="0" i="0">
                  <a:solidFill>
                    <a:srgbClr val="8B90A0"/>
                  </a:solidFill>
                  <a:latin typeface="Arial"/>
                </a:rPr>
                <a:t>Mira answers crisis messages in seconds with 988 resources, a real face and voice, and pages a human.</a:t>
              </a:r>
            </a:p>
          </p:txBody>
        </p:sp>
      </p:grpSp>
      <p:grpSp>
        <p:nvGrpSpPr>
          <p:cNvPr id="30" name="group_74"/>
          <p:cNvGrpSpPr/>
          <p:nvPr/>
        </p:nvGrpSpPr>
        <p:grpSpPr>
          <a:xfrm>
            <a:off x="6263640" y="1600200"/>
            <a:ext cx="5376672" cy="4434840"/>
            <a:chOff x="6263640" y="1600200"/>
            <a:chExt cx="5376672" cy="4434840"/>
          </a:xfrm>
        </p:grpSpPr>
        <p:sp>
          <p:nvSpPr>
            <p:cNvPr id="31" name="shape_75"/>
            <p:cNvSpPr/>
            <p:nvPr/>
          </p:nvSpPr>
          <p:spPr>
            <a:xfrm>
              <a:off x="6263640" y="1600200"/>
              <a:ext cx="5376672" cy="4434840"/>
            </a:xfrm>
            <a:prstGeom prst="roundRect">
              <a:avLst>
                <a:gd name="adj" fmla="val 2886"/>
              </a:avLst>
            </a:prstGeom>
            <a:solidFill>
              <a:srgbClr val="0B0D14">
                <a:alpha val="92000"/>
              </a:srgbClr>
            </a:solidFill>
            <a:ln w="12700">
              <a:solidFill>
                <a:srgbClr val="A78BFA">
                  <a:alpha val="35000"/>
                </a:srgbClr>
              </a:solidFill>
            </a:ln>
            <a:effectLst>
              <a:glow rad="228600">
                <a:srgbClr val="8B5CF6">
                  <a:alpha val="22000"/>
                </a:srgbClr>
              </a:glow>
            </a:effectLst>
          </p:spPr>
          <p:txBody>
            <a:bodyPr rtlCol="0" anchor="ctr"/>
            <a:lstStyle/>
            <a:p/>
          </p:txBody>
        </p:sp>
        <p:sp>
          <p:nvSpPr>
            <p:cNvPr id="32" name="shape_76"/>
            <p:cNvSpPr/>
            <p:nvPr/>
          </p:nvSpPr>
          <p:spPr>
            <a:xfrm>
              <a:off x="6428231" y="1700784"/>
              <a:ext cx="91440" cy="91440"/>
            </a:xfrm>
            <a:prstGeom prst="ellipse">
              <a:avLst/>
            </a:prstGeom>
            <a:solidFill>
              <a:srgbClr val="F43F5E">
                <a:alpha val="90000"/>
              </a:srgbClr>
            </a:solidFill>
            <a:ln>
              <a:noFill/>
            </a:ln>
          </p:spPr>
          <p:txBody>
            <a:bodyPr rtlCol="0" anchor="ctr"/>
            <a:lstStyle/>
            <a:p/>
          </p:txBody>
        </p:sp>
        <p:sp>
          <p:nvSpPr>
            <p:cNvPr id="33" name="shape_77"/>
            <p:cNvSpPr/>
            <p:nvPr/>
          </p:nvSpPr>
          <p:spPr>
            <a:xfrm>
              <a:off x="6583679" y="1700784"/>
              <a:ext cx="91440" cy="91440"/>
            </a:xfrm>
            <a:prstGeom prst="ellipse">
              <a:avLst/>
            </a:prstGeom>
            <a:solidFill>
              <a:srgbClr val="F59E0B">
                <a:alpha val="90000"/>
              </a:srgbClr>
            </a:solidFill>
            <a:ln>
              <a:noFill/>
            </a:ln>
          </p:spPr>
          <p:txBody>
            <a:bodyPr rtlCol="0" anchor="ctr"/>
            <a:lstStyle/>
            <a:p/>
          </p:txBody>
        </p:sp>
        <p:sp>
          <p:nvSpPr>
            <p:cNvPr id="34" name="shape_78"/>
            <p:cNvSpPr/>
            <p:nvPr/>
          </p:nvSpPr>
          <p:spPr>
            <a:xfrm>
              <a:off x="6739127" y="1700784"/>
              <a:ext cx="91440" cy="91440"/>
            </a:xfrm>
            <a:prstGeom prst="ellipse">
              <a:avLst/>
            </a:prstGeom>
            <a:solidFill>
              <a:srgbClr val="10B981">
                <a:alpha val="90000"/>
              </a:srgbClr>
            </a:solidFill>
            <a:ln>
              <a:noFill/>
            </a:ln>
          </p:spPr>
          <p:txBody>
            <a:bodyPr rtlCol="0" anchor="ctr"/>
            <a:lstStyle/>
            <a:p/>
          </p:txBody>
        </p:sp>
        <p:sp>
          <p:nvSpPr>
            <p:cNvPr id="35" name="shape_79"/>
            <p:cNvSpPr/>
            <p:nvPr/>
          </p:nvSpPr>
          <p:spPr>
            <a:xfrm>
              <a:off x="7763255" y="1664208"/>
              <a:ext cx="2377440" cy="164592"/>
            </a:xfrm>
            <a:prstGeom prst="roundRect">
              <a:avLst>
                <a:gd name="adj" fmla="val 50000"/>
              </a:avLst>
            </a:prstGeom>
            <a:solidFill>
              <a:srgbClr val="FFFFFF">
                <a:alpha val="6000"/>
              </a:srgbClr>
            </a:solidFill>
            <a:ln>
              <a:noFill/>
            </a:ln>
          </p:spPr>
          <p:txBody>
            <a:bodyPr rtlCol="0" anchor="ctr"/>
            <a:lstStyle/>
            <a:p/>
          </p:txBody>
        </p:sp>
        <p:sp>
          <p:nvSpPr>
            <p:cNvPr id="36" name="text_80"/>
            <p:cNvSpPr txBox="1"/>
            <p:nvPr/>
          </p:nvSpPr>
          <p:spPr>
            <a:xfrm>
              <a:off x="7763255" y="1664208"/>
              <a:ext cx="2377440" cy="164592"/>
            </a:xfrm>
            <a:prstGeom prst="rect">
              <a:avLst/>
            </a:prstGeom>
            <a:noFill/>
          </p:spPr>
          <p:txBody>
            <a:bodyPr wrap="square" lIns="0" rIns="0" tIns="0" bIns="0" anchor="ctr">
              <a:spAutoFit/>
            </a:bodyPr>
            <a:lstStyle/>
            <a:p>
              <a:pPr algn="ctr"/>
              <a:r>
                <a:rPr sz="800" b="0" i="0">
                  <a:solidFill>
                    <a:srgbClr val="8B90A0"/>
                  </a:solidFill>
                  <a:latin typeface="Arial"/>
                </a:rPr>
                <a:t>haven / mission-control</a:t>
              </a:r>
            </a:p>
          </p:txBody>
        </p:sp>
        <p:pic>
          <p:nvPicPr>
            <p:cNvPr id="37" name="shot_81" descr="mission-control.png"/>
            <p:cNvPicPr>
              <a:picLocks noChangeAspect="1"/>
            </p:cNvPicPr>
            <p:nvPr/>
          </p:nvPicPr>
          <p:blipFill>
            <a:blip r:embed="rId10"/>
            <a:srcRect r="19663"/>
            <a:stretch>
              <a:fillRect/>
            </a:stretch>
          </p:blipFill>
          <p:spPr>
            <a:xfrm>
              <a:off x="6336792" y="1892807"/>
              <a:ext cx="5230368" cy="4069079"/>
            </a:xfrm>
            <a:prstGeom prst="rect">
              <a:avLst/>
            </a:prstGeom>
          </p:spPr>
        </p:pic>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600"/>
                                        <p:tgtEl>
                                          <p:spTgt spid="10"/>
                                        </p:tgtEl>
                                      </p:cBhvr>
                                    </p:animEffect>
                                    <p:anim calcmode="lin" valueType="num">
                                      <p:cBhvr additive="base">
                                        <p:cTn id="11" dur="600" fill="hold"/>
                                        <p:tgtEl>
                                          <p:spTgt spid="10"/>
                                        </p:tgtEl>
                                        <p:attrNameLst>
                                          <p:attrName>ppt_x</p:attrName>
                                        </p:attrNameLst>
                                      </p:cBhvr>
                                      <p:tavLst>
                                        <p:tav tm="0">
                                          <p:val>
                                            <p:strVal val="#ppt_x"/>
                                          </p:val>
                                        </p:tav>
                                        <p:tav tm="100000">
                                          <p:val>
                                            <p:strVal val="#ppt_x"/>
                                          </p:val>
                                        </p:tav>
                                      </p:tavLst>
                                    </p:anim>
                                    <p:anim calcmode="lin" valueType="num">
                                      <p:cBhvr additive="base">
                                        <p:cTn id="12" dur="600" fill="hold"/>
                                        <p:tgtEl>
                                          <p:spTgt spid="10"/>
                                        </p:tgtEl>
                                        <p:attrNameLst>
                                          <p:attrName>ppt_y</p:attrName>
                                        </p:attrNameLst>
                                      </p:cBhvr>
                                      <p:tavLst>
                                        <p:tav tm="0">
                                          <p:val>
                                            <p:strVal val="#ppt_y+.06"/>
                                          </p:val>
                                        </p:tav>
                                        <p:tav tm="100000">
                                          <p:val>
                                            <p:strVal val="#ppt_y"/>
                                          </p:val>
                                        </p:tav>
                                      </p:tavLst>
                                    </p:anim>
                                  </p:childTnLst>
                                </p:cTn>
                              </p:par>
                              <p:par>
                                <p:cTn id="13" presetID="10" presetClass="entr" presetSubtype="0" fill="hold" grpId="0" nodeType="withEffect">
                                  <p:stCondLst>
                                    <p:cond delay="35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600"/>
                                        <p:tgtEl>
                                          <p:spTgt spid="11"/>
                                        </p:tgtEl>
                                      </p:cBhvr>
                                    </p:animEffect>
                                  </p:childTnLst>
                                </p:cTn>
                              </p:par>
                              <p:par>
                                <p:cTn id="16" presetID="47" presetClass="entr" presetSubtype="0" fill="hold" grpId="0" nodeType="withEffect">
                                  <p:stCondLst>
                                    <p:cond delay="55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600"/>
                                        <p:tgtEl>
                                          <p:spTgt spid="12"/>
                                        </p:tgtEl>
                                      </p:cBhvr>
                                    </p:animEffect>
                                    <p:anim calcmode="lin" valueType="num">
                                      <p:cBhvr additive="base">
                                        <p:cTn id="19" dur="600" fill="hold"/>
                                        <p:tgtEl>
                                          <p:spTgt spid="12"/>
                                        </p:tgtEl>
                                        <p:attrNameLst>
                                          <p:attrName>ppt_x</p:attrName>
                                        </p:attrNameLst>
                                      </p:cBhvr>
                                      <p:tavLst>
                                        <p:tav tm="0">
                                          <p:val>
                                            <p:strVal val="#ppt_x-.06"/>
                                          </p:val>
                                        </p:tav>
                                        <p:tav tm="100000">
                                          <p:val>
                                            <p:strVal val="#ppt_x"/>
                                          </p:val>
                                        </p:tav>
                                      </p:tavLst>
                                    </p:anim>
                                    <p:anim calcmode="lin" valueType="num">
                                      <p:cBhvr additive="base">
                                        <p:cTn id="20" dur="600" fill="hold"/>
                                        <p:tgtEl>
                                          <p:spTgt spid="12"/>
                                        </p:tgtEl>
                                        <p:attrNameLst>
                                          <p:attrName>ppt_y</p:attrName>
                                        </p:attrNameLst>
                                      </p:cBhvr>
                                      <p:tavLst>
                                        <p:tav tm="0">
                                          <p:val>
                                            <p:strVal val="#ppt_y"/>
                                          </p:val>
                                        </p:tav>
                                        <p:tav tm="100000">
                                          <p:val>
                                            <p:strVal val="#ppt_y"/>
                                          </p:val>
                                        </p:tav>
                                      </p:tavLst>
                                    </p:anim>
                                  </p:childTnLst>
                                </p:cTn>
                              </p:par>
                              <p:par>
                                <p:cTn id="21" presetID="47" presetClass="entr" presetSubtype="0" fill="hold" grpId="0" nodeType="withEffect">
                                  <p:stCondLst>
                                    <p:cond delay="75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600"/>
                                        <p:tgtEl>
                                          <p:spTgt spid="18"/>
                                        </p:tgtEl>
                                      </p:cBhvr>
                                    </p:animEffect>
                                    <p:anim calcmode="lin" valueType="num">
                                      <p:cBhvr additive="base">
                                        <p:cTn id="24" dur="600" fill="hold"/>
                                        <p:tgtEl>
                                          <p:spTgt spid="18"/>
                                        </p:tgtEl>
                                        <p:attrNameLst>
                                          <p:attrName>ppt_x</p:attrName>
                                        </p:attrNameLst>
                                      </p:cBhvr>
                                      <p:tavLst>
                                        <p:tav tm="0">
                                          <p:val>
                                            <p:strVal val="#ppt_x-.06"/>
                                          </p:val>
                                        </p:tav>
                                        <p:tav tm="100000">
                                          <p:val>
                                            <p:strVal val="#ppt_x"/>
                                          </p:val>
                                        </p:tav>
                                      </p:tavLst>
                                    </p:anim>
                                    <p:anim calcmode="lin" valueType="num">
                                      <p:cBhvr additive="base">
                                        <p:cTn id="25" dur="600" fill="hold"/>
                                        <p:tgtEl>
                                          <p:spTgt spid="18"/>
                                        </p:tgtEl>
                                        <p:attrNameLst>
                                          <p:attrName>ppt_y</p:attrName>
                                        </p:attrNameLst>
                                      </p:cBhvr>
                                      <p:tavLst>
                                        <p:tav tm="0">
                                          <p:val>
                                            <p:strVal val="#ppt_y"/>
                                          </p:val>
                                        </p:tav>
                                        <p:tav tm="100000">
                                          <p:val>
                                            <p:strVal val="#ppt_y"/>
                                          </p:val>
                                        </p:tav>
                                      </p:tavLst>
                                    </p:anim>
                                  </p:childTnLst>
                                </p:cTn>
                              </p:par>
                              <p:par>
                                <p:cTn id="26" presetID="47" presetClass="entr" presetSubtype="0" fill="hold" grpId="0" nodeType="withEffect">
                                  <p:stCondLst>
                                    <p:cond delay="95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600"/>
                                        <p:tgtEl>
                                          <p:spTgt spid="24"/>
                                        </p:tgtEl>
                                      </p:cBhvr>
                                    </p:animEffect>
                                    <p:anim calcmode="lin" valueType="num">
                                      <p:cBhvr additive="base">
                                        <p:cTn id="29" dur="600" fill="hold"/>
                                        <p:tgtEl>
                                          <p:spTgt spid="24"/>
                                        </p:tgtEl>
                                        <p:attrNameLst>
                                          <p:attrName>ppt_x</p:attrName>
                                        </p:attrNameLst>
                                      </p:cBhvr>
                                      <p:tavLst>
                                        <p:tav tm="0">
                                          <p:val>
                                            <p:strVal val="#ppt_x-.06"/>
                                          </p:val>
                                        </p:tav>
                                        <p:tav tm="100000">
                                          <p:val>
                                            <p:strVal val="#ppt_x"/>
                                          </p:val>
                                        </p:tav>
                                      </p:tavLst>
                                    </p:anim>
                                    <p:anim calcmode="lin" valueType="num">
                                      <p:cBhvr additive="base">
                                        <p:cTn id="30" dur="600" fill="hold"/>
                                        <p:tgtEl>
                                          <p:spTgt spid="24"/>
                                        </p:tgtEl>
                                        <p:attrNameLst>
                                          <p:attrName>ppt_y</p:attrName>
                                        </p:attrNameLst>
                                      </p:cBhvr>
                                      <p:tavLst>
                                        <p:tav tm="0">
                                          <p:val>
                                            <p:strVal val="#ppt_y"/>
                                          </p:val>
                                        </p:tav>
                                        <p:tav tm="100000">
                                          <p:val>
                                            <p:strVal val="#ppt_y"/>
                                          </p:val>
                                        </p:tav>
                                      </p:tavLst>
                                    </p:anim>
                                  </p:childTnLst>
                                </p:cTn>
                              </p:par>
                              <p:par>
                                <p:cTn id="31" presetID="53" presetClass="entr" presetSubtype="16" fill="hold" grpId="0" nodeType="withEffect">
                                  <p:stCondLst>
                                    <p:cond delay="900"/>
                                  </p:stCondLst>
                                  <p:childTnLst>
                                    <p:set>
                                      <p:cBhvr>
                                        <p:cTn id="32" dur="1" fill="hold">
                                          <p:stCondLst>
                                            <p:cond delay="0"/>
                                          </p:stCondLst>
                                        </p:cTn>
                                        <p:tgtEl>
                                          <p:spTgt spid="30"/>
                                        </p:tgtEl>
                                        <p:attrNameLst>
                                          <p:attrName>style.visibility</p:attrName>
                                        </p:attrNameLst>
                                      </p:cBhvr>
                                      <p:to>
                                        <p:strVal val="visible"/>
                                      </p:to>
                                    </p:set>
                                    <p:anim calcmode="lin" valueType="num">
                                      <p:cBhvr additive="base">
                                        <p:cTn id="33" dur="800" fill="hold"/>
                                        <p:tgtEl>
                                          <p:spTgt spid="30"/>
                                        </p:tgtEl>
                                        <p:attrNameLst>
                                          <p:attrName>ppt_w</p:attrName>
                                        </p:attrNameLst>
                                      </p:cBhvr>
                                      <p:tavLst>
                                        <p:tav tm="0">
                                          <p:val>
                                            <p:strVal val="0"/>
                                          </p:val>
                                        </p:tav>
                                        <p:tav tm="100000">
                                          <p:val>
                                            <p:strVal val="#ppt_w"/>
                                          </p:val>
                                        </p:tav>
                                      </p:tavLst>
                                    </p:anim>
                                    <p:anim calcmode="lin" valueType="num">
                                      <p:cBhvr additive="base">
                                        <p:cTn id="34" dur="800" fill="hold"/>
                                        <p:tgtEl>
                                          <p:spTgt spid="30"/>
                                        </p:tgtEl>
                                        <p:attrNameLst>
                                          <p:attrName>ppt_h</p:attrName>
                                        </p:attrNameLst>
                                      </p:cBhvr>
                                      <p:tavLst>
                                        <p:tav tm="0">
                                          <p:val>
                                            <p:strVal val="0"/>
                                          </p:val>
                                        </p:tav>
                                        <p:tav tm="100000">
                                          <p:val>
                                            <p:strVal val="#ppt_h"/>
                                          </p:val>
                                        </p:tav>
                                      </p:tavLst>
                                    </p:anim>
                                    <p:animEffect transition="in" filter="fade">
                                      <p:cBhvr>
                                        <p:cTn id="35" dur="8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60A"/>
        </a:solidFill>
        <a:effectLst/>
      </p:bgPr>
    </p:bg>
    <p:spTree>
      <p:nvGrpSpPr>
        <p:cNvPr id="1" name=""/>
        <p:cNvGrpSpPr/>
        <p:nvPr/>
      </p:nvGrpSpPr>
      <p:grpSpPr/>
      <p:pic>
        <p:nvPicPr>
          <p:cNvPr id="2" name="!!bg" descr="bg.png"/>
          <p:cNvPicPr>
            <a:picLocks noChangeAspect="1"/>
          </p:cNvPicPr>
          <p:nvPr/>
        </p:nvPicPr>
        <p:blipFill>
          <a:blip r:embed="rId2"/>
          <a:stretch>
            <a:fillRect/>
          </a:stretch>
        </p:blipFill>
        <p:spPr>
          <a:xfrm>
            <a:off x="0" y="0"/>
            <a:ext cx="12191695" cy="6858000"/>
          </a:xfrm>
          <a:prstGeom prst="rect">
            <a:avLst/>
          </a:prstGeom>
        </p:spPr>
      </p:pic>
      <p:pic>
        <p:nvPicPr>
          <p:cNvPr id="3" name="!!orb_violet" descr="orb_violet.png"/>
          <p:cNvPicPr>
            <a:picLocks noChangeAspect="1"/>
          </p:cNvPicPr>
          <p:nvPr/>
        </p:nvPicPr>
        <p:blipFill>
          <a:blip r:embed="rId3"/>
          <a:stretch>
            <a:fillRect/>
          </a:stretch>
        </p:blipFill>
        <p:spPr>
          <a:xfrm>
            <a:off x="2743200" y="-4114800"/>
            <a:ext cx="7315200" cy="7315200"/>
          </a:xfrm>
          <a:prstGeom prst="rect">
            <a:avLst/>
          </a:prstGeom>
        </p:spPr>
      </p:pic>
      <p:pic>
        <p:nvPicPr>
          <p:cNvPr id="4" name="!!orb_cyan" descr="orb_cyan.png"/>
          <p:cNvPicPr>
            <a:picLocks noChangeAspect="1"/>
          </p:cNvPicPr>
          <p:nvPr/>
        </p:nvPicPr>
        <p:blipFill>
          <a:blip r:embed="rId4"/>
          <a:stretch>
            <a:fillRect/>
          </a:stretch>
        </p:blipFill>
        <p:spPr>
          <a:xfrm>
            <a:off x="-2743200" y="3657600"/>
            <a:ext cx="5943600" cy="5943600"/>
          </a:xfrm>
          <a:prstGeom prst="rect">
            <a:avLst/>
          </a:prstGeom>
        </p:spPr>
      </p:pic>
      <p:pic>
        <p:nvPicPr>
          <p:cNvPr id="5" name="!!orb_rose" descr="orb_rose.png"/>
          <p:cNvPicPr>
            <a:picLocks noChangeAspect="1"/>
          </p:cNvPicPr>
          <p:nvPr/>
        </p:nvPicPr>
        <p:blipFill>
          <a:blip r:embed="rId5"/>
          <a:stretch>
            <a:fillRect/>
          </a:stretch>
        </p:blipFill>
        <p:spPr>
          <a:xfrm>
            <a:off x="8686800" y="3657600"/>
            <a:ext cx="5029200" cy="5029200"/>
          </a:xfrm>
          <a:prstGeom prst="rect">
            <a:avLst/>
          </a:prstGeom>
        </p:spPr>
      </p:pic>
      <p:pic>
        <p:nvPicPr>
          <p:cNvPr id="6" name="!!footlogo" descr="logo.png"/>
          <p:cNvPicPr>
            <a:picLocks noChangeAspect="1"/>
          </p:cNvPicPr>
          <p:nvPr/>
        </p:nvPicPr>
        <p:blipFill>
          <a:blip r:embed="rId6"/>
          <a:stretch>
            <a:fillRect/>
          </a:stretch>
        </p:blipFill>
        <p:spPr>
          <a:xfrm>
            <a:off x="548640" y="6327648"/>
            <a:ext cx="237744" cy="237744"/>
          </a:xfrm>
          <a:prstGeom prst="rect">
            <a:avLst/>
          </a:prstGeom>
        </p:spPr>
      </p:pic>
      <p:sp>
        <p:nvSpPr>
          <p:cNvPr id="7" name="!!footname"/>
          <p:cNvSpPr txBox="1"/>
          <p:nvPr/>
        </p:nvSpPr>
        <p:spPr>
          <a:xfrm>
            <a:off x="868680" y="6327648"/>
            <a:ext cx="2743200" cy="237744"/>
          </a:xfrm>
          <a:prstGeom prst="rect">
            <a:avLst/>
          </a:prstGeom>
          <a:noFill/>
        </p:spPr>
        <p:txBody>
          <a:bodyPr wrap="square" lIns="0" rIns="0" tIns="0" bIns="0" anchor="ctr">
            <a:spAutoFit/>
          </a:bodyPr>
          <a:lstStyle/>
          <a:p>
            <a:pPr algn="l"/>
            <a:r>
              <a:rPr sz="1100" b="1" i="0">
                <a:solidFill>
                  <a:srgbClr val="8B90A0"/>
                </a:solidFill>
                <a:latin typeface="Arial"/>
              </a:rPr>
              <a:t>Haven</a:t>
            </a:r>
          </a:p>
        </p:txBody>
      </p:sp>
      <p:sp>
        <p:nvSpPr>
          <p:cNvPr id="8" name="!!pageno"/>
          <p:cNvSpPr txBox="1"/>
          <p:nvPr/>
        </p:nvSpPr>
        <p:spPr>
          <a:xfrm>
            <a:off x="9814255" y="6327648"/>
            <a:ext cx="1828800" cy="237744"/>
          </a:xfrm>
          <a:prstGeom prst="rect">
            <a:avLst/>
          </a:prstGeom>
          <a:noFill/>
        </p:spPr>
        <p:txBody>
          <a:bodyPr wrap="square" lIns="0" rIns="0" tIns="0" bIns="0" anchor="ctr">
            <a:spAutoFit/>
          </a:bodyPr>
          <a:lstStyle/>
          <a:p>
            <a:pPr algn="r"/>
            <a:r>
              <a:rPr sz="1100" b="0" i="0">
                <a:solidFill>
                  <a:srgbClr val="8B90A0"/>
                </a:solidFill>
                <a:latin typeface="Arial"/>
              </a:rPr>
              <a:t>04 / 10</a:t>
            </a:r>
          </a:p>
        </p:txBody>
      </p:sp>
      <p:sp>
        <p:nvSpPr>
          <p:cNvPr id="9" name="text_82"/>
          <p:cNvSpPr txBox="1"/>
          <p:nvPr/>
        </p:nvSpPr>
        <p:spPr>
          <a:xfrm>
            <a:off x="548640" y="457200"/>
            <a:ext cx="7315200" cy="274320"/>
          </a:xfrm>
          <a:prstGeom prst="rect">
            <a:avLst/>
          </a:prstGeom>
          <a:noFill/>
        </p:spPr>
        <p:txBody>
          <a:bodyPr wrap="square" lIns="0" rIns="0" tIns="0" bIns="0" anchor="t">
            <a:spAutoFit/>
          </a:bodyPr>
          <a:lstStyle/>
          <a:p>
            <a:pPr algn="l"/>
            <a:r>
              <a:rPr sz="1200" b="1" i="0" spc="300">
                <a:solidFill>
                  <a:srgbClr val="22D3EE"/>
                </a:solidFill>
                <a:latin typeface="Arial"/>
              </a:rPr>
              <a:t>THE TEAM</a:t>
            </a:r>
          </a:p>
        </p:txBody>
      </p:sp>
      <p:sp>
        <p:nvSpPr>
          <p:cNvPr id="10" name="text_83"/>
          <p:cNvSpPr txBox="1"/>
          <p:nvPr/>
        </p:nvSpPr>
        <p:spPr>
          <a:xfrm>
            <a:off x="548640" y="749808"/>
            <a:ext cx="11064240" cy="685800"/>
          </a:xfrm>
          <a:prstGeom prst="rect">
            <a:avLst/>
          </a:prstGeom>
          <a:noFill/>
        </p:spPr>
        <p:txBody>
          <a:bodyPr wrap="square" lIns="0" rIns="0" tIns="0" bIns="0" anchor="t">
            <a:spAutoFit/>
          </a:bodyPr>
          <a:lstStyle/>
          <a:p>
            <a:pPr algn="l"/>
            <a:r>
              <a:rPr sz="3400" b="1" i="0">
                <a:solidFill>
                  <a:srgbClr val="FFFFFF"/>
                </a:solidFill>
                <a:latin typeface="Arial"/>
              </a:rPr>
              <a:t>Meet the team: 1 human, 8 AI employees</a:t>
            </a:r>
          </a:p>
        </p:txBody>
      </p:sp>
      <p:grpSp>
        <p:nvGrpSpPr>
          <p:cNvPr id="11" name="group_84"/>
          <p:cNvGrpSpPr/>
          <p:nvPr/>
        </p:nvGrpSpPr>
        <p:grpSpPr>
          <a:xfrm>
            <a:off x="4495647" y="1600200"/>
            <a:ext cx="3200400" cy="713232"/>
            <a:chOff x="4495647" y="1600200"/>
            <a:chExt cx="3200400" cy="713232"/>
          </a:xfrm>
        </p:grpSpPr>
        <p:sp>
          <p:nvSpPr>
            <p:cNvPr id="12" name="shape_85"/>
            <p:cNvSpPr/>
            <p:nvPr/>
          </p:nvSpPr>
          <p:spPr>
            <a:xfrm>
              <a:off x="4495647" y="1600200"/>
              <a:ext cx="3200400" cy="713232"/>
            </a:xfrm>
            <a:prstGeom prst="roundRect">
              <a:avLst>
                <a:gd name="adj" fmla="val 50000"/>
              </a:avLst>
            </a:prstGeom>
            <a:solidFill>
              <a:srgbClr val="FFFFFF">
                <a:alpha val="8000"/>
              </a:srgbClr>
            </a:solidFill>
            <a:ln w="9525">
              <a:solidFill>
                <a:srgbClr val="FFFFFF">
                  <a:alpha val="30000"/>
                </a:srgbClr>
              </a:solidFill>
            </a:ln>
          </p:spPr>
          <p:txBody>
            <a:bodyPr rtlCol="0" anchor="ctr"/>
            <a:lstStyle/>
            <a:p/>
          </p:txBody>
        </p:sp>
        <p:pic>
          <p:nvPicPr>
            <p:cNvPr id="13" name="pic_86" descr="icon_user.png"/>
            <p:cNvPicPr>
              <a:picLocks noChangeAspect="1"/>
            </p:cNvPicPr>
            <p:nvPr/>
          </p:nvPicPr>
          <p:blipFill>
            <a:blip r:embed="rId7"/>
            <a:stretch>
              <a:fillRect/>
            </a:stretch>
          </p:blipFill>
          <p:spPr>
            <a:xfrm>
              <a:off x="4678527" y="1755648"/>
              <a:ext cx="402336" cy="402336"/>
            </a:xfrm>
            <a:prstGeom prst="rect">
              <a:avLst/>
            </a:prstGeom>
          </p:spPr>
        </p:pic>
        <p:sp>
          <p:nvSpPr>
            <p:cNvPr id="14" name="text_87"/>
            <p:cNvSpPr txBox="1"/>
            <p:nvPr/>
          </p:nvSpPr>
          <p:spPr>
            <a:xfrm>
              <a:off x="5181447" y="1664208"/>
              <a:ext cx="2377440" cy="310896"/>
            </a:xfrm>
            <a:prstGeom prst="rect">
              <a:avLst/>
            </a:prstGeom>
            <a:noFill/>
          </p:spPr>
          <p:txBody>
            <a:bodyPr wrap="square" lIns="0" rIns="0" tIns="0" bIns="0" anchor="ctr">
              <a:spAutoFit/>
            </a:bodyPr>
            <a:lstStyle/>
            <a:p>
              <a:pPr algn="l"/>
              <a:r>
                <a:rPr sz="1600" b="1" i="0">
                  <a:solidFill>
                    <a:srgbClr val="FFFFFF"/>
                  </a:solidFill>
                  <a:latin typeface="Arial"/>
                </a:rPr>
                <a:t>Moorthy</a:t>
              </a:r>
            </a:p>
          </p:txBody>
        </p:sp>
        <p:sp>
          <p:nvSpPr>
            <p:cNvPr id="15" name="text_88"/>
            <p:cNvSpPr txBox="1"/>
            <p:nvPr/>
          </p:nvSpPr>
          <p:spPr>
            <a:xfrm>
              <a:off x="5181447" y="1965960"/>
              <a:ext cx="2377440" cy="256032"/>
            </a:xfrm>
            <a:prstGeom prst="rect">
              <a:avLst/>
            </a:prstGeom>
            <a:noFill/>
          </p:spPr>
          <p:txBody>
            <a:bodyPr wrap="square" lIns="0" rIns="0" tIns="0" bIns="0" anchor="ctr">
              <a:spAutoFit/>
            </a:bodyPr>
            <a:lstStyle/>
            <a:p>
              <a:pPr algn="l"/>
              <a:r>
                <a:rPr sz="1100" b="0" i="0">
                  <a:solidFill>
                    <a:srgbClr val="8B90A0"/>
                  </a:solidFill>
                  <a:latin typeface="Arial"/>
                </a:rPr>
                <a:t>Founder &amp; CEO (human)</a:t>
              </a:r>
            </a:p>
          </p:txBody>
        </p:sp>
      </p:grpSp>
      <p:grpSp>
        <p:nvGrpSpPr>
          <p:cNvPr id="16" name="group_89"/>
          <p:cNvGrpSpPr/>
          <p:nvPr/>
        </p:nvGrpSpPr>
        <p:grpSpPr>
          <a:xfrm>
            <a:off x="3718407" y="2697480"/>
            <a:ext cx="4754880" cy="868680"/>
            <a:chOff x="3718407" y="2697480"/>
            <a:chExt cx="4754880" cy="868680"/>
          </a:xfrm>
        </p:grpSpPr>
        <p:sp>
          <p:nvSpPr>
            <p:cNvPr id="17" name="shape_90"/>
            <p:cNvSpPr/>
            <p:nvPr/>
          </p:nvSpPr>
          <p:spPr>
            <a:xfrm>
              <a:off x="3718407" y="2697480"/>
              <a:ext cx="4754880" cy="868680"/>
            </a:xfrm>
            <a:prstGeom prst="roundRect">
              <a:avLst>
                <a:gd name="adj" fmla="val 21052"/>
              </a:avLst>
            </a:prstGeom>
            <a:gradFill rotWithShape="1">
              <a:gsLst>
                <a:gs pos="0">
                  <a:srgbClr val="4C1D95"/>
                </a:gs>
                <a:gs pos="100000">
                  <a:srgbClr val="0E7490"/>
                </a:gs>
              </a:gsLst>
              <a:lin scaled="0" ang="0"/>
            </a:gradFill>
            <a:ln w="9525">
              <a:solidFill>
                <a:srgbClr val="A78BFA">
                  <a:alpha val="60000"/>
                </a:srgbClr>
              </a:solidFill>
            </a:ln>
            <a:effectLst>
              <a:glow rad="177800">
                <a:srgbClr val="8B5CF6">
                  <a:alpha val="35000"/>
                </a:srgbClr>
              </a:glow>
            </a:effectLst>
          </p:spPr>
          <p:txBody>
            <a:bodyPr rtlCol="0" anchor="ctr"/>
            <a:lstStyle/>
            <a:p/>
          </p:txBody>
        </p:sp>
        <p:sp>
          <p:nvSpPr>
            <p:cNvPr id="18" name="shape_91"/>
            <p:cNvSpPr/>
            <p:nvPr/>
          </p:nvSpPr>
          <p:spPr>
            <a:xfrm>
              <a:off x="3901287" y="2852928"/>
              <a:ext cx="548640" cy="548640"/>
            </a:xfrm>
            <a:prstGeom prst="ellipse">
              <a:avLst/>
            </a:prstGeom>
            <a:solidFill>
              <a:srgbClr val="FFFFFF">
                <a:alpha val="95000"/>
              </a:srgbClr>
            </a:solidFill>
            <a:ln>
              <a:noFill/>
            </a:ln>
          </p:spPr>
          <p:txBody>
            <a:bodyPr rtlCol="0" anchor="ctr"/>
            <a:lstStyle/>
            <a:p/>
          </p:txBody>
        </p:sp>
        <p:sp>
          <p:nvSpPr>
            <p:cNvPr id="19" name="text_92"/>
            <p:cNvSpPr txBox="1"/>
            <p:nvPr/>
          </p:nvSpPr>
          <p:spPr>
            <a:xfrm>
              <a:off x="3901287" y="2852928"/>
              <a:ext cx="548640" cy="548640"/>
            </a:xfrm>
            <a:prstGeom prst="rect">
              <a:avLst/>
            </a:prstGeom>
            <a:noFill/>
          </p:spPr>
          <p:txBody>
            <a:bodyPr wrap="square" lIns="0" rIns="0" tIns="0" bIns="0" anchor="ctr">
              <a:spAutoFit/>
            </a:bodyPr>
            <a:lstStyle/>
            <a:p>
              <a:pPr algn="ctr"/>
              <a:r>
                <a:rPr sz="2000" b="1" i="0">
                  <a:solidFill>
                    <a:srgbClr val="4C1D95"/>
                  </a:solidFill>
                  <a:latin typeface="Arial"/>
                </a:rPr>
                <a:t>A</a:t>
              </a:r>
            </a:p>
          </p:txBody>
        </p:sp>
        <p:sp>
          <p:nvSpPr>
            <p:cNvPr id="20" name="text_93"/>
            <p:cNvSpPr txBox="1"/>
            <p:nvPr/>
          </p:nvSpPr>
          <p:spPr>
            <a:xfrm>
              <a:off x="4587087" y="2788920"/>
              <a:ext cx="3749039" cy="329184"/>
            </a:xfrm>
            <a:prstGeom prst="rect">
              <a:avLst/>
            </a:prstGeom>
            <a:noFill/>
          </p:spPr>
          <p:txBody>
            <a:bodyPr wrap="square" lIns="0" rIns="0" tIns="0" bIns="0" anchor="ctr">
              <a:spAutoFit/>
            </a:bodyPr>
            <a:lstStyle/>
            <a:p>
              <a:pPr algn="l"/>
              <a:r>
                <a:rPr sz="1700" b="1" i="0">
                  <a:solidFill>
                    <a:srgbClr val="FFFFFF"/>
                  </a:solidFill>
                  <a:latin typeface="Arial"/>
                </a:rPr>
                <a:t>Aria</a:t>
              </a:r>
              <a:r>
                <a:rPr sz="1300" b="0" i="0">
                  <a:solidFill>
                    <a:srgbClr val="E9E5FF"/>
                  </a:solidFill>
                  <a:latin typeface="Arial"/>
                </a:rPr>
                <a:t>   Chief of Staff</a:t>
              </a:r>
            </a:p>
          </p:txBody>
        </p:sp>
        <p:sp>
          <p:nvSpPr>
            <p:cNvPr id="21" name="text_94"/>
            <p:cNvSpPr txBox="1"/>
            <p:nvPr/>
          </p:nvSpPr>
          <p:spPr>
            <a:xfrm>
              <a:off x="4587087" y="3127248"/>
              <a:ext cx="3794760" cy="365760"/>
            </a:xfrm>
            <a:prstGeom prst="rect">
              <a:avLst/>
            </a:prstGeom>
            <a:noFill/>
          </p:spPr>
          <p:txBody>
            <a:bodyPr wrap="square" lIns="0" rIns="0" tIns="0" bIns="0" anchor="ctr">
              <a:spAutoFit/>
            </a:bodyPr>
            <a:lstStyle/>
            <a:p>
              <a:pPr algn="l"/>
              <a:r>
                <a:rPr sz="1100" b="0" i="0">
                  <a:solidFill>
                    <a:srgbClr val="D7DCF5"/>
                  </a:solidFill>
                  <a:latin typeface="Arial"/>
                </a:rPr>
                <a:t>Routes every task over BAND, writes the founder briefing</a:t>
              </a:r>
            </a:p>
          </p:txBody>
        </p:sp>
      </p:grpSp>
      <p:cxnSp>
        <p:nvCxnSpPr>
          <p:cNvPr id="22" name="line_95"/>
          <p:cNvCxnSpPr/>
          <p:nvPr/>
        </p:nvCxnSpPr>
        <p:spPr>
          <a:xfrm>
            <a:off x="6095847" y="2313432"/>
            <a:ext cx="0" cy="384048"/>
          </a:xfrm>
          <a:prstGeom prst="line">
            <a:avLst/>
          </a:prstGeom>
          <a:ln w="19050">
            <a:solidFill>
              <a:srgbClr val="A78BFA">
                <a:alpha val="80000"/>
              </a:srgbClr>
            </a:solidFill>
          </a:ln>
        </p:spPr>
      </p:cxnSp>
      <p:cxnSp>
        <p:nvCxnSpPr>
          <p:cNvPr id="23" name="line_96"/>
          <p:cNvCxnSpPr/>
          <p:nvPr/>
        </p:nvCxnSpPr>
        <p:spPr>
          <a:xfrm>
            <a:off x="1278200" y="3822191"/>
            <a:ext cx="9632551" cy="0"/>
          </a:xfrm>
          <a:prstGeom prst="line">
            <a:avLst/>
          </a:prstGeom>
          <a:ln w="15875">
            <a:solidFill>
              <a:srgbClr val="A78BFA">
                <a:alpha val="55000"/>
              </a:srgbClr>
            </a:solidFill>
          </a:ln>
        </p:spPr>
      </p:cxnSp>
      <p:cxnSp>
        <p:nvCxnSpPr>
          <p:cNvPr id="24" name="line_97"/>
          <p:cNvCxnSpPr/>
          <p:nvPr/>
        </p:nvCxnSpPr>
        <p:spPr>
          <a:xfrm>
            <a:off x="6095847" y="3566160"/>
            <a:ext cx="0" cy="256031"/>
          </a:xfrm>
          <a:prstGeom prst="line">
            <a:avLst/>
          </a:prstGeom>
          <a:ln w="19050">
            <a:solidFill>
              <a:srgbClr val="A78BFA">
                <a:alpha val="80000"/>
              </a:srgbClr>
            </a:solidFill>
          </a:ln>
        </p:spPr>
      </p:cxnSp>
      <p:cxnSp>
        <p:nvCxnSpPr>
          <p:cNvPr id="25" name="line_98"/>
          <p:cNvCxnSpPr/>
          <p:nvPr/>
        </p:nvCxnSpPr>
        <p:spPr>
          <a:xfrm>
            <a:off x="1278200" y="3822191"/>
            <a:ext cx="0" cy="246889"/>
          </a:xfrm>
          <a:prstGeom prst="line">
            <a:avLst/>
          </a:prstGeom>
          <a:ln w="15875">
            <a:solidFill>
              <a:srgbClr val="22D3EE">
                <a:alpha val="70000"/>
              </a:srgbClr>
            </a:solidFill>
          </a:ln>
        </p:spPr>
      </p:cxnSp>
      <p:grpSp>
        <p:nvGrpSpPr>
          <p:cNvPr id="26" name="group_99"/>
          <p:cNvGrpSpPr/>
          <p:nvPr/>
        </p:nvGrpSpPr>
        <p:grpSpPr>
          <a:xfrm>
            <a:off x="548640" y="4069080"/>
            <a:ext cx="1459121" cy="2011680"/>
            <a:chOff x="548640" y="4069080"/>
            <a:chExt cx="1459121" cy="2011680"/>
          </a:xfrm>
        </p:grpSpPr>
        <p:sp>
          <p:nvSpPr>
            <p:cNvPr id="27" name="shape_100"/>
            <p:cNvSpPr/>
            <p:nvPr/>
          </p:nvSpPr>
          <p:spPr>
            <a:xfrm>
              <a:off x="548640" y="4069080"/>
              <a:ext cx="1459121" cy="2011680"/>
            </a:xfrm>
            <a:prstGeom prst="roundRect">
              <a:avLst>
                <a:gd name="adj" fmla="val 10026"/>
              </a:avLst>
            </a:prstGeom>
            <a:solidFill>
              <a:srgbClr val="22D3EE">
                <a:alpha val="7000"/>
              </a:srgbClr>
            </a:solidFill>
            <a:ln w="9525">
              <a:solidFill>
                <a:srgbClr val="22D3EE">
                  <a:alpha val="35000"/>
                </a:srgbClr>
              </a:solidFill>
            </a:ln>
          </p:spPr>
          <p:txBody>
            <a:bodyPr rtlCol="0" anchor="ctr"/>
            <a:lstStyle/>
            <a:p/>
          </p:txBody>
        </p:sp>
        <p:sp>
          <p:nvSpPr>
            <p:cNvPr id="28" name="shape_101"/>
            <p:cNvSpPr/>
            <p:nvPr/>
          </p:nvSpPr>
          <p:spPr>
            <a:xfrm>
              <a:off x="1003880" y="4251960"/>
              <a:ext cx="548640" cy="548640"/>
            </a:xfrm>
            <a:prstGeom prst="ellipse">
              <a:avLst/>
            </a:prstGeom>
            <a:solidFill>
              <a:srgbClr val="22D3EE">
                <a:alpha val="95000"/>
              </a:srgbClr>
            </a:solidFill>
            <a:ln>
              <a:noFill/>
            </a:ln>
          </p:spPr>
          <p:txBody>
            <a:bodyPr rtlCol="0" anchor="ctr"/>
            <a:lstStyle/>
            <a:p/>
          </p:txBody>
        </p:sp>
        <p:sp>
          <p:nvSpPr>
            <p:cNvPr id="29" name="text_102"/>
            <p:cNvSpPr txBox="1"/>
            <p:nvPr/>
          </p:nvSpPr>
          <p:spPr>
            <a:xfrm>
              <a:off x="1003880" y="4251960"/>
              <a:ext cx="548640" cy="548640"/>
            </a:xfrm>
            <a:prstGeom prst="rect">
              <a:avLst/>
            </a:prstGeom>
            <a:noFill/>
          </p:spPr>
          <p:txBody>
            <a:bodyPr wrap="square" lIns="0" rIns="0" tIns="0" bIns="0" anchor="ctr">
              <a:spAutoFit/>
            </a:bodyPr>
            <a:lstStyle/>
            <a:p>
              <a:pPr algn="ctr"/>
              <a:r>
                <a:rPr sz="2000" b="1" i="0">
                  <a:solidFill>
                    <a:srgbClr val="0B0D14"/>
                  </a:solidFill>
                  <a:latin typeface="Arial"/>
                </a:rPr>
                <a:t>N</a:t>
              </a:r>
            </a:p>
          </p:txBody>
        </p:sp>
        <p:sp>
          <p:nvSpPr>
            <p:cNvPr id="30" name="text_103"/>
            <p:cNvSpPr txBox="1"/>
            <p:nvPr/>
          </p:nvSpPr>
          <p:spPr>
            <a:xfrm>
              <a:off x="621792" y="4892040"/>
              <a:ext cx="1312817" cy="274320"/>
            </a:xfrm>
            <a:prstGeom prst="rect">
              <a:avLst/>
            </a:prstGeom>
            <a:noFill/>
          </p:spPr>
          <p:txBody>
            <a:bodyPr wrap="square" lIns="0" rIns="0" tIns="0" bIns="0" anchor="t">
              <a:spAutoFit/>
            </a:bodyPr>
            <a:lstStyle/>
            <a:p>
              <a:pPr algn="ctr"/>
              <a:r>
                <a:rPr sz="1500" b="1" i="0">
                  <a:solidFill>
                    <a:srgbClr val="FFFFFF"/>
                  </a:solidFill>
                  <a:latin typeface="Arial"/>
                </a:rPr>
                <a:t>Nova</a:t>
              </a:r>
            </a:p>
          </p:txBody>
        </p:sp>
        <p:sp>
          <p:nvSpPr>
            <p:cNvPr id="31" name="text_104"/>
            <p:cNvSpPr txBox="1"/>
            <p:nvPr/>
          </p:nvSpPr>
          <p:spPr>
            <a:xfrm>
              <a:off x="621792" y="5166360"/>
              <a:ext cx="1312817" cy="438912"/>
            </a:xfrm>
            <a:prstGeom prst="rect">
              <a:avLst/>
            </a:prstGeom>
            <a:noFill/>
          </p:spPr>
          <p:txBody>
            <a:bodyPr wrap="square" lIns="0" rIns="0" tIns="0" bIns="0" anchor="t">
              <a:spAutoFit/>
            </a:bodyPr>
            <a:lstStyle/>
            <a:p>
              <a:pPr algn="ctr"/>
              <a:r>
                <a:rPr sz="1050" b="0" i="0">
                  <a:solidFill>
                    <a:srgbClr val="E6E8EF"/>
                  </a:solidFill>
                  <a:latin typeface="Arial"/>
                </a:rPr>
                <a:t>T&amp;S Triage Analyst</a:t>
              </a:r>
            </a:p>
          </p:txBody>
        </p:sp>
        <p:sp>
          <p:nvSpPr>
            <p:cNvPr id="32" name="text_105"/>
            <p:cNvSpPr txBox="1"/>
            <p:nvPr/>
          </p:nvSpPr>
          <p:spPr>
            <a:xfrm>
              <a:off x="621792" y="5605272"/>
              <a:ext cx="1312817" cy="411480"/>
            </a:xfrm>
            <a:prstGeom prst="rect">
              <a:avLst/>
            </a:prstGeom>
            <a:noFill/>
          </p:spPr>
          <p:txBody>
            <a:bodyPr wrap="square" lIns="0" rIns="0" tIns="0" bIns="0" anchor="t">
              <a:spAutoFit/>
            </a:bodyPr>
            <a:lstStyle/>
            <a:p>
              <a:pPr algn="ctr"/>
              <a:r>
                <a:rPr sz="950" b="1" i="0">
                  <a:solidFill>
                    <a:srgbClr val="22D3EE"/>
                  </a:solidFill>
                  <a:latin typeface="Arial"/>
                </a:rPr>
                <a:t>RocketRide · PromptQL</a:t>
              </a:r>
            </a:p>
          </p:txBody>
        </p:sp>
      </p:grpSp>
      <p:cxnSp>
        <p:nvCxnSpPr>
          <p:cNvPr id="33" name="line_106"/>
          <p:cNvCxnSpPr/>
          <p:nvPr/>
        </p:nvCxnSpPr>
        <p:spPr>
          <a:xfrm>
            <a:off x="2883625" y="3822191"/>
            <a:ext cx="0" cy="246889"/>
          </a:xfrm>
          <a:prstGeom prst="line">
            <a:avLst/>
          </a:prstGeom>
          <a:ln w="15875">
            <a:solidFill>
              <a:srgbClr val="F43F5E">
                <a:alpha val="70000"/>
              </a:srgbClr>
            </a:solidFill>
          </a:ln>
        </p:spPr>
      </p:cxnSp>
      <p:grpSp>
        <p:nvGrpSpPr>
          <p:cNvPr id="34" name="group_107"/>
          <p:cNvGrpSpPr/>
          <p:nvPr/>
        </p:nvGrpSpPr>
        <p:grpSpPr>
          <a:xfrm>
            <a:off x="2154065" y="4069080"/>
            <a:ext cx="1459121" cy="2011680"/>
            <a:chOff x="2154065" y="4069080"/>
            <a:chExt cx="1459121" cy="2011680"/>
          </a:xfrm>
        </p:grpSpPr>
        <p:sp>
          <p:nvSpPr>
            <p:cNvPr id="35" name="shape_108"/>
            <p:cNvSpPr/>
            <p:nvPr/>
          </p:nvSpPr>
          <p:spPr>
            <a:xfrm>
              <a:off x="2154065" y="4069080"/>
              <a:ext cx="1459121" cy="2011680"/>
            </a:xfrm>
            <a:prstGeom prst="roundRect">
              <a:avLst>
                <a:gd name="adj" fmla="val 10026"/>
              </a:avLst>
            </a:prstGeom>
            <a:solidFill>
              <a:srgbClr val="F43F5E">
                <a:alpha val="7000"/>
              </a:srgbClr>
            </a:solidFill>
            <a:ln w="9525">
              <a:solidFill>
                <a:srgbClr val="F43F5E">
                  <a:alpha val="35000"/>
                </a:srgbClr>
              </a:solidFill>
            </a:ln>
          </p:spPr>
          <p:txBody>
            <a:bodyPr rtlCol="0" anchor="ctr"/>
            <a:lstStyle/>
            <a:p/>
          </p:txBody>
        </p:sp>
        <p:sp>
          <p:nvSpPr>
            <p:cNvPr id="36" name="shape_109"/>
            <p:cNvSpPr/>
            <p:nvPr/>
          </p:nvSpPr>
          <p:spPr>
            <a:xfrm>
              <a:off x="2609305" y="4251960"/>
              <a:ext cx="548640" cy="548640"/>
            </a:xfrm>
            <a:prstGeom prst="ellipse">
              <a:avLst/>
            </a:prstGeom>
            <a:solidFill>
              <a:srgbClr val="F43F5E">
                <a:alpha val="95000"/>
              </a:srgbClr>
            </a:solidFill>
            <a:ln>
              <a:noFill/>
            </a:ln>
          </p:spPr>
          <p:txBody>
            <a:bodyPr rtlCol="0" anchor="ctr"/>
            <a:lstStyle/>
            <a:p/>
          </p:txBody>
        </p:sp>
        <p:sp>
          <p:nvSpPr>
            <p:cNvPr id="37" name="text_110"/>
            <p:cNvSpPr txBox="1"/>
            <p:nvPr/>
          </p:nvSpPr>
          <p:spPr>
            <a:xfrm>
              <a:off x="2609305" y="4251960"/>
              <a:ext cx="548640" cy="548640"/>
            </a:xfrm>
            <a:prstGeom prst="rect">
              <a:avLst/>
            </a:prstGeom>
            <a:noFill/>
          </p:spPr>
          <p:txBody>
            <a:bodyPr wrap="square" lIns="0" rIns="0" tIns="0" bIns="0" anchor="ctr">
              <a:spAutoFit/>
            </a:bodyPr>
            <a:lstStyle/>
            <a:p>
              <a:pPr algn="ctr"/>
              <a:r>
                <a:rPr sz="2000" b="1" i="0">
                  <a:solidFill>
                    <a:srgbClr val="0B0D14"/>
                  </a:solidFill>
                  <a:latin typeface="Arial"/>
                </a:rPr>
                <a:t>R</a:t>
              </a:r>
            </a:p>
          </p:txBody>
        </p:sp>
        <p:sp>
          <p:nvSpPr>
            <p:cNvPr id="38" name="text_111"/>
            <p:cNvSpPr txBox="1"/>
            <p:nvPr/>
          </p:nvSpPr>
          <p:spPr>
            <a:xfrm>
              <a:off x="2227217" y="4892040"/>
              <a:ext cx="1312817" cy="274320"/>
            </a:xfrm>
            <a:prstGeom prst="rect">
              <a:avLst/>
            </a:prstGeom>
            <a:noFill/>
          </p:spPr>
          <p:txBody>
            <a:bodyPr wrap="square" lIns="0" rIns="0" tIns="0" bIns="0" anchor="t">
              <a:spAutoFit/>
            </a:bodyPr>
            <a:lstStyle/>
            <a:p>
              <a:pPr algn="ctr"/>
              <a:r>
                <a:rPr sz="1500" b="1" i="0">
                  <a:solidFill>
                    <a:srgbClr val="FFFFFF"/>
                  </a:solidFill>
                  <a:latin typeface="Arial"/>
                </a:rPr>
                <a:t>Rex</a:t>
              </a:r>
            </a:p>
          </p:txBody>
        </p:sp>
        <p:sp>
          <p:nvSpPr>
            <p:cNvPr id="39" name="text_112"/>
            <p:cNvSpPr txBox="1"/>
            <p:nvPr/>
          </p:nvSpPr>
          <p:spPr>
            <a:xfrm>
              <a:off x="2227217" y="5166360"/>
              <a:ext cx="1312817" cy="438912"/>
            </a:xfrm>
            <a:prstGeom prst="rect">
              <a:avLst/>
            </a:prstGeom>
            <a:noFill/>
          </p:spPr>
          <p:txBody>
            <a:bodyPr wrap="square" lIns="0" rIns="0" tIns="0" bIns="0" anchor="t">
              <a:spAutoFit/>
            </a:bodyPr>
            <a:lstStyle/>
            <a:p>
              <a:pPr algn="ctr"/>
              <a:r>
                <a:rPr sz="1050" b="0" i="0">
                  <a:solidFill>
                    <a:srgbClr val="E6E8EF"/>
                  </a:solidFill>
                  <a:latin typeface="Arial"/>
                </a:rPr>
                <a:t>Threat Intel Investigator</a:t>
              </a:r>
            </a:p>
          </p:txBody>
        </p:sp>
        <p:sp>
          <p:nvSpPr>
            <p:cNvPr id="40" name="text_113"/>
            <p:cNvSpPr txBox="1"/>
            <p:nvPr/>
          </p:nvSpPr>
          <p:spPr>
            <a:xfrm>
              <a:off x="2227217" y="5605272"/>
              <a:ext cx="1312817" cy="411480"/>
            </a:xfrm>
            <a:prstGeom prst="rect">
              <a:avLst/>
            </a:prstGeom>
            <a:noFill/>
          </p:spPr>
          <p:txBody>
            <a:bodyPr wrap="square" lIns="0" rIns="0" tIns="0" bIns="0" anchor="t">
              <a:spAutoFit/>
            </a:bodyPr>
            <a:lstStyle/>
            <a:p>
              <a:pPr algn="ctr"/>
              <a:r>
                <a:rPr sz="950" b="1" i="0">
                  <a:solidFill>
                    <a:srgbClr val="F43F5E"/>
                  </a:solidFill>
                  <a:latin typeface="Arial"/>
                </a:rPr>
                <a:t>AdaL · Celesto · Finch</a:t>
              </a:r>
            </a:p>
          </p:txBody>
        </p:sp>
      </p:grpSp>
      <p:cxnSp>
        <p:nvCxnSpPr>
          <p:cNvPr id="41" name="line_114"/>
          <p:cNvCxnSpPr/>
          <p:nvPr/>
        </p:nvCxnSpPr>
        <p:spPr>
          <a:xfrm>
            <a:off x="4489050" y="3822191"/>
            <a:ext cx="0" cy="246889"/>
          </a:xfrm>
          <a:prstGeom prst="line">
            <a:avLst/>
          </a:prstGeom>
          <a:ln w="15875">
            <a:solidFill>
              <a:srgbClr val="EC4899">
                <a:alpha val="70000"/>
              </a:srgbClr>
            </a:solidFill>
          </a:ln>
        </p:spPr>
      </p:cxnSp>
      <p:grpSp>
        <p:nvGrpSpPr>
          <p:cNvPr id="42" name="group_115"/>
          <p:cNvGrpSpPr/>
          <p:nvPr/>
        </p:nvGrpSpPr>
        <p:grpSpPr>
          <a:xfrm>
            <a:off x="3759490" y="4069080"/>
            <a:ext cx="1459121" cy="2011680"/>
            <a:chOff x="3759490" y="4069080"/>
            <a:chExt cx="1459121" cy="2011680"/>
          </a:xfrm>
        </p:grpSpPr>
        <p:sp>
          <p:nvSpPr>
            <p:cNvPr id="43" name="shape_116"/>
            <p:cNvSpPr/>
            <p:nvPr/>
          </p:nvSpPr>
          <p:spPr>
            <a:xfrm>
              <a:off x="3759490" y="4069080"/>
              <a:ext cx="1459121" cy="2011680"/>
            </a:xfrm>
            <a:prstGeom prst="roundRect">
              <a:avLst>
                <a:gd name="adj" fmla="val 10026"/>
              </a:avLst>
            </a:prstGeom>
            <a:solidFill>
              <a:srgbClr val="EC4899">
                <a:alpha val="7000"/>
              </a:srgbClr>
            </a:solidFill>
            <a:ln w="9525">
              <a:solidFill>
                <a:srgbClr val="EC4899">
                  <a:alpha val="35000"/>
                </a:srgbClr>
              </a:solidFill>
            </a:ln>
          </p:spPr>
          <p:txBody>
            <a:bodyPr rtlCol="0" anchor="ctr"/>
            <a:lstStyle/>
            <a:p/>
          </p:txBody>
        </p:sp>
        <p:sp>
          <p:nvSpPr>
            <p:cNvPr id="44" name="shape_117"/>
            <p:cNvSpPr/>
            <p:nvPr/>
          </p:nvSpPr>
          <p:spPr>
            <a:xfrm>
              <a:off x="4214730" y="4251960"/>
              <a:ext cx="548640" cy="548640"/>
            </a:xfrm>
            <a:prstGeom prst="ellipse">
              <a:avLst/>
            </a:prstGeom>
            <a:solidFill>
              <a:srgbClr val="EC4899">
                <a:alpha val="95000"/>
              </a:srgbClr>
            </a:solidFill>
            <a:ln>
              <a:noFill/>
            </a:ln>
          </p:spPr>
          <p:txBody>
            <a:bodyPr rtlCol="0" anchor="ctr"/>
            <a:lstStyle/>
            <a:p/>
          </p:txBody>
        </p:sp>
        <p:sp>
          <p:nvSpPr>
            <p:cNvPr id="45" name="text_118"/>
            <p:cNvSpPr txBox="1"/>
            <p:nvPr/>
          </p:nvSpPr>
          <p:spPr>
            <a:xfrm>
              <a:off x="4214730" y="4251960"/>
              <a:ext cx="548640" cy="548640"/>
            </a:xfrm>
            <a:prstGeom prst="rect">
              <a:avLst/>
            </a:prstGeom>
            <a:noFill/>
          </p:spPr>
          <p:txBody>
            <a:bodyPr wrap="square" lIns="0" rIns="0" tIns="0" bIns="0" anchor="ctr">
              <a:spAutoFit/>
            </a:bodyPr>
            <a:lstStyle/>
            <a:p>
              <a:pPr algn="ctr"/>
              <a:r>
                <a:rPr sz="2000" b="1" i="0">
                  <a:solidFill>
                    <a:srgbClr val="0B0D14"/>
                  </a:solidFill>
                  <a:latin typeface="Arial"/>
                </a:rPr>
                <a:t>M</a:t>
              </a:r>
            </a:p>
          </p:txBody>
        </p:sp>
        <p:sp>
          <p:nvSpPr>
            <p:cNvPr id="46" name="text_119"/>
            <p:cNvSpPr txBox="1"/>
            <p:nvPr/>
          </p:nvSpPr>
          <p:spPr>
            <a:xfrm>
              <a:off x="3832642" y="4892040"/>
              <a:ext cx="1312817" cy="274320"/>
            </a:xfrm>
            <a:prstGeom prst="rect">
              <a:avLst/>
            </a:prstGeom>
            <a:noFill/>
          </p:spPr>
          <p:txBody>
            <a:bodyPr wrap="square" lIns="0" rIns="0" tIns="0" bIns="0" anchor="t">
              <a:spAutoFit/>
            </a:bodyPr>
            <a:lstStyle/>
            <a:p>
              <a:pPr algn="ctr"/>
              <a:r>
                <a:rPr sz="1500" b="1" i="0">
                  <a:solidFill>
                    <a:srgbClr val="FFFFFF"/>
                  </a:solidFill>
                  <a:latin typeface="Arial"/>
                </a:rPr>
                <a:t>Mira</a:t>
              </a:r>
            </a:p>
          </p:txBody>
        </p:sp>
        <p:sp>
          <p:nvSpPr>
            <p:cNvPr id="47" name="text_120"/>
            <p:cNvSpPr txBox="1"/>
            <p:nvPr/>
          </p:nvSpPr>
          <p:spPr>
            <a:xfrm>
              <a:off x="3832642" y="5166360"/>
              <a:ext cx="1312817" cy="438912"/>
            </a:xfrm>
            <a:prstGeom prst="rect">
              <a:avLst/>
            </a:prstGeom>
            <a:noFill/>
          </p:spPr>
          <p:txBody>
            <a:bodyPr wrap="square" lIns="0" rIns="0" tIns="0" bIns="0" anchor="t">
              <a:spAutoFit/>
            </a:bodyPr>
            <a:lstStyle/>
            <a:p>
              <a:pPr algn="ctr"/>
              <a:r>
                <a:rPr sz="1050" b="0" i="0">
                  <a:solidFill>
                    <a:srgbClr val="E6E8EF"/>
                  </a:solidFill>
                  <a:latin typeface="Arial"/>
                </a:rPr>
                <a:t>Community Wellbeing Lead</a:t>
              </a:r>
            </a:p>
          </p:txBody>
        </p:sp>
        <p:sp>
          <p:nvSpPr>
            <p:cNvPr id="48" name="text_121"/>
            <p:cNvSpPr txBox="1"/>
            <p:nvPr/>
          </p:nvSpPr>
          <p:spPr>
            <a:xfrm>
              <a:off x="3832642" y="5605272"/>
              <a:ext cx="1312817" cy="411480"/>
            </a:xfrm>
            <a:prstGeom prst="rect">
              <a:avLst/>
            </a:prstGeom>
            <a:noFill/>
          </p:spPr>
          <p:txBody>
            <a:bodyPr wrap="square" lIns="0" rIns="0" tIns="0" bIns="0" anchor="t">
              <a:spAutoFit/>
            </a:bodyPr>
            <a:lstStyle/>
            <a:p>
              <a:pPr algn="ctr"/>
              <a:r>
                <a:rPr sz="950" b="1" i="0">
                  <a:solidFill>
                    <a:srgbClr val="EC4899"/>
                  </a:solidFill>
                  <a:latin typeface="Arial"/>
                </a:rPr>
                <a:t>Masky.AI · n8n</a:t>
              </a:r>
            </a:p>
          </p:txBody>
        </p:sp>
      </p:grpSp>
      <p:cxnSp>
        <p:nvCxnSpPr>
          <p:cNvPr id="49" name="line_122"/>
          <p:cNvCxnSpPr/>
          <p:nvPr/>
        </p:nvCxnSpPr>
        <p:spPr>
          <a:xfrm>
            <a:off x="6094476" y="3822191"/>
            <a:ext cx="0" cy="246889"/>
          </a:xfrm>
          <a:prstGeom prst="line">
            <a:avLst/>
          </a:prstGeom>
          <a:ln w="15875">
            <a:solidFill>
              <a:srgbClr val="F59E0B">
                <a:alpha val="70000"/>
              </a:srgbClr>
            </a:solidFill>
          </a:ln>
        </p:spPr>
      </p:cxnSp>
      <p:grpSp>
        <p:nvGrpSpPr>
          <p:cNvPr id="50" name="group_123"/>
          <p:cNvGrpSpPr/>
          <p:nvPr/>
        </p:nvGrpSpPr>
        <p:grpSpPr>
          <a:xfrm>
            <a:off x="5364915" y="4069080"/>
            <a:ext cx="1459121" cy="2011680"/>
            <a:chOff x="5364915" y="4069080"/>
            <a:chExt cx="1459121" cy="2011680"/>
          </a:xfrm>
        </p:grpSpPr>
        <p:sp>
          <p:nvSpPr>
            <p:cNvPr id="51" name="shape_124"/>
            <p:cNvSpPr/>
            <p:nvPr/>
          </p:nvSpPr>
          <p:spPr>
            <a:xfrm>
              <a:off x="5364915" y="4069080"/>
              <a:ext cx="1459121" cy="2011680"/>
            </a:xfrm>
            <a:prstGeom prst="roundRect">
              <a:avLst>
                <a:gd name="adj" fmla="val 10026"/>
              </a:avLst>
            </a:prstGeom>
            <a:solidFill>
              <a:srgbClr val="F59E0B">
                <a:alpha val="7000"/>
              </a:srgbClr>
            </a:solidFill>
            <a:ln w="9525">
              <a:solidFill>
                <a:srgbClr val="F59E0B">
                  <a:alpha val="35000"/>
                </a:srgbClr>
              </a:solidFill>
            </a:ln>
          </p:spPr>
          <p:txBody>
            <a:bodyPr rtlCol="0" anchor="ctr"/>
            <a:lstStyle/>
            <a:p/>
          </p:txBody>
        </p:sp>
        <p:sp>
          <p:nvSpPr>
            <p:cNvPr id="52" name="shape_125"/>
            <p:cNvSpPr/>
            <p:nvPr/>
          </p:nvSpPr>
          <p:spPr>
            <a:xfrm>
              <a:off x="5820156" y="4251960"/>
              <a:ext cx="548640" cy="548640"/>
            </a:xfrm>
            <a:prstGeom prst="ellipse">
              <a:avLst/>
            </a:prstGeom>
            <a:solidFill>
              <a:srgbClr val="F59E0B">
                <a:alpha val="95000"/>
              </a:srgbClr>
            </a:solidFill>
            <a:ln>
              <a:noFill/>
            </a:ln>
          </p:spPr>
          <p:txBody>
            <a:bodyPr rtlCol="0" anchor="ctr"/>
            <a:lstStyle/>
            <a:p/>
          </p:txBody>
        </p:sp>
        <p:sp>
          <p:nvSpPr>
            <p:cNvPr id="53" name="text_126"/>
            <p:cNvSpPr txBox="1"/>
            <p:nvPr/>
          </p:nvSpPr>
          <p:spPr>
            <a:xfrm>
              <a:off x="5820156" y="4251960"/>
              <a:ext cx="548640" cy="548640"/>
            </a:xfrm>
            <a:prstGeom prst="rect">
              <a:avLst/>
            </a:prstGeom>
            <a:noFill/>
          </p:spPr>
          <p:txBody>
            <a:bodyPr wrap="square" lIns="0" rIns="0" tIns="0" bIns="0" anchor="ctr">
              <a:spAutoFit/>
            </a:bodyPr>
            <a:lstStyle/>
            <a:p>
              <a:pPr algn="ctr"/>
              <a:r>
                <a:rPr sz="2000" b="1" i="0">
                  <a:solidFill>
                    <a:srgbClr val="0B0D14"/>
                  </a:solidFill>
                  <a:latin typeface="Arial"/>
                </a:rPr>
                <a:t>K</a:t>
              </a:r>
            </a:p>
          </p:txBody>
        </p:sp>
        <p:sp>
          <p:nvSpPr>
            <p:cNvPr id="54" name="text_127"/>
            <p:cNvSpPr txBox="1"/>
            <p:nvPr/>
          </p:nvSpPr>
          <p:spPr>
            <a:xfrm>
              <a:off x="5438067" y="4892040"/>
              <a:ext cx="1312817" cy="274320"/>
            </a:xfrm>
            <a:prstGeom prst="rect">
              <a:avLst/>
            </a:prstGeom>
            <a:noFill/>
          </p:spPr>
          <p:txBody>
            <a:bodyPr wrap="square" lIns="0" rIns="0" tIns="0" bIns="0" anchor="t">
              <a:spAutoFit/>
            </a:bodyPr>
            <a:lstStyle/>
            <a:p>
              <a:pPr algn="ctr"/>
              <a:r>
                <a:rPr sz="1500" b="1" i="0">
                  <a:solidFill>
                    <a:srgbClr val="FFFFFF"/>
                  </a:solidFill>
                  <a:latin typeface="Arial"/>
                </a:rPr>
                <a:t>Kai</a:t>
              </a:r>
            </a:p>
          </p:txBody>
        </p:sp>
        <p:sp>
          <p:nvSpPr>
            <p:cNvPr id="55" name="text_128"/>
            <p:cNvSpPr txBox="1"/>
            <p:nvPr/>
          </p:nvSpPr>
          <p:spPr>
            <a:xfrm>
              <a:off x="5438067" y="5166360"/>
              <a:ext cx="1312817" cy="438912"/>
            </a:xfrm>
            <a:prstGeom prst="rect">
              <a:avLst/>
            </a:prstGeom>
            <a:noFill/>
          </p:spPr>
          <p:txBody>
            <a:bodyPr wrap="square" lIns="0" rIns="0" tIns="0" bIns="0" anchor="t">
              <a:spAutoFit/>
            </a:bodyPr>
            <a:lstStyle/>
            <a:p>
              <a:pPr algn="ctr"/>
              <a:r>
                <a:rPr sz="1050" b="0" i="0">
                  <a:solidFill>
                    <a:srgbClr val="E6E8EF"/>
                  </a:solidFill>
                  <a:latin typeface="Arial"/>
                </a:rPr>
                <a:t>Security Engineer</a:t>
              </a:r>
            </a:p>
          </p:txBody>
        </p:sp>
        <p:sp>
          <p:nvSpPr>
            <p:cNvPr id="56" name="text_129"/>
            <p:cNvSpPr txBox="1"/>
            <p:nvPr/>
          </p:nvSpPr>
          <p:spPr>
            <a:xfrm>
              <a:off x="5438067" y="5605272"/>
              <a:ext cx="1312817" cy="411480"/>
            </a:xfrm>
            <a:prstGeom prst="rect">
              <a:avLst/>
            </a:prstGeom>
            <a:noFill/>
          </p:spPr>
          <p:txBody>
            <a:bodyPr wrap="square" lIns="0" rIns="0" tIns="0" bIns="0" anchor="t">
              <a:spAutoFit/>
            </a:bodyPr>
            <a:lstStyle/>
            <a:p>
              <a:pPr algn="ctr"/>
              <a:r>
                <a:rPr sz="950" b="1" i="0">
                  <a:solidFill>
                    <a:srgbClr val="F59E0B"/>
                  </a:solidFill>
                  <a:latin typeface="Arial"/>
                </a:rPr>
                <a:t>Snyk · Tenki · Prelint</a:t>
              </a:r>
            </a:p>
          </p:txBody>
        </p:sp>
      </p:grpSp>
      <p:cxnSp>
        <p:nvCxnSpPr>
          <p:cNvPr id="57" name="line_130"/>
          <p:cNvCxnSpPr/>
          <p:nvPr/>
        </p:nvCxnSpPr>
        <p:spPr>
          <a:xfrm>
            <a:off x="7699901" y="3822191"/>
            <a:ext cx="0" cy="246889"/>
          </a:xfrm>
          <a:prstGeom prst="line">
            <a:avLst/>
          </a:prstGeom>
          <a:ln w="15875">
            <a:solidFill>
              <a:srgbClr val="3B82F6">
                <a:alpha val="70000"/>
              </a:srgbClr>
            </a:solidFill>
          </a:ln>
        </p:spPr>
      </p:cxnSp>
      <p:grpSp>
        <p:nvGrpSpPr>
          <p:cNvPr id="58" name="group_131"/>
          <p:cNvGrpSpPr/>
          <p:nvPr/>
        </p:nvGrpSpPr>
        <p:grpSpPr>
          <a:xfrm>
            <a:off x="6970340" y="4069080"/>
            <a:ext cx="1459121" cy="2011680"/>
            <a:chOff x="6970340" y="4069080"/>
            <a:chExt cx="1459121" cy="2011680"/>
          </a:xfrm>
        </p:grpSpPr>
        <p:sp>
          <p:nvSpPr>
            <p:cNvPr id="59" name="shape_132"/>
            <p:cNvSpPr/>
            <p:nvPr/>
          </p:nvSpPr>
          <p:spPr>
            <a:xfrm>
              <a:off x="6970340" y="4069080"/>
              <a:ext cx="1459121" cy="2011680"/>
            </a:xfrm>
            <a:prstGeom prst="roundRect">
              <a:avLst>
                <a:gd name="adj" fmla="val 10026"/>
              </a:avLst>
            </a:prstGeom>
            <a:solidFill>
              <a:srgbClr val="3B82F6">
                <a:alpha val="7000"/>
              </a:srgbClr>
            </a:solidFill>
            <a:ln w="9525">
              <a:solidFill>
                <a:srgbClr val="3B82F6">
                  <a:alpha val="35000"/>
                </a:srgbClr>
              </a:solidFill>
            </a:ln>
          </p:spPr>
          <p:txBody>
            <a:bodyPr rtlCol="0" anchor="ctr"/>
            <a:lstStyle/>
            <a:p/>
          </p:txBody>
        </p:sp>
        <p:sp>
          <p:nvSpPr>
            <p:cNvPr id="60" name="shape_133"/>
            <p:cNvSpPr/>
            <p:nvPr/>
          </p:nvSpPr>
          <p:spPr>
            <a:xfrm>
              <a:off x="7425581" y="4251960"/>
              <a:ext cx="548640" cy="548640"/>
            </a:xfrm>
            <a:prstGeom prst="ellipse">
              <a:avLst/>
            </a:prstGeom>
            <a:solidFill>
              <a:srgbClr val="3B82F6">
                <a:alpha val="95000"/>
              </a:srgbClr>
            </a:solidFill>
            <a:ln>
              <a:noFill/>
            </a:ln>
          </p:spPr>
          <p:txBody>
            <a:bodyPr rtlCol="0" anchor="ctr"/>
            <a:lstStyle/>
            <a:p/>
          </p:txBody>
        </p:sp>
        <p:sp>
          <p:nvSpPr>
            <p:cNvPr id="61" name="text_134"/>
            <p:cNvSpPr txBox="1"/>
            <p:nvPr/>
          </p:nvSpPr>
          <p:spPr>
            <a:xfrm>
              <a:off x="7425581" y="4251960"/>
              <a:ext cx="548640" cy="548640"/>
            </a:xfrm>
            <a:prstGeom prst="rect">
              <a:avLst/>
            </a:prstGeom>
            <a:noFill/>
          </p:spPr>
          <p:txBody>
            <a:bodyPr wrap="square" lIns="0" rIns="0" tIns="0" bIns="0" anchor="ctr">
              <a:spAutoFit/>
            </a:bodyPr>
            <a:lstStyle/>
            <a:p>
              <a:pPr algn="ctr"/>
              <a:r>
                <a:rPr sz="2000" b="1" i="0">
                  <a:solidFill>
                    <a:srgbClr val="0B0D14"/>
                  </a:solidFill>
                  <a:latin typeface="Arial"/>
                </a:rPr>
                <a:t>I</a:t>
              </a:r>
            </a:p>
          </p:txBody>
        </p:sp>
        <p:sp>
          <p:nvSpPr>
            <p:cNvPr id="62" name="text_135"/>
            <p:cNvSpPr txBox="1"/>
            <p:nvPr/>
          </p:nvSpPr>
          <p:spPr>
            <a:xfrm>
              <a:off x="7043492" y="4892040"/>
              <a:ext cx="1312817" cy="274320"/>
            </a:xfrm>
            <a:prstGeom prst="rect">
              <a:avLst/>
            </a:prstGeom>
            <a:noFill/>
          </p:spPr>
          <p:txBody>
            <a:bodyPr wrap="square" lIns="0" rIns="0" tIns="0" bIns="0" anchor="t">
              <a:spAutoFit/>
            </a:bodyPr>
            <a:lstStyle/>
            <a:p>
              <a:pPr algn="ctr"/>
              <a:r>
                <a:rPr sz="1500" b="1" i="0">
                  <a:solidFill>
                    <a:srgbClr val="FFFFFF"/>
                  </a:solidFill>
                  <a:latin typeface="Arial"/>
                </a:rPr>
                <a:t>Iris</a:t>
              </a:r>
            </a:p>
          </p:txBody>
        </p:sp>
        <p:sp>
          <p:nvSpPr>
            <p:cNvPr id="63" name="text_136"/>
            <p:cNvSpPr txBox="1"/>
            <p:nvPr/>
          </p:nvSpPr>
          <p:spPr>
            <a:xfrm>
              <a:off x="7043492" y="5166360"/>
              <a:ext cx="1312817" cy="438912"/>
            </a:xfrm>
            <a:prstGeom prst="rect">
              <a:avLst/>
            </a:prstGeom>
            <a:noFill/>
          </p:spPr>
          <p:txBody>
            <a:bodyPr wrap="square" lIns="0" rIns="0" tIns="0" bIns="0" anchor="t">
              <a:spAutoFit/>
            </a:bodyPr>
            <a:lstStyle/>
            <a:p>
              <a:pPr algn="ctr"/>
              <a:r>
                <a:rPr sz="1050" b="0" i="0">
                  <a:solidFill>
                    <a:srgbClr val="E6E8EF"/>
                  </a:solidFill>
                  <a:latin typeface="Arial"/>
                </a:rPr>
                <a:t>Data Analyst</a:t>
              </a:r>
            </a:p>
          </p:txBody>
        </p:sp>
        <p:sp>
          <p:nvSpPr>
            <p:cNvPr id="64" name="text_137"/>
            <p:cNvSpPr txBox="1"/>
            <p:nvPr/>
          </p:nvSpPr>
          <p:spPr>
            <a:xfrm>
              <a:off x="7043492" y="5605272"/>
              <a:ext cx="1312817" cy="411480"/>
            </a:xfrm>
            <a:prstGeom prst="rect">
              <a:avLst/>
            </a:prstGeom>
            <a:noFill/>
          </p:spPr>
          <p:txBody>
            <a:bodyPr wrap="square" lIns="0" rIns="0" tIns="0" bIns="0" anchor="t">
              <a:spAutoFit/>
            </a:bodyPr>
            <a:lstStyle/>
            <a:p>
              <a:pPr algn="ctr"/>
              <a:r>
                <a:rPr sz="950" b="1" i="0">
                  <a:solidFill>
                    <a:srgbClr val="3B82F6"/>
                  </a:solidFill>
                  <a:latin typeface="Arial"/>
                </a:rPr>
                <a:t>PromptQL · Paritok</a:t>
              </a:r>
            </a:p>
          </p:txBody>
        </p:sp>
      </p:grpSp>
      <p:cxnSp>
        <p:nvCxnSpPr>
          <p:cNvPr id="65" name="line_138"/>
          <p:cNvCxnSpPr/>
          <p:nvPr/>
        </p:nvCxnSpPr>
        <p:spPr>
          <a:xfrm>
            <a:off x="9305326" y="3822191"/>
            <a:ext cx="0" cy="246889"/>
          </a:xfrm>
          <a:prstGeom prst="line">
            <a:avLst/>
          </a:prstGeom>
          <a:ln w="15875">
            <a:solidFill>
              <a:srgbClr val="10B981">
                <a:alpha val="70000"/>
              </a:srgbClr>
            </a:solidFill>
          </a:ln>
        </p:spPr>
      </p:cxnSp>
      <p:grpSp>
        <p:nvGrpSpPr>
          <p:cNvPr id="66" name="group_139"/>
          <p:cNvGrpSpPr/>
          <p:nvPr/>
        </p:nvGrpSpPr>
        <p:grpSpPr>
          <a:xfrm>
            <a:off x="8575765" y="4069080"/>
            <a:ext cx="1459121" cy="2011680"/>
            <a:chOff x="8575765" y="4069080"/>
            <a:chExt cx="1459121" cy="2011680"/>
          </a:xfrm>
        </p:grpSpPr>
        <p:sp>
          <p:nvSpPr>
            <p:cNvPr id="67" name="shape_140"/>
            <p:cNvSpPr/>
            <p:nvPr/>
          </p:nvSpPr>
          <p:spPr>
            <a:xfrm>
              <a:off x="8575765" y="4069080"/>
              <a:ext cx="1459121" cy="2011680"/>
            </a:xfrm>
            <a:prstGeom prst="roundRect">
              <a:avLst>
                <a:gd name="adj" fmla="val 10026"/>
              </a:avLst>
            </a:prstGeom>
            <a:solidFill>
              <a:srgbClr val="10B981">
                <a:alpha val="7000"/>
              </a:srgbClr>
            </a:solidFill>
            <a:ln w="9525">
              <a:solidFill>
                <a:srgbClr val="10B981">
                  <a:alpha val="35000"/>
                </a:srgbClr>
              </a:solidFill>
            </a:ln>
          </p:spPr>
          <p:txBody>
            <a:bodyPr rtlCol="0" anchor="ctr"/>
            <a:lstStyle/>
            <a:p/>
          </p:txBody>
        </p:sp>
        <p:sp>
          <p:nvSpPr>
            <p:cNvPr id="68" name="shape_141"/>
            <p:cNvSpPr/>
            <p:nvPr/>
          </p:nvSpPr>
          <p:spPr>
            <a:xfrm>
              <a:off x="9031006" y="4251960"/>
              <a:ext cx="548640" cy="548640"/>
            </a:xfrm>
            <a:prstGeom prst="ellipse">
              <a:avLst/>
            </a:prstGeom>
            <a:solidFill>
              <a:srgbClr val="10B981">
                <a:alpha val="95000"/>
              </a:srgbClr>
            </a:solidFill>
            <a:ln>
              <a:noFill/>
            </a:ln>
          </p:spPr>
          <p:txBody>
            <a:bodyPr rtlCol="0" anchor="ctr"/>
            <a:lstStyle/>
            <a:p/>
          </p:txBody>
        </p:sp>
        <p:sp>
          <p:nvSpPr>
            <p:cNvPr id="69" name="text_142"/>
            <p:cNvSpPr txBox="1"/>
            <p:nvPr/>
          </p:nvSpPr>
          <p:spPr>
            <a:xfrm>
              <a:off x="9031006" y="4251960"/>
              <a:ext cx="548640" cy="548640"/>
            </a:xfrm>
            <a:prstGeom prst="rect">
              <a:avLst/>
            </a:prstGeom>
            <a:noFill/>
          </p:spPr>
          <p:txBody>
            <a:bodyPr wrap="square" lIns="0" rIns="0" tIns="0" bIns="0" anchor="ctr">
              <a:spAutoFit/>
            </a:bodyPr>
            <a:lstStyle/>
            <a:p>
              <a:pPr algn="ctr"/>
              <a:r>
                <a:rPr sz="2000" b="1" i="0">
                  <a:solidFill>
                    <a:srgbClr val="0B0D14"/>
                  </a:solidFill>
                  <a:latin typeface="Arial"/>
                </a:rPr>
                <a:t>J</a:t>
              </a:r>
            </a:p>
          </p:txBody>
        </p:sp>
        <p:sp>
          <p:nvSpPr>
            <p:cNvPr id="70" name="text_143"/>
            <p:cNvSpPr txBox="1"/>
            <p:nvPr/>
          </p:nvSpPr>
          <p:spPr>
            <a:xfrm>
              <a:off x="8648917" y="4892040"/>
              <a:ext cx="1312817" cy="274320"/>
            </a:xfrm>
            <a:prstGeom prst="rect">
              <a:avLst/>
            </a:prstGeom>
            <a:noFill/>
          </p:spPr>
          <p:txBody>
            <a:bodyPr wrap="square" lIns="0" rIns="0" tIns="0" bIns="0" anchor="t">
              <a:spAutoFit/>
            </a:bodyPr>
            <a:lstStyle/>
            <a:p>
              <a:pPr algn="ctr"/>
              <a:r>
                <a:rPr sz="1500" b="1" i="0">
                  <a:solidFill>
                    <a:srgbClr val="FFFFFF"/>
                  </a:solidFill>
                  <a:latin typeface="Arial"/>
                </a:rPr>
                <a:t>Juno</a:t>
              </a:r>
            </a:p>
          </p:txBody>
        </p:sp>
        <p:sp>
          <p:nvSpPr>
            <p:cNvPr id="71" name="text_144"/>
            <p:cNvSpPr txBox="1"/>
            <p:nvPr/>
          </p:nvSpPr>
          <p:spPr>
            <a:xfrm>
              <a:off x="8648917" y="5166360"/>
              <a:ext cx="1312817" cy="438912"/>
            </a:xfrm>
            <a:prstGeom prst="rect">
              <a:avLst/>
            </a:prstGeom>
            <a:noFill/>
          </p:spPr>
          <p:txBody>
            <a:bodyPr wrap="square" lIns="0" rIns="0" tIns="0" bIns="0" anchor="t">
              <a:spAutoFit/>
            </a:bodyPr>
            <a:lstStyle/>
            <a:p>
              <a:pPr algn="ctr"/>
              <a:r>
                <a:rPr sz="1050" b="0" i="0">
                  <a:solidFill>
                    <a:srgbClr val="E6E8EF"/>
                  </a:solidFill>
                  <a:latin typeface="Arial"/>
                </a:rPr>
                <a:t>Policy &amp; Product Manager</a:t>
              </a:r>
            </a:p>
          </p:txBody>
        </p:sp>
        <p:sp>
          <p:nvSpPr>
            <p:cNvPr id="72" name="text_145"/>
            <p:cNvSpPr txBox="1"/>
            <p:nvPr/>
          </p:nvSpPr>
          <p:spPr>
            <a:xfrm>
              <a:off x="8648917" y="5605272"/>
              <a:ext cx="1312817" cy="411480"/>
            </a:xfrm>
            <a:prstGeom prst="rect">
              <a:avLst/>
            </a:prstGeom>
            <a:noFill/>
          </p:spPr>
          <p:txBody>
            <a:bodyPr wrap="square" lIns="0" rIns="0" tIns="0" bIns="0" anchor="t">
              <a:spAutoFit/>
            </a:bodyPr>
            <a:lstStyle/>
            <a:p>
              <a:pPr algn="ctr"/>
              <a:r>
                <a:rPr sz="950" b="1" i="0">
                  <a:solidFill>
                    <a:srgbClr val="10B981"/>
                  </a:solidFill>
                  <a:latin typeface="Arial"/>
                </a:rPr>
                <a:t>Prelint · Finch</a:t>
              </a:r>
            </a:p>
          </p:txBody>
        </p:sp>
      </p:grpSp>
      <p:cxnSp>
        <p:nvCxnSpPr>
          <p:cNvPr id="73" name="line_146"/>
          <p:cNvCxnSpPr/>
          <p:nvPr/>
        </p:nvCxnSpPr>
        <p:spPr>
          <a:xfrm>
            <a:off x="10910751" y="3822191"/>
            <a:ext cx="0" cy="246889"/>
          </a:xfrm>
          <a:prstGeom prst="line">
            <a:avLst/>
          </a:prstGeom>
          <a:ln w="15875">
            <a:solidFill>
              <a:srgbClr val="A78BFA">
                <a:alpha val="70000"/>
              </a:srgbClr>
            </a:solidFill>
          </a:ln>
        </p:spPr>
      </p:cxnSp>
      <p:grpSp>
        <p:nvGrpSpPr>
          <p:cNvPr id="74" name="group_147"/>
          <p:cNvGrpSpPr/>
          <p:nvPr/>
        </p:nvGrpSpPr>
        <p:grpSpPr>
          <a:xfrm>
            <a:off x="10181190" y="4069080"/>
            <a:ext cx="1459121" cy="2011680"/>
            <a:chOff x="10181190" y="4069080"/>
            <a:chExt cx="1459121" cy="2011680"/>
          </a:xfrm>
        </p:grpSpPr>
        <p:sp>
          <p:nvSpPr>
            <p:cNvPr id="75" name="shape_148"/>
            <p:cNvSpPr/>
            <p:nvPr/>
          </p:nvSpPr>
          <p:spPr>
            <a:xfrm>
              <a:off x="10181190" y="4069080"/>
              <a:ext cx="1459121" cy="2011680"/>
            </a:xfrm>
            <a:prstGeom prst="roundRect">
              <a:avLst>
                <a:gd name="adj" fmla="val 10026"/>
              </a:avLst>
            </a:prstGeom>
            <a:solidFill>
              <a:srgbClr val="A78BFA">
                <a:alpha val="7000"/>
              </a:srgbClr>
            </a:solidFill>
            <a:ln w="9525">
              <a:solidFill>
                <a:srgbClr val="A78BFA">
                  <a:alpha val="35000"/>
                </a:srgbClr>
              </a:solidFill>
            </a:ln>
          </p:spPr>
          <p:txBody>
            <a:bodyPr rtlCol="0" anchor="ctr"/>
            <a:lstStyle/>
            <a:p/>
          </p:txBody>
        </p:sp>
        <p:sp>
          <p:nvSpPr>
            <p:cNvPr id="76" name="shape_149"/>
            <p:cNvSpPr/>
            <p:nvPr/>
          </p:nvSpPr>
          <p:spPr>
            <a:xfrm>
              <a:off x="10636431" y="4251960"/>
              <a:ext cx="548640" cy="548640"/>
            </a:xfrm>
            <a:prstGeom prst="ellipse">
              <a:avLst/>
            </a:prstGeom>
            <a:solidFill>
              <a:srgbClr val="A78BFA">
                <a:alpha val="95000"/>
              </a:srgbClr>
            </a:solidFill>
            <a:ln>
              <a:noFill/>
            </a:ln>
          </p:spPr>
          <p:txBody>
            <a:bodyPr rtlCol="0" anchor="ctr"/>
            <a:lstStyle/>
            <a:p/>
          </p:txBody>
        </p:sp>
        <p:sp>
          <p:nvSpPr>
            <p:cNvPr id="77" name="text_150"/>
            <p:cNvSpPr txBox="1"/>
            <p:nvPr/>
          </p:nvSpPr>
          <p:spPr>
            <a:xfrm>
              <a:off x="10636431" y="4251960"/>
              <a:ext cx="548640" cy="548640"/>
            </a:xfrm>
            <a:prstGeom prst="rect">
              <a:avLst/>
            </a:prstGeom>
            <a:noFill/>
          </p:spPr>
          <p:txBody>
            <a:bodyPr wrap="square" lIns="0" rIns="0" tIns="0" bIns="0" anchor="ctr">
              <a:spAutoFit/>
            </a:bodyPr>
            <a:lstStyle/>
            <a:p>
              <a:pPr algn="ctr"/>
              <a:r>
                <a:rPr sz="2000" b="1" i="0">
                  <a:solidFill>
                    <a:srgbClr val="0B0D14"/>
                  </a:solidFill>
                  <a:latin typeface="Arial"/>
                </a:rPr>
                <a:t>L</a:t>
              </a:r>
            </a:p>
          </p:txBody>
        </p:sp>
        <p:sp>
          <p:nvSpPr>
            <p:cNvPr id="78" name="text_151"/>
            <p:cNvSpPr txBox="1"/>
            <p:nvPr/>
          </p:nvSpPr>
          <p:spPr>
            <a:xfrm>
              <a:off x="10254342" y="4892040"/>
              <a:ext cx="1312817" cy="274320"/>
            </a:xfrm>
            <a:prstGeom prst="rect">
              <a:avLst/>
            </a:prstGeom>
            <a:noFill/>
          </p:spPr>
          <p:txBody>
            <a:bodyPr wrap="square" lIns="0" rIns="0" tIns="0" bIns="0" anchor="t">
              <a:spAutoFit/>
            </a:bodyPr>
            <a:lstStyle/>
            <a:p>
              <a:pPr algn="ctr"/>
              <a:r>
                <a:rPr sz="1500" b="1" i="0">
                  <a:solidFill>
                    <a:srgbClr val="FFFFFF"/>
                  </a:solidFill>
                  <a:latin typeface="Arial"/>
                </a:rPr>
                <a:t>Leo</a:t>
              </a:r>
            </a:p>
          </p:txBody>
        </p:sp>
        <p:sp>
          <p:nvSpPr>
            <p:cNvPr id="79" name="text_152"/>
            <p:cNvSpPr txBox="1"/>
            <p:nvPr/>
          </p:nvSpPr>
          <p:spPr>
            <a:xfrm>
              <a:off x="10254342" y="5166360"/>
              <a:ext cx="1312817" cy="438912"/>
            </a:xfrm>
            <a:prstGeom prst="rect">
              <a:avLst/>
            </a:prstGeom>
            <a:noFill/>
          </p:spPr>
          <p:txBody>
            <a:bodyPr wrap="square" lIns="0" rIns="0" tIns="0" bIns="0" anchor="t">
              <a:spAutoFit/>
            </a:bodyPr>
            <a:lstStyle/>
            <a:p>
              <a:pPr algn="ctr"/>
              <a:r>
                <a:rPr sz="1050" b="0" i="0">
                  <a:solidFill>
                    <a:srgbClr val="E6E8EF"/>
                  </a:solidFill>
                  <a:latin typeface="Arial"/>
                </a:rPr>
                <a:t>Growth &amp; Customer Success</a:t>
              </a:r>
            </a:p>
          </p:txBody>
        </p:sp>
        <p:sp>
          <p:nvSpPr>
            <p:cNvPr id="80" name="text_153"/>
            <p:cNvSpPr txBox="1"/>
            <p:nvPr/>
          </p:nvSpPr>
          <p:spPr>
            <a:xfrm>
              <a:off x="10254342" y="5605272"/>
              <a:ext cx="1312817" cy="411480"/>
            </a:xfrm>
            <a:prstGeom prst="rect">
              <a:avLst/>
            </a:prstGeom>
            <a:noFill/>
          </p:spPr>
          <p:txBody>
            <a:bodyPr wrap="square" lIns="0" rIns="0" tIns="0" bIns="0" anchor="t">
              <a:spAutoFit/>
            </a:bodyPr>
            <a:lstStyle/>
            <a:p>
              <a:pPr algn="ctr"/>
              <a:r>
                <a:rPr sz="950" b="1" i="0">
                  <a:solidFill>
                    <a:srgbClr val="A78BFA"/>
                  </a:solidFill>
                  <a:latin typeface="Arial"/>
                </a:rPr>
                <a:t>n8n · AdaL · Masky</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600"/>
                                        <p:tgtEl>
                                          <p:spTgt spid="10"/>
                                        </p:tgtEl>
                                      </p:cBhvr>
                                    </p:animEffect>
                                    <p:anim calcmode="lin" valueType="num">
                                      <p:cBhvr additive="base">
                                        <p:cTn id="11" dur="600" fill="hold"/>
                                        <p:tgtEl>
                                          <p:spTgt spid="10"/>
                                        </p:tgtEl>
                                        <p:attrNameLst>
                                          <p:attrName>ppt_x</p:attrName>
                                        </p:attrNameLst>
                                      </p:cBhvr>
                                      <p:tavLst>
                                        <p:tav tm="0">
                                          <p:val>
                                            <p:strVal val="#ppt_x"/>
                                          </p:val>
                                        </p:tav>
                                        <p:tav tm="100000">
                                          <p:val>
                                            <p:strVal val="#ppt_x"/>
                                          </p:val>
                                        </p:tav>
                                      </p:tavLst>
                                    </p:anim>
                                    <p:anim calcmode="lin" valueType="num">
                                      <p:cBhvr additive="base">
                                        <p:cTn id="12" dur="600" fill="hold"/>
                                        <p:tgtEl>
                                          <p:spTgt spid="10"/>
                                        </p:tgtEl>
                                        <p:attrNameLst>
                                          <p:attrName>ppt_y</p:attrName>
                                        </p:attrNameLst>
                                      </p:cBhvr>
                                      <p:tavLst>
                                        <p:tav tm="0">
                                          <p:val>
                                            <p:strVal val="#ppt_y+.06"/>
                                          </p:val>
                                        </p:tav>
                                        <p:tav tm="100000">
                                          <p:val>
                                            <p:strVal val="#ppt_y"/>
                                          </p:val>
                                        </p:tav>
                                      </p:tavLst>
                                    </p:anim>
                                  </p:childTnLst>
                                </p:cTn>
                              </p:par>
                              <p:par>
                                <p:cTn id="13" presetID="53" presetClass="entr" presetSubtype="16" fill="hold" grpId="0" nodeType="withEffect">
                                  <p:stCondLst>
                                    <p:cond delay="30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600" fill="hold"/>
                                        <p:tgtEl>
                                          <p:spTgt spid="11"/>
                                        </p:tgtEl>
                                        <p:attrNameLst>
                                          <p:attrName>ppt_w</p:attrName>
                                        </p:attrNameLst>
                                      </p:cBhvr>
                                      <p:tavLst>
                                        <p:tav tm="0">
                                          <p:val>
                                            <p:strVal val="0"/>
                                          </p:val>
                                        </p:tav>
                                        <p:tav tm="100000">
                                          <p:val>
                                            <p:strVal val="#ppt_w"/>
                                          </p:val>
                                        </p:tav>
                                      </p:tavLst>
                                    </p:anim>
                                    <p:anim calcmode="lin" valueType="num">
                                      <p:cBhvr additive="base">
                                        <p:cTn id="16" dur="600" fill="hold"/>
                                        <p:tgtEl>
                                          <p:spTgt spid="11"/>
                                        </p:tgtEl>
                                        <p:attrNameLst>
                                          <p:attrName>ppt_h</p:attrName>
                                        </p:attrNameLst>
                                      </p:cBhvr>
                                      <p:tavLst>
                                        <p:tav tm="0">
                                          <p:val>
                                            <p:strVal val="0"/>
                                          </p:val>
                                        </p:tav>
                                        <p:tav tm="100000">
                                          <p:val>
                                            <p:strVal val="#ppt_h"/>
                                          </p:val>
                                        </p:tav>
                                      </p:tavLst>
                                    </p:anim>
                                    <p:animEffect transition="in" filter="fade">
                                      <p:cBhvr>
                                        <p:cTn id="17" dur="600"/>
                                        <p:tgtEl>
                                          <p:spTgt spid="11"/>
                                        </p:tgtEl>
                                      </p:cBhvr>
                                    </p:animEffect>
                                  </p:childTnLst>
                                </p:cTn>
                              </p:par>
                              <p:par>
                                <p:cTn id="18" presetID="53" presetClass="entr" presetSubtype="16" fill="hold" grpId="0" nodeType="withEffect">
                                  <p:stCondLst>
                                    <p:cond delay="550"/>
                                  </p:stCondLst>
                                  <p:childTnLst>
                                    <p:set>
                                      <p:cBhvr>
                                        <p:cTn id="19" dur="1" fill="hold">
                                          <p:stCondLst>
                                            <p:cond delay="0"/>
                                          </p:stCondLst>
                                        </p:cTn>
                                        <p:tgtEl>
                                          <p:spTgt spid="16"/>
                                        </p:tgtEl>
                                        <p:attrNameLst>
                                          <p:attrName>style.visibility</p:attrName>
                                        </p:attrNameLst>
                                      </p:cBhvr>
                                      <p:to>
                                        <p:strVal val="visible"/>
                                      </p:to>
                                    </p:set>
                                    <p:anim calcmode="lin" valueType="num">
                                      <p:cBhvr additive="base">
                                        <p:cTn id="20" dur="600" fill="hold"/>
                                        <p:tgtEl>
                                          <p:spTgt spid="16"/>
                                        </p:tgtEl>
                                        <p:attrNameLst>
                                          <p:attrName>ppt_w</p:attrName>
                                        </p:attrNameLst>
                                      </p:cBhvr>
                                      <p:tavLst>
                                        <p:tav tm="0">
                                          <p:val>
                                            <p:strVal val="0"/>
                                          </p:val>
                                        </p:tav>
                                        <p:tav tm="100000">
                                          <p:val>
                                            <p:strVal val="#ppt_w"/>
                                          </p:val>
                                        </p:tav>
                                      </p:tavLst>
                                    </p:anim>
                                    <p:anim calcmode="lin" valueType="num">
                                      <p:cBhvr additive="base">
                                        <p:cTn id="21" dur="600" fill="hold"/>
                                        <p:tgtEl>
                                          <p:spTgt spid="16"/>
                                        </p:tgtEl>
                                        <p:attrNameLst>
                                          <p:attrName>ppt_h</p:attrName>
                                        </p:attrNameLst>
                                      </p:cBhvr>
                                      <p:tavLst>
                                        <p:tav tm="0">
                                          <p:val>
                                            <p:strVal val="0"/>
                                          </p:val>
                                        </p:tav>
                                        <p:tav tm="100000">
                                          <p:val>
                                            <p:strVal val="#ppt_h"/>
                                          </p:val>
                                        </p:tav>
                                      </p:tavLst>
                                    </p:anim>
                                    <p:animEffect transition="in" filter="fade">
                                      <p:cBhvr>
                                        <p:cTn id="22" dur="600"/>
                                        <p:tgtEl>
                                          <p:spTgt spid="16"/>
                                        </p:tgtEl>
                                      </p:cBhvr>
                                    </p:animEffect>
                                  </p:childTnLst>
                                </p:cTn>
                              </p:par>
                              <p:par>
                                <p:cTn id="23" presetID="10" presetClass="entr" presetSubtype="0" fill="hold" grpId="0" nodeType="withEffect">
                                  <p:stCondLst>
                                    <p:cond delay="45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600"/>
                                        <p:tgtEl>
                                          <p:spTgt spid="22"/>
                                        </p:tgtEl>
                                      </p:cBhvr>
                                    </p:animEffect>
                                  </p:childTnLst>
                                </p:cTn>
                              </p:par>
                              <p:par>
                                <p:cTn id="26" presetID="10" presetClass="entr" presetSubtype="0" fill="hold" grpId="0" nodeType="withEffect">
                                  <p:stCondLst>
                                    <p:cond delay="75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600"/>
                                        <p:tgtEl>
                                          <p:spTgt spid="24"/>
                                        </p:tgtEl>
                                      </p:cBhvr>
                                    </p:animEffect>
                                  </p:childTnLst>
                                </p:cTn>
                              </p:par>
                              <p:par>
                                <p:cTn id="29" presetID="10" presetClass="entr" presetSubtype="0" fill="hold" grpId="0" nodeType="withEffect">
                                  <p:stCondLst>
                                    <p:cond delay="80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600"/>
                                        <p:tgtEl>
                                          <p:spTgt spid="23"/>
                                        </p:tgtEl>
                                      </p:cBhvr>
                                    </p:animEffect>
                                  </p:childTnLst>
                                </p:cTn>
                              </p:par>
                              <p:par>
                                <p:cTn id="32" presetID="10" presetClass="entr" presetSubtype="0" fill="hold" grpId="0" nodeType="withEffect">
                                  <p:stCondLst>
                                    <p:cond delay="90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600"/>
                                        <p:tgtEl>
                                          <p:spTgt spid="25"/>
                                        </p:tgtEl>
                                      </p:cBhvr>
                                    </p:animEffect>
                                  </p:childTnLst>
                                </p:cTn>
                              </p:par>
                              <p:par>
                                <p:cTn id="35" presetID="42" presetClass="entr" presetSubtype="0" fill="hold" grpId="0" nodeType="withEffect">
                                  <p:stCondLst>
                                    <p:cond delay="95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600"/>
                                        <p:tgtEl>
                                          <p:spTgt spid="26"/>
                                        </p:tgtEl>
                                      </p:cBhvr>
                                    </p:animEffect>
                                    <p:anim calcmode="lin" valueType="num">
                                      <p:cBhvr additive="base">
                                        <p:cTn id="38" dur="600" fill="hold"/>
                                        <p:tgtEl>
                                          <p:spTgt spid="26"/>
                                        </p:tgtEl>
                                        <p:attrNameLst>
                                          <p:attrName>ppt_x</p:attrName>
                                        </p:attrNameLst>
                                      </p:cBhvr>
                                      <p:tavLst>
                                        <p:tav tm="0">
                                          <p:val>
                                            <p:strVal val="#ppt_x"/>
                                          </p:val>
                                        </p:tav>
                                        <p:tav tm="100000">
                                          <p:val>
                                            <p:strVal val="#ppt_x"/>
                                          </p:val>
                                        </p:tav>
                                      </p:tavLst>
                                    </p:anim>
                                    <p:anim calcmode="lin" valueType="num">
                                      <p:cBhvr additive="base">
                                        <p:cTn id="39" dur="600" fill="hold"/>
                                        <p:tgtEl>
                                          <p:spTgt spid="26"/>
                                        </p:tgtEl>
                                        <p:attrNameLst>
                                          <p:attrName>ppt_y</p:attrName>
                                        </p:attrNameLst>
                                      </p:cBhvr>
                                      <p:tavLst>
                                        <p:tav tm="0">
                                          <p:val>
                                            <p:strVal val="#ppt_y+.06"/>
                                          </p:val>
                                        </p:tav>
                                        <p:tav tm="100000">
                                          <p:val>
                                            <p:strVal val="#ppt_y"/>
                                          </p:val>
                                        </p:tav>
                                      </p:tavLst>
                                    </p:anim>
                                  </p:childTnLst>
                                </p:cTn>
                              </p:par>
                              <p:par>
                                <p:cTn id="40" presetID="10" presetClass="entr" presetSubtype="0" fill="hold" grpId="0" nodeType="withEffect">
                                  <p:stCondLst>
                                    <p:cond delay="101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600"/>
                                        <p:tgtEl>
                                          <p:spTgt spid="33"/>
                                        </p:tgtEl>
                                      </p:cBhvr>
                                    </p:animEffect>
                                  </p:childTnLst>
                                </p:cTn>
                              </p:par>
                              <p:par>
                                <p:cTn id="43" presetID="42" presetClass="entr" presetSubtype="0" fill="hold" grpId="0" nodeType="withEffect">
                                  <p:stCondLst>
                                    <p:cond delay="106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600"/>
                                        <p:tgtEl>
                                          <p:spTgt spid="34"/>
                                        </p:tgtEl>
                                      </p:cBhvr>
                                    </p:animEffect>
                                    <p:anim calcmode="lin" valueType="num">
                                      <p:cBhvr additive="base">
                                        <p:cTn id="46" dur="600" fill="hold"/>
                                        <p:tgtEl>
                                          <p:spTgt spid="34"/>
                                        </p:tgtEl>
                                        <p:attrNameLst>
                                          <p:attrName>ppt_x</p:attrName>
                                        </p:attrNameLst>
                                      </p:cBhvr>
                                      <p:tavLst>
                                        <p:tav tm="0">
                                          <p:val>
                                            <p:strVal val="#ppt_x"/>
                                          </p:val>
                                        </p:tav>
                                        <p:tav tm="100000">
                                          <p:val>
                                            <p:strVal val="#ppt_x"/>
                                          </p:val>
                                        </p:tav>
                                      </p:tavLst>
                                    </p:anim>
                                    <p:anim calcmode="lin" valueType="num">
                                      <p:cBhvr additive="base">
                                        <p:cTn id="47" dur="600" fill="hold"/>
                                        <p:tgtEl>
                                          <p:spTgt spid="34"/>
                                        </p:tgtEl>
                                        <p:attrNameLst>
                                          <p:attrName>ppt_y</p:attrName>
                                        </p:attrNameLst>
                                      </p:cBhvr>
                                      <p:tavLst>
                                        <p:tav tm="0">
                                          <p:val>
                                            <p:strVal val="#ppt_y+.06"/>
                                          </p:val>
                                        </p:tav>
                                        <p:tav tm="100000">
                                          <p:val>
                                            <p:strVal val="#ppt_y"/>
                                          </p:val>
                                        </p:tav>
                                      </p:tavLst>
                                    </p:anim>
                                  </p:childTnLst>
                                </p:cTn>
                              </p:par>
                              <p:par>
                                <p:cTn id="48" presetID="10" presetClass="entr" presetSubtype="0" fill="hold" grpId="0" nodeType="withEffect">
                                  <p:stCondLst>
                                    <p:cond delay="1120"/>
                                  </p:stCondLst>
                                  <p:childTnLst>
                                    <p:set>
                                      <p:cBhvr>
                                        <p:cTn id="49" dur="1" fill="hold">
                                          <p:stCondLst>
                                            <p:cond delay="0"/>
                                          </p:stCondLst>
                                        </p:cTn>
                                        <p:tgtEl>
                                          <p:spTgt spid="41"/>
                                        </p:tgtEl>
                                        <p:attrNameLst>
                                          <p:attrName>style.visibility</p:attrName>
                                        </p:attrNameLst>
                                      </p:cBhvr>
                                      <p:to>
                                        <p:strVal val="visible"/>
                                      </p:to>
                                    </p:set>
                                    <p:animEffect transition="in" filter="fade">
                                      <p:cBhvr>
                                        <p:cTn id="50" dur="600"/>
                                        <p:tgtEl>
                                          <p:spTgt spid="41"/>
                                        </p:tgtEl>
                                      </p:cBhvr>
                                    </p:animEffect>
                                  </p:childTnLst>
                                </p:cTn>
                              </p:par>
                              <p:par>
                                <p:cTn id="51" presetID="42" presetClass="entr" presetSubtype="0" fill="hold" grpId="0" nodeType="withEffect">
                                  <p:stCondLst>
                                    <p:cond delay="1170"/>
                                  </p:stCondLst>
                                  <p:childTnLst>
                                    <p:set>
                                      <p:cBhvr>
                                        <p:cTn id="52" dur="1" fill="hold">
                                          <p:stCondLst>
                                            <p:cond delay="0"/>
                                          </p:stCondLst>
                                        </p:cTn>
                                        <p:tgtEl>
                                          <p:spTgt spid="42"/>
                                        </p:tgtEl>
                                        <p:attrNameLst>
                                          <p:attrName>style.visibility</p:attrName>
                                        </p:attrNameLst>
                                      </p:cBhvr>
                                      <p:to>
                                        <p:strVal val="visible"/>
                                      </p:to>
                                    </p:set>
                                    <p:animEffect transition="in" filter="fade">
                                      <p:cBhvr>
                                        <p:cTn id="53" dur="600"/>
                                        <p:tgtEl>
                                          <p:spTgt spid="42"/>
                                        </p:tgtEl>
                                      </p:cBhvr>
                                    </p:animEffect>
                                    <p:anim calcmode="lin" valueType="num">
                                      <p:cBhvr additive="base">
                                        <p:cTn id="54" dur="600" fill="hold"/>
                                        <p:tgtEl>
                                          <p:spTgt spid="42"/>
                                        </p:tgtEl>
                                        <p:attrNameLst>
                                          <p:attrName>ppt_x</p:attrName>
                                        </p:attrNameLst>
                                      </p:cBhvr>
                                      <p:tavLst>
                                        <p:tav tm="0">
                                          <p:val>
                                            <p:strVal val="#ppt_x"/>
                                          </p:val>
                                        </p:tav>
                                        <p:tav tm="100000">
                                          <p:val>
                                            <p:strVal val="#ppt_x"/>
                                          </p:val>
                                        </p:tav>
                                      </p:tavLst>
                                    </p:anim>
                                    <p:anim calcmode="lin" valueType="num">
                                      <p:cBhvr additive="base">
                                        <p:cTn id="55" dur="600" fill="hold"/>
                                        <p:tgtEl>
                                          <p:spTgt spid="42"/>
                                        </p:tgtEl>
                                        <p:attrNameLst>
                                          <p:attrName>ppt_y</p:attrName>
                                        </p:attrNameLst>
                                      </p:cBhvr>
                                      <p:tavLst>
                                        <p:tav tm="0">
                                          <p:val>
                                            <p:strVal val="#ppt_y+.06"/>
                                          </p:val>
                                        </p:tav>
                                        <p:tav tm="100000">
                                          <p:val>
                                            <p:strVal val="#ppt_y"/>
                                          </p:val>
                                        </p:tav>
                                      </p:tavLst>
                                    </p:anim>
                                  </p:childTnLst>
                                </p:cTn>
                              </p:par>
                              <p:par>
                                <p:cTn id="56" presetID="10" presetClass="entr" presetSubtype="0" fill="hold" grpId="0" nodeType="withEffect">
                                  <p:stCondLst>
                                    <p:cond delay="1230"/>
                                  </p:stCondLst>
                                  <p:childTnLst>
                                    <p:set>
                                      <p:cBhvr>
                                        <p:cTn id="57" dur="1" fill="hold">
                                          <p:stCondLst>
                                            <p:cond delay="0"/>
                                          </p:stCondLst>
                                        </p:cTn>
                                        <p:tgtEl>
                                          <p:spTgt spid="49"/>
                                        </p:tgtEl>
                                        <p:attrNameLst>
                                          <p:attrName>style.visibility</p:attrName>
                                        </p:attrNameLst>
                                      </p:cBhvr>
                                      <p:to>
                                        <p:strVal val="visible"/>
                                      </p:to>
                                    </p:set>
                                    <p:animEffect transition="in" filter="fade">
                                      <p:cBhvr>
                                        <p:cTn id="58" dur="600"/>
                                        <p:tgtEl>
                                          <p:spTgt spid="49"/>
                                        </p:tgtEl>
                                      </p:cBhvr>
                                    </p:animEffect>
                                  </p:childTnLst>
                                </p:cTn>
                              </p:par>
                              <p:par>
                                <p:cTn id="59" presetID="42" presetClass="entr" presetSubtype="0" fill="hold" grpId="0" nodeType="withEffect">
                                  <p:stCondLst>
                                    <p:cond delay="1280"/>
                                  </p:stCondLst>
                                  <p:childTnLst>
                                    <p:set>
                                      <p:cBhvr>
                                        <p:cTn id="60" dur="1" fill="hold">
                                          <p:stCondLst>
                                            <p:cond delay="0"/>
                                          </p:stCondLst>
                                        </p:cTn>
                                        <p:tgtEl>
                                          <p:spTgt spid="50"/>
                                        </p:tgtEl>
                                        <p:attrNameLst>
                                          <p:attrName>style.visibility</p:attrName>
                                        </p:attrNameLst>
                                      </p:cBhvr>
                                      <p:to>
                                        <p:strVal val="visible"/>
                                      </p:to>
                                    </p:set>
                                    <p:animEffect transition="in" filter="fade">
                                      <p:cBhvr>
                                        <p:cTn id="61" dur="600"/>
                                        <p:tgtEl>
                                          <p:spTgt spid="50"/>
                                        </p:tgtEl>
                                      </p:cBhvr>
                                    </p:animEffect>
                                    <p:anim calcmode="lin" valueType="num">
                                      <p:cBhvr additive="base">
                                        <p:cTn id="62" dur="600" fill="hold"/>
                                        <p:tgtEl>
                                          <p:spTgt spid="50"/>
                                        </p:tgtEl>
                                        <p:attrNameLst>
                                          <p:attrName>ppt_x</p:attrName>
                                        </p:attrNameLst>
                                      </p:cBhvr>
                                      <p:tavLst>
                                        <p:tav tm="0">
                                          <p:val>
                                            <p:strVal val="#ppt_x"/>
                                          </p:val>
                                        </p:tav>
                                        <p:tav tm="100000">
                                          <p:val>
                                            <p:strVal val="#ppt_x"/>
                                          </p:val>
                                        </p:tav>
                                      </p:tavLst>
                                    </p:anim>
                                    <p:anim calcmode="lin" valueType="num">
                                      <p:cBhvr additive="base">
                                        <p:cTn id="63" dur="600" fill="hold"/>
                                        <p:tgtEl>
                                          <p:spTgt spid="50"/>
                                        </p:tgtEl>
                                        <p:attrNameLst>
                                          <p:attrName>ppt_y</p:attrName>
                                        </p:attrNameLst>
                                      </p:cBhvr>
                                      <p:tavLst>
                                        <p:tav tm="0">
                                          <p:val>
                                            <p:strVal val="#ppt_y+.06"/>
                                          </p:val>
                                        </p:tav>
                                        <p:tav tm="100000">
                                          <p:val>
                                            <p:strVal val="#ppt_y"/>
                                          </p:val>
                                        </p:tav>
                                      </p:tavLst>
                                    </p:anim>
                                  </p:childTnLst>
                                </p:cTn>
                              </p:par>
                              <p:par>
                                <p:cTn id="64" presetID="10" presetClass="entr" presetSubtype="0" fill="hold" grpId="0" nodeType="withEffect">
                                  <p:stCondLst>
                                    <p:cond delay="1340"/>
                                  </p:stCondLst>
                                  <p:childTnLst>
                                    <p:set>
                                      <p:cBhvr>
                                        <p:cTn id="65" dur="1" fill="hold">
                                          <p:stCondLst>
                                            <p:cond delay="0"/>
                                          </p:stCondLst>
                                        </p:cTn>
                                        <p:tgtEl>
                                          <p:spTgt spid="57"/>
                                        </p:tgtEl>
                                        <p:attrNameLst>
                                          <p:attrName>style.visibility</p:attrName>
                                        </p:attrNameLst>
                                      </p:cBhvr>
                                      <p:to>
                                        <p:strVal val="visible"/>
                                      </p:to>
                                    </p:set>
                                    <p:animEffect transition="in" filter="fade">
                                      <p:cBhvr>
                                        <p:cTn id="66" dur="600"/>
                                        <p:tgtEl>
                                          <p:spTgt spid="57"/>
                                        </p:tgtEl>
                                      </p:cBhvr>
                                    </p:animEffect>
                                  </p:childTnLst>
                                </p:cTn>
                              </p:par>
                              <p:par>
                                <p:cTn id="67" presetID="42" presetClass="entr" presetSubtype="0" fill="hold" grpId="0" nodeType="withEffect">
                                  <p:stCondLst>
                                    <p:cond delay="1390"/>
                                  </p:stCondLst>
                                  <p:childTnLst>
                                    <p:set>
                                      <p:cBhvr>
                                        <p:cTn id="68" dur="1" fill="hold">
                                          <p:stCondLst>
                                            <p:cond delay="0"/>
                                          </p:stCondLst>
                                        </p:cTn>
                                        <p:tgtEl>
                                          <p:spTgt spid="58"/>
                                        </p:tgtEl>
                                        <p:attrNameLst>
                                          <p:attrName>style.visibility</p:attrName>
                                        </p:attrNameLst>
                                      </p:cBhvr>
                                      <p:to>
                                        <p:strVal val="visible"/>
                                      </p:to>
                                    </p:set>
                                    <p:animEffect transition="in" filter="fade">
                                      <p:cBhvr>
                                        <p:cTn id="69" dur="600"/>
                                        <p:tgtEl>
                                          <p:spTgt spid="58"/>
                                        </p:tgtEl>
                                      </p:cBhvr>
                                    </p:animEffect>
                                    <p:anim calcmode="lin" valueType="num">
                                      <p:cBhvr additive="base">
                                        <p:cTn id="70" dur="600" fill="hold"/>
                                        <p:tgtEl>
                                          <p:spTgt spid="58"/>
                                        </p:tgtEl>
                                        <p:attrNameLst>
                                          <p:attrName>ppt_x</p:attrName>
                                        </p:attrNameLst>
                                      </p:cBhvr>
                                      <p:tavLst>
                                        <p:tav tm="0">
                                          <p:val>
                                            <p:strVal val="#ppt_x"/>
                                          </p:val>
                                        </p:tav>
                                        <p:tav tm="100000">
                                          <p:val>
                                            <p:strVal val="#ppt_x"/>
                                          </p:val>
                                        </p:tav>
                                      </p:tavLst>
                                    </p:anim>
                                    <p:anim calcmode="lin" valueType="num">
                                      <p:cBhvr additive="base">
                                        <p:cTn id="71" dur="600" fill="hold"/>
                                        <p:tgtEl>
                                          <p:spTgt spid="58"/>
                                        </p:tgtEl>
                                        <p:attrNameLst>
                                          <p:attrName>ppt_y</p:attrName>
                                        </p:attrNameLst>
                                      </p:cBhvr>
                                      <p:tavLst>
                                        <p:tav tm="0">
                                          <p:val>
                                            <p:strVal val="#ppt_y+.06"/>
                                          </p:val>
                                        </p:tav>
                                        <p:tav tm="100000">
                                          <p:val>
                                            <p:strVal val="#ppt_y"/>
                                          </p:val>
                                        </p:tav>
                                      </p:tavLst>
                                    </p:anim>
                                  </p:childTnLst>
                                </p:cTn>
                              </p:par>
                              <p:par>
                                <p:cTn id="72" presetID="10" presetClass="entr" presetSubtype="0" fill="hold" grpId="0" nodeType="withEffect">
                                  <p:stCondLst>
                                    <p:cond delay="1450"/>
                                  </p:stCondLst>
                                  <p:childTnLst>
                                    <p:set>
                                      <p:cBhvr>
                                        <p:cTn id="73" dur="1" fill="hold">
                                          <p:stCondLst>
                                            <p:cond delay="0"/>
                                          </p:stCondLst>
                                        </p:cTn>
                                        <p:tgtEl>
                                          <p:spTgt spid="65"/>
                                        </p:tgtEl>
                                        <p:attrNameLst>
                                          <p:attrName>style.visibility</p:attrName>
                                        </p:attrNameLst>
                                      </p:cBhvr>
                                      <p:to>
                                        <p:strVal val="visible"/>
                                      </p:to>
                                    </p:set>
                                    <p:animEffect transition="in" filter="fade">
                                      <p:cBhvr>
                                        <p:cTn id="74" dur="600"/>
                                        <p:tgtEl>
                                          <p:spTgt spid="65"/>
                                        </p:tgtEl>
                                      </p:cBhvr>
                                    </p:animEffect>
                                  </p:childTnLst>
                                </p:cTn>
                              </p:par>
                              <p:par>
                                <p:cTn id="75" presetID="42" presetClass="entr" presetSubtype="0" fill="hold" grpId="0" nodeType="withEffect">
                                  <p:stCondLst>
                                    <p:cond delay="1500"/>
                                  </p:stCondLst>
                                  <p:childTnLst>
                                    <p:set>
                                      <p:cBhvr>
                                        <p:cTn id="76" dur="1" fill="hold">
                                          <p:stCondLst>
                                            <p:cond delay="0"/>
                                          </p:stCondLst>
                                        </p:cTn>
                                        <p:tgtEl>
                                          <p:spTgt spid="66"/>
                                        </p:tgtEl>
                                        <p:attrNameLst>
                                          <p:attrName>style.visibility</p:attrName>
                                        </p:attrNameLst>
                                      </p:cBhvr>
                                      <p:to>
                                        <p:strVal val="visible"/>
                                      </p:to>
                                    </p:set>
                                    <p:animEffect transition="in" filter="fade">
                                      <p:cBhvr>
                                        <p:cTn id="77" dur="600"/>
                                        <p:tgtEl>
                                          <p:spTgt spid="66"/>
                                        </p:tgtEl>
                                      </p:cBhvr>
                                    </p:animEffect>
                                    <p:anim calcmode="lin" valueType="num">
                                      <p:cBhvr additive="base">
                                        <p:cTn id="78" dur="600" fill="hold"/>
                                        <p:tgtEl>
                                          <p:spTgt spid="66"/>
                                        </p:tgtEl>
                                        <p:attrNameLst>
                                          <p:attrName>ppt_x</p:attrName>
                                        </p:attrNameLst>
                                      </p:cBhvr>
                                      <p:tavLst>
                                        <p:tav tm="0">
                                          <p:val>
                                            <p:strVal val="#ppt_x"/>
                                          </p:val>
                                        </p:tav>
                                        <p:tav tm="100000">
                                          <p:val>
                                            <p:strVal val="#ppt_x"/>
                                          </p:val>
                                        </p:tav>
                                      </p:tavLst>
                                    </p:anim>
                                    <p:anim calcmode="lin" valueType="num">
                                      <p:cBhvr additive="base">
                                        <p:cTn id="79" dur="600" fill="hold"/>
                                        <p:tgtEl>
                                          <p:spTgt spid="66"/>
                                        </p:tgtEl>
                                        <p:attrNameLst>
                                          <p:attrName>ppt_y</p:attrName>
                                        </p:attrNameLst>
                                      </p:cBhvr>
                                      <p:tavLst>
                                        <p:tav tm="0">
                                          <p:val>
                                            <p:strVal val="#ppt_y+.06"/>
                                          </p:val>
                                        </p:tav>
                                        <p:tav tm="100000">
                                          <p:val>
                                            <p:strVal val="#ppt_y"/>
                                          </p:val>
                                        </p:tav>
                                      </p:tavLst>
                                    </p:anim>
                                  </p:childTnLst>
                                </p:cTn>
                              </p:par>
                              <p:par>
                                <p:cTn id="80" presetID="10" presetClass="entr" presetSubtype="0" fill="hold" grpId="0" nodeType="withEffect">
                                  <p:stCondLst>
                                    <p:cond delay="1560"/>
                                  </p:stCondLst>
                                  <p:childTnLst>
                                    <p:set>
                                      <p:cBhvr>
                                        <p:cTn id="81" dur="1" fill="hold">
                                          <p:stCondLst>
                                            <p:cond delay="0"/>
                                          </p:stCondLst>
                                        </p:cTn>
                                        <p:tgtEl>
                                          <p:spTgt spid="73"/>
                                        </p:tgtEl>
                                        <p:attrNameLst>
                                          <p:attrName>style.visibility</p:attrName>
                                        </p:attrNameLst>
                                      </p:cBhvr>
                                      <p:to>
                                        <p:strVal val="visible"/>
                                      </p:to>
                                    </p:set>
                                    <p:animEffect transition="in" filter="fade">
                                      <p:cBhvr>
                                        <p:cTn id="82" dur="600"/>
                                        <p:tgtEl>
                                          <p:spTgt spid="73"/>
                                        </p:tgtEl>
                                      </p:cBhvr>
                                    </p:animEffect>
                                  </p:childTnLst>
                                </p:cTn>
                              </p:par>
                              <p:par>
                                <p:cTn id="83" presetID="42" presetClass="entr" presetSubtype="0" fill="hold" grpId="0" nodeType="withEffect">
                                  <p:stCondLst>
                                    <p:cond delay="1610"/>
                                  </p:stCondLst>
                                  <p:childTnLst>
                                    <p:set>
                                      <p:cBhvr>
                                        <p:cTn id="84" dur="1" fill="hold">
                                          <p:stCondLst>
                                            <p:cond delay="0"/>
                                          </p:stCondLst>
                                        </p:cTn>
                                        <p:tgtEl>
                                          <p:spTgt spid="74"/>
                                        </p:tgtEl>
                                        <p:attrNameLst>
                                          <p:attrName>style.visibility</p:attrName>
                                        </p:attrNameLst>
                                      </p:cBhvr>
                                      <p:to>
                                        <p:strVal val="visible"/>
                                      </p:to>
                                    </p:set>
                                    <p:animEffect transition="in" filter="fade">
                                      <p:cBhvr>
                                        <p:cTn id="85" dur="600"/>
                                        <p:tgtEl>
                                          <p:spTgt spid="74"/>
                                        </p:tgtEl>
                                      </p:cBhvr>
                                    </p:animEffect>
                                    <p:anim calcmode="lin" valueType="num">
                                      <p:cBhvr additive="base">
                                        <p:cTn id="86" dur="600" fill="hold"/>
                                        <p:tgtEl>
                                          <p:spTgt spid="74"/>
                                        </p:tgtEl>
                                        <p:attrNameLst>
                                          <p:attrName>ppt_x</p:attrName>
                                        </p:attrNameLst>
                                      </p:cBhvr>
                                      <p:tavLst>
                                        <p:tav tm="0">
                                          <p:val>
                                            <p:strVal val="#ppt_x"/>
                                          </p:val>
                                        </p:tav>
                                        <p:tav tm="100000">
                                          <p:val>
                                            <p:strVal val="#ppt_x"/>
                                          </p:val>
                                        </p:tav>
                                      </p:tavLst>
                                    </p:anim>
                                    <p:anim calcmode="lin" valueType="num">
                                      <p:cBhvr additive="base">
                                        <p:cTn id="87" dur="600" fill="hold"/>
                                        <p:tgtEl>
                                          <p:spTgt spid="74"/>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60A"/>
        </a:solidFill>
        <a:effectLst/>
      </p:bgPr>
    </p:bg>
    <p:spTree>
      <p:nvGrpSpPr>
        <p:cNvPr id="1" name=""/>
        <p:cNvGrpSpPr/>
        <p:nvPr/>
      </p:nvGrpSpPr>
      <p:grpSpPr/>
      <p:pic>
        <p:nvPicPr>
          <p:cNvPr id="2" name="!!bg" descr="bg.png"/>
          <p:cNvPicPr>
            <a:picLocks noChangeAspect="1"/>
          </p:cNvPicPr>
          <p:nvPr/>
        </p:nvPicPr>
        <p:blipFill>
          <a:blip r:embed="rId2"/>
          <a:stretch>
            <a:fillRect/>
          </a:stretch>
        </p:blipFill>
        <p:spPr>
          <a:xfrm>
            <a:off x="0" y="0"/>
            <a:ext cx="12191695" cy="6858000"/>
          </a:xfrm>
          <a:prstGeom prst="rect">
            <a:avLst/>
          </a:prstGeom>
        </p:spPr>
      </p:pic>
      <p:pic>
        <p:nvPicPr>
          <p:cNvPr id="3" name="!!orb_violet" descr="orb_violet.png"/>
          <p:cNvPicPr>
            <a:picLocks noChangeAspect="1"/>
          </p:cNvPicPr>
          <p:nvPr/>
        </p:nvPicPr>
        <p:blipFill>
          <a:blip r:embed="rId3"/>
          <a:stretch>
            <a:fillRect/>
          </a:stretch>
        </p:blipFill>
        <p:spPr>
          <a:xfrm>
            <a:off x="2926080" y="182880"/>
            <a:ext cx="6400800" cy="6400800"/>
          </a:xfrm>
          <a:prstGeom prst="rect">
            <a:avLst/>
          </a:prstGeom>
        </p:spPr>
      </p:pic>
      <p:pic>
        <p:nvPicPr>
          <p:cNvPr id="4" name="!!orb_cyan" descr="orb_cyan.png"/>
          <p:cNvPicPr>
            <a:picLocks noChangeAspect="1"/>
          </p:cNvPicPr>
          <p:nvPr/>
        </p:nvPicPr>
        <p:blipFill>
          <a:blip r:embed="rId4"/>
          <a:stretch>
            <a:fillRect/>
          </a:stretch>
        </p:blipFill>
        <p:spPr>
          <a:xfrm>
            <a:off x="-3200400" y="-2286000"/>
            <a:ext cx="5486400" cy="5486400"/>
          </a:xfrm>
          <a:prstGeom prst="rect">
            <a:avLst/>
          </a:prstGeom>
        </p:spPr>
      </p:pic>
      <p:pic>
        <p:nvPicPr>
          <p:cNvPr id="5" name="!!orb_rose" descr="orb_rose.png"/>
          <p:cNvPicPr>
            <a:picLocks noChangeAspect="1"/>
          </p:cNvPicPr>
          <p:nvPr/>
        </p:nvPicPr>
        <p:blipFill>
          <a:blip r:embed="rId5"/>
          <a:stretch>
            <a:fillRect/>
          </a:stretch>
        </p:blipFill>
        <p:spPr>
          <a:xfrm>
            <a:off x="9144000" y="4114800"/>
            <a:ext cx="4114800" cy="4114800"/>
          </a:xfrm>
          <a:prstGeom prst="rect">
            <a:avLst/>
          </a:prstGeom>
        </p:spPr>
      </p:pic>
      <p:pic>
        <p:nvPicPr>
          <p:cNvPr id="6" name="!!footlogo" descr="logo.png"/>
          <p:cNvPicPr>
            <a:picLocks noChangeAspect="1"/>
          </p:cNvPicPr>
          <p:nvPr/>
        </p:nvPicPr>
        <p:blipFill>
          <a:blip r:embed="rId6"/>
          <a:stretch>
            <a:fillRect/>
          </a:stretch>
        </p:blipFill>
        <p:spPr>
          <a:xfrm>
            <a:off x="548640" y="6327648"/>
            <a:ext cx="237744" cy="237744"/>
          </a:xfrm>
          <a:prstGeom prst="rect">
            <a:avLst/>
          </a:prstGeom>
        </p:spPr>
      </p:pic>
      <p:sp>
        <p:nvSpPr>
          <p:cNvPr id="7" name="!!footname"/>
          <p:cNvSpPr txBox="1"/>
          <p:nvPr/>
        </p:nvSpPr>
        <p:spPr>
          <a:xfrm>
            <a:off x="868680" y="6327648"/>
            <a:ext cx="2743200" cy="237744"/>
          </a:xfrm>
          <a:prstGeom prst="rect">
            <a:avLst/>
          </a:prstGeom>
          <a:noFill/>
        </p:spPr>
        <p:txBody>
          <a:bodyPr wrap="square" lIns="0" rIns="0" tIns="0" bIns="0" anchor="ctr">
            <a:spAutoFit/>
          </a:bodyPr>
          <a:lstStyle/>
          <a:p>
            <a:pPr algn="l"/>
            <a:r>
              <a:rPr sz="1100" b="1" i="0">
                <a:solidFill>
                  <a:srgbClr val="8B90A0"/>
                </a:solidFill>
                <a:latin typeface="Arial"/>
              </a:rPr>
              <a:t>Haven</a:t>
            </a:r>
          </a:p>
        </p:txBody>
      </p:sp>
      <p:sp>
        <p:nvSpPr>
          <p:cNvPr id="8" name="!!pageno"/>
          <p:cNvSpPr txBox="1"/>
          <p:nvPr/>
        </p:nvSpPr>
        <p:spPr>
          <a:xfrm>
            <a:off x="9814255" y="6327648"/>
            <a:ext cx="1828800" cy="237744"/>
          </a:xfrm>
          <a:prstGeom prst="rect">
            <a:avLst/>
          </a:prstGeom>
          <a:noFill/>
        </p:spPr>
        <p:txBody>
          <a:bodyPr wrap="square" lIns="0" rIns="0" tIns="0" bIns="0" anchor="ctr">
            <a:spAutoFit/>
          </a:bodyPr>
          <a:lstStyle/>
          <a:p>
            <a:pPr algn="r"/>
            <a:r>
              <a:rPr sz="1100" b="0" i="0">
                <a:solidFill>
                  <a:srgbClr val="8B90A0"/>
                </a:solidFill>
                <a:latin typeface="Arial"/>
              </a:rPr>
              <a:t>05 / 10</a:t>
            </a:r>
          </a:p>
        </p:txBody>
      </p:sp>
      <p:sp>
        <p:nvSpPr>
          <p:cNvPr id="9" name="text_154"/>
          <p:cNvSpPr txBox="1"/>
          <p:nvPr/>
        </p:nvSpPr>
        <p:spPr>
          <a:xfrm>
            <a:off x="548640" y="457200"/>
            <a:ext cx="7315200" cy="274320"/>
          </a:xfrm>
          <a:prstGeom prst="rect">
            <a:avLst/>
          </a:prstGeom>
          <a:noFill/>
        </p:spPr>
        <p:txBody>
          <a:bodyPr wrap="square" lIns="0" rIns="0" tIns="0" bIns="0" anchor="t">
            <a:spAutoFit/>
          </a:bodyPr>
          <a:lstStyle/>
          <a:p>
            <a:pPr algn="l"/>
            <a:r>
              <a:rPr sz="1200" b="1" i="0" spc="300">
                <a:solidFill>
                  <a:srgbClr val="22D3EE"/>
                </a:solidFill>
                <a:latin typeface="Arial"/>
              </a:rPr>
              <a:t>HOW IT WORKS</a:t>
            </a:r>
          </a:p>
        </p:txBody>
      </p:sp>
      <p:sp>
        <p:nvSpPr>
          <p:cNvPr id="10" name="text_155"/>
          <p:cNvSpPr txBox="1"/>
          <p:nvPr/>
        </p:nvSpPr>
        <p:spPr>
          <a:xfrm>
            <a:off x="548640" y="749808"/>
            <a:ext cx="11064240" cy="685800"/>
          </a:xfrm>
          <a:prstGeom prst="rect">
            <a:avLst/>
          </a:prstGeom>
          <a:noFill/>
        </p:spPr>
        <p:txBody>
          <a:bodyPr wrap="square" lIns="0" rIns="0" tIns="0" bIns="0" anchor="t">
            <a:spAutoFit/>
          </a:bodyPr>
          <a:lstStyle/>
          <a:p>
            <a:pPr algn="l"/>
            <a:r>
              <a:rPr sz="3400" b="1" i="0">
                <a:solidFill>
                  <a:srgbClr val="FFFFFF"/>
                </a:solidFill>
                <a:latin typeface="Arial"/>
              </a:rPr>
              <a:t>How it works: one operating loop</a:t>
            </a:r>
          </a:p>
        </p:txBody>
      </p:sp>
      <p:grpSp>
        <p:nvGrpSpPr>
          <p:cNvPr id="11" name="group_156"/>
          <p:cNvGrpSpPr/>
          <p:nvPr/>
        </p:nvGrpSpPr>
        <p:grpSpPr>
          <a:xfrm>
            <a:off x="548640" y="1783080"/>
            <a:ext cx="2240280" cy="777240"/>
            <a:chOff x="548640" y="1783080"/>
            <a:chExt cx="2240280" cy="777240"/>
          </a:xfrm>
        </p:grpSpPr>
        <p:sp>
          <p:nvSpPr>
            <p:cNvPr id="12" name="shape_157"/>
            <p:cNvSpPr/>
            <p:nvPr/>
          </p:nvSpPr>
          <p:spPr>
            <a:xfrm>
              <a:off x="548640" y="1783080"/>
              <a:ext cx="2240280" cy="777240"/>
            </a:xfrm>
            <a:prstGeom prst="roundRect">
              <a:avLst>
                <a:gd name="adj" fmla="val 23529"/>
              </a:avLst>
            </a:prstGeom>
            <a:solidFill>
              <a:srgbClr val="E6E8EF">
                <a:alpha val="10000"/>
              </a:srgbClr>
            </a:solidFill>
            <a:ln w="9525">
              <a:solidFill>
                <a:srgbClr val="E6E8EF">
                  <a:alpha val="55000"/>
                </a:srgbClr>
              </a:solidFill>
            </a:ln>
          </p:spPr>
          <p:txBody>
            <a:bodyPr rtlCol="0" anchor="ctr"/>
            <a:lstStyle/>
            <a:p/>
          </p:txBody>
        </p:sp>
        <p:sp>
          <p:nvSpPr>
            <p:cNvPr id="13" name="text_158"/>
            <p:cNvSpPr txBox="1"/>
            <p:nvPr/>
          </p:nvSpPr>
          <p:spPr>
            <a:xfrm>
              <a:off x="640080" y="1874519"/>
              <a:ext cx="2057400" cy="310896"/>
            </a:xfrm>
            <a:prstGeom prst="rect">
              <a:avLst/>
            </a:prstGeom>
            <a:noFill/>
          </p:spPr>
          <p:txBody>
            <a:bodyPr wrap="square" lIns="0" rIns="0" tIns="0" bIns="0" anchor="t">
              <a:spAutoFit/>
            </a:bodyPr>
            <a:lstStyle/>
            <a:p>
              <a:pPr algn="ctr"/>
              <a:r>
                <a:rPr sz="1500" b="1" i="0">
                  <a:solidFill>
                    <a:srgbClr val="FFFFFF"/>
                  </a:solidFill>
                  <a:latin typeface="Arial"/>
                </a:rPr>
                <a:t>Community</a:t>
              </a:r>
            </a:p>
          </p:txBody>
        </p:sp>
        <p:sp>
          <p:nvSpPr>
            <p:cNvPr id="14" name="text_159"/>
            <p:cNvSpPr txBox="1"/>
            <p:nvPr/>
          </p:nvSpPr>
          <p:spPr>
            <a:xfrm>
              <a:off x="640080" y="2203704"/>
              <a:ext cx="2057400" cy="274320"/>
            </a:xfrm>
            <a:prstGeom prst="rect">
              <a:avLst/>
            </a:prstGeom>
            <a:noFill/>
          </p:spPr>
          <p:txBody>
            <a:bodyPr wrap="square" lIns="0" rIns="0" tIns="0" bIns="0" anchor="t">
              <a:spAutoFit/>
            </a:bodyPr>
            <a:lstStyle/>
            <a:p>
              <a:pPr algn="ctr"/>
              <a:r>
                <a:rPr sz="1100" b="0" i="0">
                  <a:solidFill>
                    <a:srgbClr val="8B90A0"/>
                  </a:solidFill>
                  <a:latin typeface="Arial"/>
                </a:rPr>
                <a:t>Discord · Slack · Telegram</a:t>
              </a:r>
            </a:p>
          </p:txBody>
        </p:sp>
      </p:grpSp>
      <p:grpSp>
        <p:nvGrpSpPr>
          <p:cNvPr id="15" name="group_160"/>
          <p:cNvGrpSpPr/>
          <p:nvPr/>
        </p:nvGrpSpPr>
        <p:grpSpPr>
          <a:xfrm>
            <a:off x="3154680" y="1783080"/>
            <a:ext cx="2240280" cy="777240"/>
            <a:chOff x="3154680" y="1783080"/>
            <a:chExt cx="2240280" cy="777240"/>
          </a:xfrm>
        </p:grpSpPr>
        <p:sp>
          <p:nvSpPr>
            <p:cNvPr id="16" name="shape_161"/>
            <p:cNvSpPr/>
            <p:nvPr/>
          </p:nvSpPr>
          <p:spPr>
            <a:xfrm>
              <a:off x="3154680" y="1783080"/>
              <a:ext cx="2240280" cy="777240"/>
            </a:xfrm>
            <a:prstGeom prst="roundRect">
              <a:avLst>
                <a:gd name="adj" fmla="val 23529"/>
              </a:avLst>
            </a:prstGeom>
            <a:solidFill>
              <a:srgbClr val="22D3EE">
                <a:alpha val="10000"/>
              </a:srgbClr>
            </a:solidFill>
            <a:ln w="9525">
              <a:solidFill>
                <a:srgbClr val="22D3EE">
                  <a:alpha val="55000"/>
                </a:srgbClr>
              </a:solidFill>
            </a:ln>
          </p:spPr>
          <p:txBody>
            <a:bodyPr rtlCol="0" anchor="ctr"/>
            <a:lstStyle/>
            <a:p/>
          </p:txBody>
        </p:sp>
        <p:sp>
          <p:nvSpPr>
            <p:cNvPr id="17" name="text_162"/>
            <p:cNvSpPr txBox="1"/>
            <p:nvPr/>
          </p:nvSpPr>
          <p:spPr>
            <a:xfrm>
              <a:off x="3246120" y="1874519"/>
              <a:ext cx="2057400" cy="310896"/>
            </a:xfrm>
            <a:prstGeom prst="rect">
              <a:avLst/>
            </a:prstGeom>
            <a:noFill/>
          </p:spPr>
          <p:txBody>
            <a:bodyPr wrap="square" lIns="0" rIns="0" tIns="0" bIns="0" anchor="t">
              <a:spAutoFit/>
            </a:bodyPr>
            <a:lstStyle/>
            <a:p>
              <a:pPr algn="ctr"/>
              <a:r>
                <a:rPr sz="1500" b="1" i="0">
                  <a:solidFill>
                    <a:srgbClr val="FFFFFF"/>
                  </a:solidFill>
                  <a:latin typeface="Arial"/>
                </a:rPr>
                <a:t>Nova</a:t>
              </a:r>
            </a:p>
          </p:txBody>
        </p:sp>
        <p:sp>
          <p:nvSpPr>
            <p:cNvPr id="18" name="text_163"/>
            <p:cNvSpPr txBox="1"/>
            <p:nvPr/>
          </p:nvSpPr>
          <p:spPr>
            <a:xfrm>
              <a:off x="3246120" y="2203704"/>
              <a:ext cx="2057400" cy="274320"/>
            </a:xfrm>
            <a:prstGeom prst="rect">
              <a:avLst/>
            </a:prstGeom>
            <a:noFill/>
          </p:spPr>
          <p:txBody>
            <a:bodyPr wrap="square" lIns="0" rIns="0" tIns="0" bIns="0" anchor="t">
              <a:spAutoFit/>
            </a:bodyPr>
            <a:lstStyle/>
            <a:p>
              <a:pPr algn="ctr"/>
              <a:r>
                <a:rPr sz="1100" b="0" i="0">
                  <a:solidFill>
                    <a:srgbClr val="8B90A0"/>
                  </a:solidFill>
                  <a:latin typeface="Arial"/>
                </a:rPr>
                <a:t>RocketRide triage &lt;1ms</a:t>
              </a:r>
            </a:p>
          </p:txBody>
        </p:sp>
      </p:grpSp>
      <p:grpSp>
        <p:nvGrpSpPr>
          <p:cNvPr id="19" name="group_164"/>
          <p:cNvGrpSpPr/>
          <p:nvPr/>
        </p:nvGrpSpPr>
        <p:grpSpPr>
          <a:xfrm>
            <a:off x="5760720" y="1783080"/>
            <a:ext cx="1828800" cy="777240"/>
            <a:chOff x="5760720" y="1783080"/>
            <a:chExt cx="1828800" cy="777240"/>
          </a:xfrm>
        </p:grpSpPr>
        <p:sp>
          <p:nvSpPr>
            <p:cNvPr id="20" name="shape_165"/>
            <p:cNvSpPr/>
            <p:nvPr/>
          </p:nvSpPr>
          <p:spPr>
            <a:xfrm>
              <a:off x="5760720" y="1783080"/>
              <a:ext cx="1828800" cy="777240"/>
            </a:xfrm>
            <a:prstGeom prst="roundRect">
              <a:avLst>
                <a:gd name="adj" fmla="val 23529"/>
              </a:avLst>
            </a:prstGeom>
            <a:solidFill>
              <a:srgbClr val="A78BFA">
                <a:alpha val="10000"/>
              </a:srgbClr>
            </a:solidFill>
            <a:ln w="9525">
              <a:solidFill>
                <a:srgbClr val="A78BFA">
                  <a:alpha val="55000"/>
                </a:srgbClr>
              </a:solidFill>
            </a:ln>
          </p:spPr>
          <p:txBody>
            <a:bodyPr rtlCol="0" anchor="ctr"/>
            <a:lstStyle/>
            <a:p/>
          </p:txBody>
        </p:sp>
        <p:sp>
          <p:nvSpPr>
            <p:cNvPr id="21" name="text_166"/>
            <p:cNvSpPr txBox="1"/>
            <p:nvPr/>
          </p:nvSpPr>
          <p:spPr>
            <a:xfrm>
              <a:off x="5852159" y="1874519"/>
              <a:ext cx="1645920" cy="310896"/>
            </a:xfrm>
            <a:prstGeom prst="rect">
              <a:avLst/>
            </a:prstGeom>
            <a:noFill/>
          </p:spPr>
          <p:txBody>
            <a:bodyPr wrap="square" lIns="0" rIns="0" tIns="0" bIns="0" anchor="t">
              <a:spAutoFit/>
            </a:bodyPr>
            <a:lstStyle/>
            <a:p>
              <a:pPr algn="ctr"/>
              <a:r>
                <a:rPr sz="1500" b="1" i="0">
                  <a:solidFill>
                    <a:srgbClr val="FFFFFF"/>
                  </a:solidFill>
                  <a:latin typeface="Arial"/>
                </a:rPr>
                <a:t>BAND</a:t>
              </a:r>
            </a:p>
          </p:txBody>
        </p:sp>
        <p:sp>
          <p:nvSpPr>
            <p:cNvPr id="22" name="text_167"/>
            <p:cNvSpPr txBox="1"/>
            <p:nvPr/>
          </p:nvSpPr>
          <p:spPr>
            <a:xfrm>
              <a:off x="5852159" y="2203704"/>
              <a:ext cx="1645920" cy="274320"/>
            </a:xfrm>
            <a:prstGeom prst="rect">
              <a:avLst/>
            </a:prstGeom>
            <a:noFill/>
          </p:spPr>
          <p:txBody>
            <a:bodyPr wrap="square" lIns="0" rIns="0" tIns="0" bIns="0" anchor="t">
              <a:spAutoFit/>
            </a:bodyPr>
            <a:lstStyle/>
            <a:p>
              <a:pPr algn="ctr"/>
              <a:r>
                <a:rPr sz="1100" b="0" i="0">
                  <a:solidFill>
                    <a:srgbClr val="8B90A0"/>
                  </a:solidFill>
                  <a:latin typeface="Arial"/>
                </a:rPr>
                <a:t>agent message bus</a:t>
              </a:r>
            </a:p>
          </p:txBody>
        </p:sp>
      </p:grpSp>
      <p:grpSp>
        <p:nvGrpSpPr>
          <p:cNvPr id="23" name="group_168"/>
          <p:cNvGrpSpPr/>
          <p:nvPr/>
        </p:nvGrpSpPr>
        <p:grpSpPr>
          <a:xfrm>
            <a:off x="7955279" y="1783080"/>
            <a:ext cx="1828800" cy="777240"/>
            <a:chOff x="7955279" y="1783080"/>
            <a:chExt cx="1828800" cy="777240"/>
          </a:xfrm>
        </p:grpSpPr>
        <p:sp>
          <p:nvSpPr>
            <p:cNvPr id="24" name="shape_169"/>
            <p:cNvSpPr/>
            <p:nvPr/>
          </p:nvSpPr>
          <p:spPr>
            <a:xfrm>
              <a:off x="7955279" y="1783080"/>
              <a:ext cx="1828800" cy="777240"/>
            </a:xfrm>
            <a:prstGeom prst="roundRect">
              <a:avLst>
                <a:gd name="adj" fmla="val 23529"/>
              </a:avLst>
            </a:prstGeom>
            <a:solidFill>
              <a:srgbClr val="A78BFA">
                <a:alpha val="10000"/>
              </a:srgbClr>
            </a:solidFill>
            <a:ln w="9525">
              <a:solidFill>
                <a:srgbClr val="A78BFA">
                  <a:alpha val="55000"/>
                </a:srgbClr>
              </a:solidFill>
            </a:ln>
          </p:spPr>
          <p:txBody>
            <a:bodyPr rtlCol="0" anchor="ctr"/>
            <a:lstStyle/>
            <a:p/>
          </p:txBody>
        </p:sp>
        <p:sp>
          <p:nvSpPr>
            <p:cNvPr id="25" name="text_170"/>
            <p:cNvSpPr txBox="1"/>
            <p:nvPr/>
          </p:nvSpPr>
          <p:spPr>
            <a:xfrm>
              <a:off x="8046719" y="1874519"/>
              <a:ext cx="1645920" cy="310896"/>
            </a:xfrm>
            <a:prstGeom prst="rect">
              <a:avLst/>
            </a:prstGeom>
            <a:noFill/>
          </p:spPr>
          <p:txBody>
            <a:bodyPr wrap="square" lIns="0" rIns="0" tIns="0" bIns="0" anchor="t">
              <a:spAutoFit/>
            </a:bodyPr>
            <a:lstStyle/>
            <a:p>
              <a:pPr algn="ctr"/>
              <a:r>
                <a:rPr sz="1500" b="1" i="0">
                  <a:solidFill>
                    <a:srgbClr val="FFFFFF"/>
                  </a:solidFill>
                  <a:latin typeface="Arial"/>
                </a:rPr>
                <a:t>Aria</a:t>
              </a:r>
            </a:p>
          </p:txBody>
        </p:sp>
        <p:sp>
          <p:nvSpPr>
            <p:cNvPr id="26" name="text_171"/>
            <p:cNvSpPr txBox="1"/>
            <p:nvPr/>
          </p:nvSpPr>
          <p:spPr>
            <a:xfrm>
              <a:off x="8046719" y="2203704"/>
              <a:ext cx="1645920" cy="274320"/>
            </a:xfrm>
            <a:prstGeom prst="rect">
              <a:avLst/>
            </a:prstGeom>
            <a:noFill/>
          </p:spPr>
          <p:txBody>
            <a:bodyPr wrap="square" lIns="0" rIns="0" tIns="0" bIns="0" anchor="t">
              <a:spAutoFit/>
            </a:bodyPr>
            <a:lstStyle/>
            <a:p>
              <a:pPr algn="ctr"/>
              <a:r>
                <a:rPr sz="1100" b="0" i="0">
                  <a:solidFill>
                    <a:srgbClr val="8B90A0"/>
                  </a:solidFill>
                  <a:latin typeface="Arial"/>
                </a:rPr>
                <a:t>routes &amp; delegates</a:t>
              </a:r>
            </a:p>
          </p:txBody>
        </p:sp>
      </p:grpSp>
      <p:grpSp>
        <p:nvGrpSpPr>
          <p:cNvPr id="27" name="group_172"/>
          <p:cNvGrpSpPr/>
          <p:nvPr/>
        </p:nvGrpSpPr>
        <p:grpSpPr>
          <a:xfrm>
            <a:off x="7955279" y="5074920"/>
            <a:ext cx="1828800" cy="777240"/>
            <a:chOff x="7955279" y="5074920"/>
            <a:chExt cx="1828800" cy="777240"/>
          </a:xfrm>
        </p:grpSpPr>
        <p:sp>
          <p:nvSpPr>
            <p:cNvPr id="28" name="shape_173"/>
            <p:cNvSpPr/>
            <p:nvPr/>
          </p:nvSpPr>
          <p:spPr>
            <a:xfrm>
              <a:off x="7955279" y="5074920"/>
              <a:ext cx="1828800" cy="777240"/>
            </a:xfrm>
            <a:prstGeom prst="roundRect">
              <a:avLst>
                <a:gd name="adj" fmla="val 23529"/>
              </a:avLst>
            </a:prstGeom>
            <a:solidFill>
              <a:srgbClr val="10B981">
                <a:alpha val="10000"/>
              </a:srgbClr>
            </a:solidFill>
            <a:ln w="9525">
              <a:solidFill>
                <a:srgbClr val="10B981">
                  <a:alpha val="55000"/>
                </a:srgbClr>
              </a:solidFill>
            </a:ln>
          </p:spPr>
          <p:txBody>
            <a:bodyPr rtlCol="0" anchor="ctr"/>
            <a:lstStyle/>
            <a:p/>
          </p:txBody>
        </p:sp>
        <p:sp>
          <p:nvSpPr>
            <p:cNvPr id="29" name="text_174"/>
            <p:cNvSpPr txBox="1"/>
            <p:nvPr/>
          </p:nvSpPr>
          <p:spPr>
            <a:xfrm>
              <a:off x="8046719" y="5166359"/>
              <a:ext cx="1645920" cy="310896"/>
            </a:xfrm>
            <a:prstGeom prst="rect">
              <a:avLst/>
            </a:prstGeom>
            <a:noFill/>
          </p:spPr>
          <p:txBody>
            <a:bodyPr wrap="square" lIns="0" rIns="0" tIns="0" bIns="0" anchor="t">
              <a:spAutoFit/>
            </a:bodyPr>
            <a:lstStyle/>
            <a:p>
              <a:pPr algn="ctr"/>
              <a:r>
                <a:rPr sz="1500" b="1" i="0">
                  <a:solidFill>
                    <a:srgbClr val="FFFFFF"/>
                  </a:solidFill>
                  <a:latin typeface="Arial"/>
                </a:rPr>
                <a:t>Founder approval</a:t>
              </a:r>
            </a:p>
          </p:txBody>
        </p:sp>
        <p:sp>
          <p:nvSpPr>
            <p:cNvPr id="30" name="text_175"/>
            <p:cNvSpPr txBox="1"/>
            <p:nvPr/>
          </p:nvSpPr>
          <p:spPr>
            <a:xfrm>
              <a:off x="8046719" y="5495544"/>
              <a:ext cx="1645920" cy="274320"/>
            </a:xfrm>
            <a:prstGeom prst="rect">
              <a:avLst/>
            </a:prstGeom>
            <a:noFill/>
          </p:spPr>
          <p:txBody>
            <a:bodyPr wrap="square" lIns="0" rIns="0" tIns="0" bIns="0" anchor="t">
              <a:spAutoFit/>
            </a:bodyPr>
            <a:lstStyle/>
            <a:p>
              <a:pPr algn="ctr"/>
              <a:r>
                <a:rPr sz="1100" b="0" i="0">
                  <a:solidFill>
                    <a:srgbClr val="8B90A0"/>
                  </a:solidFill>
                  <a:latin typeface="Arial"/>
                </a:rPr>
                <a:t>1-click ban</a:t>
              </a:r>
            </a:p>
          </p:txBody>
        </p:sp>
      </p:grpSp>
      <p:grpSp>
        <p:nvGrpSpPr>
          <p:cNvPr id="31" name="group_176"/>
          <p:cNvGrpSpPr/>
          <p:nvPr/>
        </p:nvGrpSpPr>
        <p:grpSpPr>
          <a:xfrm>
            <a:off x="5760720" y="5074920"/>
            <a:ext cx="1828800" cy="777240"/>
            <a:chOff x="5760720" y="5074920"/>
            <a:chExt cx="1828800" cy="777240"/>
          </a:xfrm>
        </p:grpSpPr>
        <p:sp>
          <p:nvSpPr>
            <p:cNvPr id="32" name="shape_177"/>
            <p:cNvSpPr/>
            <p:nvPr/>
          </p:nvSpPr>
          <p:spPr>
            <a:xfrm>
              <a:off x="5760720" y="5074920"/>
              <a:ext cx="1828800" cy="777240"/>
            </a:xfrm>
            <a:prstGeom prst="roundRect">
              <a:avLst>
                <a:gd name="adj" fmla="val 23529"/>
              </a:avLst>
            </a:prstGeom>
            <a:solidFill>
              <a:srgbClr val="F59E0B">
                <a:alpha val="10000"/>
              </a:srgbClr>
            </a:solidFill>
            <a:ln w="9525">
              <a:solidFill>
                <a:srgbClr val="F59E0B">
                  <a:alpha val="55000"/>
                </a:srgbClr>
              </a:solidFill>
            </a:ln>
          </p:spPr>
          <p:txBody>
            <a:bodyPr rtlCol="0" anchor="ctr"/>
            <a:lstStyle/>
            <a:p/>
          </p:txBody>
        </p:sp>
        <p:sp>
          <p:nvSpPr>
            <p:cNvPr id="33" name="text_178"/>
            <p:cNvSpPr txBox="1"/>
            <p:nvPr/>
          </p:nvSpPr>
          <p:spPr>
            <a:xfrm>
              <a:off x="5852159" y="5166359"/>
              <a:ext cx="1645920" cy="310896"/>
            </a:xfrm>
            <a:prstGeom prst="rect">
              <a:avLst/>
            </a:prstGeom>
            <a:noFill/>
          </p:spPr>
          <p:txBody>
            <a:bodyPr wrap="square" lIns="0" rIns="0" tIns="0" bIns="0" anchor="t">
              <a:spAutoFit/>
            </a:bodyPr>
            <a:lstStyle/>
            <a:p>
              <a:pPr algn="ctr"/>
              <a:r>
                <a:rPr sz="1500" b="1" i="0">
                  <a:solidFill>
                    <a:srgbClr val="FFFFFF"/>
                  </a:solidFill>
                  <a:latin typeface="Arial"/>
                </a:rPr>
                <a:t>n8n</a:t>
              </a:r>
            </a:p>
          </p:txBody>
        </p:sp>
        <p:sp>
          <p:nvSpPr>
            <p:cNvPr id="34" name="text_179"/>
            <p:cNvSpPr txBox="1"/>
            <p:nvPr/>
          </p:nvSpPr>
          <p:spPr>
            <a:xfrm>
              <a:off x="5852159" y="5495544"/>
              <a:ext cx="1645920" cy="274320"/>
            </a:xfrm>
            <a:prstGeom prst="rect">
              <a:avLst/>
            </a:prstGeom>
            <a:noFill/>
          </p:spPr>
          <p:txBody>
            <a:bodyPr wrap="square" lIns="0" rIns="0" tIns="0" bIns="0" anchor="t">
              <a:spAutoFit/>
            </a:bodyPr>
            <a:lstStyle/>
            <a:p>
              <a:pPr algn="ctr"/>
              <a:r>
                <a:rPr sz="1100" b="0" i="0">
                  <a:solidFill>
                    <a:srgbClr val="8B90A0"/>
                  </a:solidFill>
                  <a:latin typeface="Arial"/>
                </a:rPr>
                <a:t>enforcement log</a:t>
              </a:r>
            </a:p>
          </p:txBody>
        </p:sp>
      </p:grpSp>
      <p:grpSp>
        <p:nvGrpSpPr>
          <p:cNvPr id="35" name="group_180"/>
          <p:cNvGrpSpPr/>
          <p:nvPr/>
        </p:nvGrpSpPr>
        <p:grpSpPr>
          <a:xfrm>
            <a:off x="3154680" y="5074920"/>
            <a:ext cx="2240280" cy="777240"/>
            <a:chOff x="3154680" y="5074920"/>
            <a:chExt cx="2240280" cy="777240"/>
          </a:xfrm>
        </p:grpSpPr>
        <p:sp>
          <p:nvSpPr>
            <p:cNvPr id="36" name="shape_181"/>
            <p:cNvSpPr/>
            <p:nvPr/>
          </p:nvSpPr>
          <p:spPr>
            <a:xfrm>
              <a:off x="3154680" y="5074920"/>
              <a:ext cx="2240280" cy="777240"/>
            </a:xfrm>
            <a:prstGeom prst="roundRect">
              <a:avLst>
                <a:gd name="adj" fmla="val 23529"/>
              </a:avLst>
            </a:prstGeom>
            <a:solidFill>
              <a:srgbClr val="3B82F6">
                <a:alpha val="10000"/>
              </a:srgbClr>
            </a:solidFill>
            <a:ln w="9525">
              <a:solidFill>
                <a:srgbClr val="3B82F6">
                  <a:alpha val="55000"/>
                </a:srgbClr>
              </a:solidFill>
            </a:ln>
          </p:spPr>
          <p:txBody>
            <a:bodyPr rtlCol="0" anchor="ctr"/>
            <a:lstStyle/>
            <a:p/>
          </p:txBody>
        </p:sp>
        <p:sp>
          <p:nvSpPr>
            <p:cNvPr id="37" name="text_182"/>
            <p:cNvSpPr txBox="1"/>
            <p:nvPr/>
          </p:nvSpPr>
          <p:spPr>
            <a:xfrm>
              <a:off x="3246120" y="5166359"/>
              <a:ext cx="2057400" cy="310896"/>
            </a:xfrm>
            <a:prstGeom prst="rect">
              <a:avLst/>
            </a:prstGeom>
            <a:noFill/>
          </p:spPr>
          <p:txBody>
            <a:bodyPr wrap="square" lIns="0" rIns="0" tIns="0" bIns="0" anchor="t">
              <a:spAutoFit/>
            </a:bodyPr>
            <a:lstStyle/>
            <a:p>
              <a:pPr algn="ctr"/>
              <a:r>
                <a:rPr sz="1500" b="1" i="0">
                  <a:solidFill>
                    <a:srgbClr val="FFFFFF"/>
                  </a:solidFill>
                  <a:latin typeface="Arial"/>
                </a:rPr>
                <a:t>PromptQL</a:t>
              </a:r>
            </a:p>
          </p:txBody>
        </p:sp>
        <p:sp>
          <p:nvSpPr>
            <p:cNvPr id="38" name="text_183"/>
            <p:cNvSpPr txBox="1"/>
            <p:nvPr/>
          </p:nvSpPr>
          <p:spPr>
            <a:xfrm>
              <a:off x="3246120" y="5495544"/>
              <a:ext cx="2057400" cy="274320"/>
            </a:xfrm>
            <a:prstGeom prst="rect">
              <a:avLst/>
            </a:prstGeom>
            <a:noFill/>
          </p:spPr>
          <p:txBody>
            <a:bodyPr wrap="square" lIns="0" rIns="0" tIns="0" bIns="0" anchor="t">
              <a:spAutoFit/>
            </a:bodyPr>
            <a:lstStyle/>
            <a:p>
              <a:pPr algn="ctr"/>
              <a:r>
                <a:rPr sz="1100" b="0" i="0">
                  <a:solidFill>
                    <a:srgbClr val="8B90A0"/>
                  </a:solidFill>
                  <a:latin typeface="Arial"/>
                </a:rPr>
                <a:t>learning loop</a:t>
              </a:r>
            </a:p>
          </p:txBody>
        </p:sp>
      </p:grpSp>
      <p:grpSp>
        <p:nvGrpSpPr>
          <p:cNvPr id="39" name="group_184"/>
          <p:cNvGrpSpPr/>
          <p:nvPr/>
        </p:nvGrpSpPr>
        <p:grpSpPr>
          <a:xfrm>
            <a:off x="548640" y="5074920"/>
            <a:ext cx="2240280" cy="777240"/>
            <a:chOff x="548640" y="5074920"/>
            <a:chExt cx="2240280" cy="777240"/>
          </a:xfrm>
        </p:grpSpPr>
        <p:sp>
          <p:nvSpPr>
            <p:cNvPr id="40" name="shape_185"/>
            <p:cNvSpPr/>
            <p:nvPr/>
          </p:nvSpPr>
          <p:spPr>
            <a:xfrm>
              <a:off x="548640" y="5074920"/>
              <a:ext cx="2240280" cy="777240"/>
            </a:xfrm>
            <a:prstGeom prst="roundRect">
              <a:avLst>
                <a:gd name="adj" fmla="val 23529"/>
              </a:avLst>
            </a:prstGeom>
            <a:solidFill>
              <a:srgbClr val="EC4899">
                <a:alpha val="10000"/>
              </a:srgbClr>
            </a:solidFill>
            <a:ln w="9525">
              <a:solidFill>
                <a:srgbClr val="EC4899">
                  <a:alpha val="55000"/>
                </a:srgbClr>
              </a:solidFill>
            </a:ln>
          </p:spPr>
          <p:txBody>
            <a:bodyPr rtlCol="0" anchor="ctr"/>
            <a:lstStyle/>
            <a:p/>
          </p:txBody>
        </p:sp>
        <p:sp>
          <p:nvSpPr>
            <p:cNvPr id="41" name="text_186"/>
            <p:cNvSpPr txBox="1"/>
            <p:nvPr/>
          </p:nvSpPr>
          <p:spPr>
            <a:xfrm>
              <a:off x="640080" y="5166359"/>
              <a:ext cx="2057400" cy="310896"/>
            </a:xfrm>
            <a:prstGeom prst="rect">
              <a:avLst/>
            </a:prstGeom>
            <a:noFill/>
          </p:spPr>
          <p:txBody>
            <a:bodyPr wrap="square" lIns="0" rIns="0" tIns="0" bIns="0" anchor="t">
              <a:spAutoFit/>
            </a:bodyPr>
            <a:lstStyle/>
            <a:p>
              <a:pPr algn="ctr"/>
              <a:r>
                <a:rPr sz="1500" b="1" i="0">
                  <a:solidFill>
                    <a:srgbClr val="FFFFFF"/>
                  </a:solidFill>
                  <a:latin typeface="Arial"/>
                </a:rPr>
                <a:t>Finch · Paritok</a:t>
              </a:r>
            </a:p>
          </p:txBody>
        </p:sp>
        <p:sp>
          <p:nvSpPr>
            <p:cNvPr id="42" name="text_187"/>
            <p:cNvSpPr txBox="1"/>
            <p:nvPr/>
          </p:nvSpPr>
          <p:spPr>
            <a:xfrm>
              <a:off x="640080" y="5495544"/>
              <a:ext cx="2057400" cy="274320"/>
            </a:xfrm>
            <a:prstGeom prst="rect">
              <a:avLst/>
            </a:prstGeom>
            <a:noFill/>
          </p:spPr>
          <p:txBody>
            <a:bodyPr wrap="square" lIns="0" rIns="0" tIns="0" bIns="0" anchor="t">
              <a:spAutoFit/>
            </a:bodyPr>
            <a:lstStyle/>
            <a:p>
              <a:pPr algn="ctr"/>
              <a:r>
                <a:rPr sz="1100" b="0" i="0">
                  <a:solidFill>
                    <a:srgbClr val="8B90A0"/>
                  </a:solidFill>
                  <a:latin typeface="Arial"/>
                </a:rPr>
                <a:t>skills · compression</a:t>
              </a:r>
            </a:p>
          </p:txBody>
        </p:sp>
      </p:grpSp>
      <p:grpSp>
        <p:nvGrpSpPr>
          <p:cNvPr id="43" name="group_188"/>
          <p:cNvGrpSpPr/>
          <p:nvPr/>
        </p:nvGrpSpPr>
        <p:grpSpPr>
          <a:xfrm>
            <a:off x="10104120" y="1783080"/>
            <a:ext cx="1536192" cy="4069080"/>
            <a:chOff x="10104120" y="1783080"/>
            <a:chExt cx="1536192" cy="4069080"/>
          </a:xfrm>
        </p:grpSpPr>
        <p:sp>
          <p:nvSpPr>
            <p:cNvPr id="44" name="shape_189"/>
            <p:cNvSpPr/>
            <p:nvPr/>
          </p:nvSpPr>
          <p:spPr>
            <a:xfrm>
              <a:off x="10104120" y="1783080"/>
              <a:ext cx="1536192" cy="4069080"/>
            </a:xfrm>
            <a:prstGeom prst="roundRect">
              <a:avLst>
                <a:gd name="adj" fmla="val 11904"/>
              </a:avLst>
            </a:prstGeom>
            <a:solidFill>
              <a:srgbClr val="8B5CF6">
                <a:alpha val="8000"/>
              </a:srgbClr>
            </a:solidFill>
            <a:ln w="9525">
              <a:solidFill>
                <a:srgbClr val="A78BFA">
                  <a:alpha val="45000"/>
                </a:srgbClr>
              </a:solidFill>
            </a:ln>
          </p:spPr>
          <p:txBody>
            <a:bodyPr rtlCol="0" anchor="ctr"/>
            <a:lstStyle/>
            <a:p/>
          </p:txBody>
        </p:sp>
        <p:sp>
          <p:nvSpPr>
            <p:cNvPr id="45" name="text_190"/>
            <p:cNvSpPr txBox="1"/>
            <p:nvPr/>
          </p:nvSpPr>
          <p:spPr>
            <a:xfrm>
              <a:off x="10104120" y="1892807"/>
              <a:ext cx="1536192" cy="274320"/>
            </a:xfrm>
            <a:prstGeom prst="rect">
              <a:avLst/>
            </a:prstGeom>
            <a:noFill/>
          </p:spPr>
          <p:txBody>
            <a:bodyPr wrap="square" lIns="0" rIns="0" tIns="0" bIns="0" anchor="t">
              <a:spAutoFit/>
            </a:bodyPr>
            <a:lstStyle/>
            <a:p>
              <a:pPr algn="ctr"/>
              <a:r>
                <a:rPr sz="1300" b="1" i="0">
                  <a:solidFill>
                    <a:srgbClr val="FFFFFF"/>
                  </a:solidFill>
                  <a:latin typeface="Arial"/>
                </a:rPr>
                <a:t>Specialists</a:t>
              </a:r>
            </a:p>
          </p:txBody>
        </p:sp>
        <p:sp>
          <p:nvSpPr>
            <p:cNvPr id="46" name="shape_191"/>
            <p:cNvSpPr/>
            <p:nvPr/>
          </p:nvSpPr>
          <p:spPr>
            <a:xfrm>
              <a:off x="10213848" y="2286000"/>
              <a:ext cx="1316736" cy="749808"/>
            </a:xfrm>
            <a:prstGeom prst="roundRect">
              <a:avLst>
                <a:gd name="adj" fmla="val 17073"/>
              </a:avLst>
            </a:prstGeom>
            <a:solidFill>
              <a:srgbClr val="F43F5E">
                <a:alpha val="12000"/>
              </a:srgbClr>
            </a:solidFill>
            <a:ln w="9525">
              <a:solidFill>
                <a:srgbClr val="F43F5E">
                  <a:alpha val="50000"/>
                </a:srgbClr>
              </a:solidFill>
            </a:ln>
          </p:spPr>
          <p:txBody>
            <a:bodyPr rtlCol="0" anchor="ctr"/>
            <a:lstStyle/>
            <a:p/>
          </p:txBody>
        </p:sp>
        <p:sp>
          <p:nvSpPr>
            <p:cNvPr id="47" name="text_192"/>
            <p:cNvSpPr txBox="1"/>
            <p:nvPr/>
          </p:nvSpPr>
          <p:spPr>
            <a:xfrm>
              <a:off x="10213848" y="2377440"/>
              <a:ext cx="1316736" cy="274320"/>
            </a:xfrm>
            <a:prstGeom prst="rect">
              <a:avLst/>
            </a:prstGeom>
            <a:noFill/>
          </p:spPr>
          <p:txBody>
            <a:bodyPr wrap="square" lIns="0" rIns="0" tIns="0" bIns="0" anchor="t">
              <a:spAutoFit/>
            </a:bodyPr>
            <a:lstStyle/>
            <a:p>
              <a:pPr algn="ctr"/>
              <a:r>
                <a:rPr sz="1400" b="1" i="0">
                  <a:solidFill>
                    <a:srgbClr val="FFFFFF"/>
                  </a:solidFill>
                  <a:latin typeface="Arial"/>
                </a:rPr>
                <a:t>Rex</a:t>
              </a:r>
            </a:p>
          </p:txBody>
        </p:sp>
        <p:sp>
          <p:nvSpPr>
            <p:cNvPr id="48" name="text_193"/>
            <p:cNvSpPr txBox="1"/>
            <p:nvPr/>
          </p:nvSpPr>
          <p:spPr>
            <a:xfrm>
              <a:off x="10213848" y="2679192"/>
              <a:ext cx="1316736" cy="274320"/>
            </a:xfrm>
            <a:prstGeom prst="rect">
              <a:avLst/>
            </a:prstGeom>
            <a:noFill/>
          </p:spPr>
          <p:txBody>
            <a:bodyPr wrap="square" lIns="0" rIns="0" tIns="0" bIns="0" anchor="t">
              <a:spAutoFit/>
            </a:bodyPr>
            <a:lstStyle/>
            <a:p>
              <a:pPr algn="ctr"/>
              <a:r>
                <a:rPr sz="1000" b="1" i="0">
                  <a:solidFill>
                    <a:srgbClr val="F43F5E"/>
                  </a:solidFill>
                  <a:latin typeface="Arial"/>
                </a:rPr>
                <a:t>AdaL + Celesto</a:t>
              </a:r>
            </a:p>
          </p:txBody>
        </p:sp>
        <p:sp>
          <p:nvSpPr>
            <p:cNvPr id="49" name="shape_194"/>
            <p:cNvSpPr/>
            <p:nvPr/>
          </p:nvSpPr>
          <p:spPr>
            <a:xfrm>
              <a:off x="10213848" y="3154680"/>
              <a:ext cx="1316736" cy="749808"/>
            </a:xfrm>
            <a:prstGeom prst="roundRect">
              <a:avLst>
                <a:gd name="adj" fmla="val 17073"/>
              </a:avLst>
            </a:prstGeom>
            <a:solidFill>
              <a:srgbClr val="EC4899">
                <a:alpha val="12000"/>
              </a:srgbClr>
            </a:solidFill>
            <a:ln w="9525">
              <a:solidFill>
                <a:srgbClr val="EC4899">
                  <a:alpha val="50000"/>
                </a:srgbClr>
              </a:solidFill>
            </a:ln>
          </p:spPr>
          <p:txBody>
            <a:bodyPr rtlCol="0" anchor="ctr"/>
            <a:lstStyle/>
            <a:p/>
          </p:txBody>
        </p:sp>
        <p:sp>
          <p:nvSpPr>
            <p:cNvPr id="50" name="text_195"/>
            <p:cNvSpPr txBox="1"/>
            <p:nvPr/>
          </p:nvSpPr>
          <p:spPr>
            <a:xfrm>
              <a:off x="10213848" y="3246120"/>
              <a:ext cx="1316736" cy="274320"/>
            </a:xfrm>
            <a:prstGeom prst="rect">
              <a:avLst/>
            </a:prstGeom>
            <a:noFill/>
          </p:spPr>
          <p:txBody>
            <a:bodyPr wrap="square" lIns="0" rIns="0" tIns="0" bIns="0" anchor="t">
              <a:spAutoFit/>
            </a:bodyPr>
            <a:lstStyle/>
            <a:p>
              <a:pPr algn="ctr"/>
              <a:r>
                <a:rPr sz="1400" b="1" i="0">
                  <a:solidFill>
                    <a:srgbClr val="FFFFFF"/>
                  </a:solidFill>
                  <a:latin typeface="Arial"/>
                </a:rPr>
                <a:t>Mira</a:t>
              </a:r>
            </a:p>
          </p:txBody>
        </p:sp>
        <p:sp>
          <p:nvSpPr>
            <p:cNvPr id="51" name="text_196"/>
            <p:cNvSpPr txBox="1"/>
            <p:nvPr/>
          </p:nvSpPr>
          <p:spPr>
            <a:xfrm>
              <a:off x="10213848" y="3547872"/>
              <a:ext cx="1316736" cy="274320"/>
            </a:xfrm>
            <a:prstGeom prst="rect">
              <a:avLst/>
            </a:prstGeom>
            <a:noFill/>
          </p:spPr>
          <p:txBody>
            <a:bodyPr wrap="square" lIns="0" rIns="0" tIns="0" bIns="0" anchor="t">
              <a:spAutoFit/>
            </a:bodyPr>
            <a:lstStyle/>
            <a:p>
              <a:pPr algn="ctr"/>
              <a:r>
                <a:rPr sz="1000" b="1" i="0">
                  <a:solidFill>
                    <a:srgbClr val="EC4899"/>
                  </a:solidFill>
                  <a:latin typeface="Arial"/>
                </a:rPr>
                <a:t>Masky + n8n</a:t>
              </a:r>
            </a:p>
          </p:txBody>
        </p:sp>
        <p:sp>
          <p:nvSpPr>
            <p:cNvPr id="52" name="shape_197"/>
            <p:cNvSpPr/>
            <p:nvPr/>
          </p:nvSpPr>
          <p:spPr>
            <a:xfrm>
              <a:off x="10213848" y="4023360"/>
              <a:ext cx="1316736" cy="749808"/>
            </a:xfrm>
            <a:prstGeom prst="roundRect">
              <a:avLst>
                <a:gd name="adj" fmla="val 17073"/>
              </a:avLst>
            </a:prstGeom>
            <a:solidFill>
              <a:srgbClr val="10B981">
                <a:alpha val="12000"/>
              </a:srgbClr>
            </a:solidFill>
            <a:ln w="9525">
              <a:solidFill>
                <a:srgbClr val="10B981">
                  <a:alpha val="50000"/>
                </a:srgbClr>
              </a:solidFill>
            </a:ln>
          </p:spPr>
          <p:txBody>
            <a:bodyPr rtlCol="0" anchor="ctr"/>
            <a:lstStyle/>
            <a:p/>
          </p:txBody>
        </p:sp>
        <p:sp>
          <p:nvSpPr>
            <p:cNvPr id="53" name="text_198"/>
            <p:cNvSpPr txBox="1"/>
            <p:nvPr/>
          </p:nvSpPr>
          <p:spPr>
            <a:xfrm>
              <a:off x="10213848" y="4114800"/>
              <a:ext cx="1316736" cy="274320"/>
            </a:xfrm>
            <a:prstGeom prst="rect">
              <a:avLst/>
            </a:prstGeom>
            <a:noFill/>
          </p:spPr>
          <p:txBody>
            <a:bodyPr wrap="square" lIns="0" rIns="0" tIns="0" bIns="0" anchor="t">
              <a:spAutoFit/>
            </a:bodyPr>
            <a:lstStyle/>
            <a:p>
              <a:pPr algn="ctr"/>
              <a:r>
                <a:rPr sz="1400" b="1" i="0">
                  <a:solidFill>
                    <a:srgbClr val="FFFFFF"/>
                  </a:solidFill>
                  <a:latin typeface="Arial"/>
                </a:rPr>
                <a:t>Juno</a:t>
              </a:r>
            </a:p>
          </p:txBody>
        </p:sp>
        <p:sp>
          <p:nvSpPr>
            <p:cNvPr id="54" name="text_199"/>
            <p:cNvSpPr txBox="1"/>
            <p:nvPr/>
          </p:nvSpPr>
          <p:spPr>
            <a:xfrm>
              <a:off x="10213848" y="4416552"/>
              <a:ext cx="1316736" cy="274320"/>
            </a:xfrm>
            <a:prstGeom prst="rect">
              <a:avLst/>
            </a:prstGeom>
            <a:noFill/>
          </p:spPr>
          <p:txBody>
            <a:bodyPr wrap="square" lIns="0" rIns="0" tIns="0" bIns="0" anchor="t">
              <a:spAutoFit/>
            </a:bodyPr>
            <a:lstStyle/>
            <a:p>
              <a:pPr algn="ctr"/>
              <a:r>
                <a:rPr sz="1000" b="1" i="0">
                  <a:solidFill>
                    <a:srgbClr val="10B981"/>
                  </a:solidFill>
                  <a:latin typeface="Arial"/>
                </a:rPr>
                <a:t>Prelint</a:t>
              </a:r>
            </a:p>
          </p:txBody>
        </p:sp>
        <p:sp>
          <p:nvSpPr>
            <p:cNvPr id="55" name="shape_200"/>
            <p:cNvSpPr/>
            <p:nvPr/>
          </p:nvSpPr>
          <p:spPr>
            <a:xfrm>
              <a:off x="10213848" y="4892040"/>
              <a:ext cx="1316736" cy="749808"/>
            </a:xfrm>
            <a:prstGeom prst="roundRect">
              <a:avLst>
                <a:gd name="adj" fmla="val 17073"/>
              </a:avLst>
            </a:prstGeom>
            <a:solidFill>
              <a:srgbClr val="F59E0B">
                <a:alpha val="12000"/>
              </a:srgbClr>
            </a:solidFill>
            <a:ln w="9525">
              <a:solidFill>
                <a:srgbClr val="F59E0B">
                  <a:alpha val="50000"/>
                </a:srgbClr>
              </a:solidFill>
            </a:ln>
          </p:spPr>
          <p:txBody>
            <a:bodyPr rtlCol="0" anchor="ctr"/>
            <a:lstStyle/>
            <a:p/>
          </p:txBody>
        </p:sp>
        <p:sp>
          <p:nvSpPr>
            <p:cNvPr id="56" name="text_201"/>
            <p:cNvSpPr txBox="1"/>
            <p:nvPr/>
          </p:nvSpPr>
          <p:spPr>
            <a:xfrm>
              <a:off x="10213848" y="4983479"/>
              <a:ext cx="1316736" cy="274320"/>
            </a:xfrm>
            <a:prstGeom prst="rect">
              <a:avLst/>
            </a:prstGeom>
            <a:noFill/>
          </p:spPr>
          <p:txBody>
            <a:bodyPr wrap="square" lIns="0" rIns="0" tIns="0" bIns="0" anchor="t">
              <a:spAutoFit/>
            </a:bodyPr>
            <a:lstStyle/>
            <a:p>
              <a:pPr algn="ctr"/>
              <a:r>
                <a:rPr sz="1400" b="1" i="0">
                  <a:solidFill>
                    <a:srgbClr val="FFFFFF"/>
                  </a:solidFill>
                  <a:latin typeface="Arial"/>
                </a:rPr>
                <a:t>Kai</a:t>
              </a:r>
            </a:p>
          </p:txBody>
        </p:sp>
        <p:sp>
          <p:nvSpPr>
            <p:cNvPr id="57" name="text_202"/>
            <p:cNvSpPr txBox="1"/>
            <p:nvPr/>
          </p:nvSpPr>
          <p:spPr>
            <a:xfrm>
              <a:off x="10213848" y="5285231"/>
              <a:ext cx="1316736" cy="274320"/>
            </a:xfrm>
            <a:prstGeom prst="rect">
              <a:avLst/>
            </a:prstGeom>
            <a:noFill/>
          </p:spPr>
          <p:txBody>
            <a:bodyPr wrap="square" lIns="0" rIns="0" tIns="0" bIns="0" anchor="t">
              <a:spAutoFit/>
            </a:bodyPr>
            <a:lstStyle/>
            <a:p>
              <a:pPr algn="ctr"/>
              <a:r>
                <a:rPr sz="1000" b="1" i="0">
                  <a:solidFill>
                    <a:srgbClr val="F59E0B"/>
                  </a:solidFill>
                  <a:latin typeface="Arial"/>
                </a:rPr>
                <a:t>Snyk + Tenki</a:t>
              </a:r>
            </a:p>
          </p:txBody>
        </p:sp>
      </p:grpSp>
      <p:cxnSp>
        <p:nvCxnSpPr>
          <p:cNvPr id="58" name="line_203"/>
          <p:cNvCxnSpPr/>
          <p:nvPr/>
        </p:nvCxnSpPr>
        <p:spPr>
          <a:xfrm>
            <a:off x="2788920" y="2171700"/>
            <a:ext cx="365760" cy="0"/>
          </a:xfrm>
          <a:prstGeom prst="line">
            <a:avLst/>
          </a:prstGeom>
          <a:ln w="15875">
            <a:solidFill>
              <a:srgbClr val="22D3EE">
                <a:alpha val="90000"/>
              </a:srgbClr>
            </a:solidFill>
            <a:tailEnd type="triangle" w="med" len="med"/>
          </a:ln>
        </p:spPr>
      </p:cxnSp>
      <p:cxnSp>
        <p:nvCxnSpPr>
          <p:cNvPr id="59" name="line_204"/>
          <p:cNvCxnSpPr/>
          <p:nvPr/>
        </p:nvCxnSpPr>
        <p:spPr>
          <a:xfrm>
            <a:off x="5394960" y="2171700"/>
            <a:ext cx="365760" cy="0"/>
          </a:xfrm>
          <a:prstGeom prst="line">
            <a:avLst/>
          </a:prstGeom>
          <a:ln w="15875">
            <a:solidFill>
              <a:srgbClr val="22D3EE">
                <a:alpha val="90000"/>
              </a:srgbClr>
            </a:solidFill>
            <a:tailEnd type="triangle" w="med" len="med"/>
          </a:ln>
        </p:spPr>
      </p:cxnSp>
      <p:cxnSp>
        <p:nvCxnSpPr>
          <p:cNvPr id="60" name="line_205"/>
          <p:cNvCxnSpPr/>
          <p:nvPr/>
        </p:nvCxnSpPr>
        <p:spPr>
          <a:xfrm>
            <a:off x="7589520" y="2171700"/>
            <a:ext cx="365759" cy="0"/>
          </a:xfrm>
          <a:prstGeom prst="line">
            <a:avLst/>
          </a:prstGeom>
          <a:ln w="15875">
            <a:solidFill>
              <a:srgbClr val="22D3EE">
                <a:alpha val="90000"/>
              </a:srgbClr>
            </a:solidFill>
            <a:tailEnd type="triangle" w="med" len="med"/>
          </a:ln>
        </p:spPr>
      </p:cxnSp>
      <p:cxnSp>
        <p:nvCxnSpPr>
          <p:cNvPr id="61" name="line_206"/>
          <p:cNvCxnSpPr/>
          <p:nvPr/>
        </p:nvCxnSpPr>
        <p:spPr>
          <a:xfrm>
            <a:off x="9784080" y="2171700"/>
            <a:ext cx="320040" cy="0"/>
          </a:xfrm>
          <a:prstGeom prst="line">
            <a:avLst/>
          </a:prstGeom>
          <a:ln w="15875">
            <a:solidFill>
              <a:srgbClr val="22D3EE">
                <a:alpha val="90000"/>
              </a:srgbClr>
            </a:solidFill>
            <a:tailEnd type="triangle" w="med" len="med"/>
          </a:ln>
        </p:spPr>
      </p:cxnSp>
      <p:cxnSp>
        <p:nvCxnSpPr>
          <p:cNvPr id="62" name="line_207"/>
          <p:cNvCxnSpPr/>
          <p:nvPr/>
        </p:nvCxnSpPr>
        <p:spPr>
          <a:xfrm flipH="1">
            <a:off x="9784080" y="5463540"/>
            <a:ext cx="320040" cy="0"/>
          </a:xfrm>
          <a:prstGeom prst="line">
            <a:avLst/>
          </a:prstGeom>
          <a:ln w="15875">
            <a:solidFill>
              <a:srgbClr val="22D3EE">
                <a:alpha val="90000"/>
              </a:srgbClr>
            </a:solidFill>
            <a:tailEnd type="triangle" w="med" len="med"/>
          </a:ln>
        </p:spPr>
      </p:cxnSp>
      <p:cxnSp>
        <p:nvCxnSpPr>
          <p:cNvPr id="63" name="line_208"/>
          <p:cNvCxnSpPr/>
          <p:nvPr/>
        </p:nvCxnSpPr>
        <p:spPr>
          <a:xfrm flipH="1">
            <a:off x="7589520" y="5463540"/>
            <a:ext cx="365759" cy="0"/>
          </a:xfrm>
          <a:prstGeom prst="line">
            <a:avLst/>
          </a:prstGeom>
          <a:ln w="15875">
            <a:solidFill>
              <a:srgbClr val="22D3EE">
                <a:alpha val="90000"/>
              </a:srgbClr>
            </a:solidFill>
            <a:tailEnd type="triangle" w="med" len="med"/>
          </a:ln>
        </p:spPr>
      </p:cxnSp>
      <p:cxnSp>
        <p:nvCxnSpPr>
          <p:cNvPr id="64" name="line_209"/>
          <p:cNvCxnSpPr/>
          <p:nvPr/>
        </p:nvCxnSpPr>
        <p:spPr>
          <a:xfrm flipH="1">
            <a:off x="5394960" y="5463540"/>
            <a:ext cx="365760" cy="0"/>
          </a:xfrm>
          <a:prstGeom prst="line">
            <a:avLst/>
          </a:prstGeom>
          <a:ln w="15875">
            <a:solidFill>
              <a:srgbClr val="22D3EE">
                <a:alpha val="90000"/>
              </a:srgbClr>
            </a:solidFill>
            <a:tailEnd type="triangle" w="med" len="med"/>
          </a:ln>
        </p:spPr>
      </p:cxnSp>
      <p:cxnSp>
        <p:nvCxnSpPr>
          <p:cNvPr id="65" name="line_210"/>
          <p:cNvCxnSpPr/>
          <p:nvPr/>
        </p:nvCxnSpPr>
        <p:spPr>
          <a:xfrm flipH="1">
            <a:off x="2788920" y="5463540"/>
            <a:ext cx="365760" cy="0"/>
          </a:xfrm>
          <a:prstGeom prst="line">
            <a:avLst/>
          </a:prstGeom>
          <a:ln w="15875">
            <a:solidFill>
              <a:srgbClr val="22D3EE">
                <a:alpha val="90000"/>
              </a:srgbClr>
            </a:solidFill>
            <a:tailEnd type="triangle" w="med" len="med"/>
          </a:ln>
        </p:spPr>
      </p:cxnSp>
      <p:cxnSp>
        <p:nvCxnSpPr>
          <p:cNvPr id="66" name="line_211"/>
          <p:cNvCxnSpPr/>
          <p:nvPr/>
        </p:nvCxnSpPr>
        <p:spPr>
          <a:xfrm flipV="1">
            <a:off x="1668780" y="2560320"/>
            <a:ext cx="0" cy="2514600"/>
          </a:xfrm>
          <a:prstGeom prst="line">
            <a:avLst/>
          </a:prstGeom>
          <a:ln w="15875">
            <a:solidFill>
              <a:srgbClr val="22D3EE">
                <a:alpha val="90000"/>
              </a:srgbClr>
            </a:solidFill>
            <a:prstDash val="dash"/>
            <a:tailEnd type="triangle" w="med" len="med"/>
          </a:ln>
        </p:spPr>
      </p:cxnSp>
      <p:grpSp>
        <p:nvGrpSpPr>
          <p:cNvPr id="67" name="group_212"/>
          <p:cNvGrpSpPr/>
          <p:nvPr/>
        </p:nvGrpSpPr>
        <p:grpSpPr>
          <a:xfrm>
            <a:off x="3154680" y="2971800"/>
            <a:ext cx="6629400" cy="1691640"/>
            <a:chOff x="3154680" y="2971800"/>
            <a:chExt cx="6629400" cy="1691640"/>
          </a:xfrm>
        </p:grpSpPr>
        <p:sp>
          <p:nvSpPr>
            <p:cNvPr id="68" name="shape_213"/>
            <p:cNvSpPr/>
            <p:nvPr/>
          </p:nvSpPr>
          <p:spPr>
            <a:xfrm>
              <a:off x="3154680" y="2971800"/>
              <a:ext cx="6629400" cy="1691640"/>
            </a:xfrm>
            <a:prstGeom prst="roundRect">
              <a:avLst>
                <a:gd name="adj" fmla="val 10810"/>
              </a:avLst>
            </a:prstGeom>
            <a:solidFill>
              <a:srgbClr val="FFFFFF">
                <a:alpha val="4000"/>
              </a:srgbClr>
            </a:solidFill>
            <a:ln w="9525">
              <a:solidFill>
                <a:srgbClr val="FFFFFF">
                  <a:alpha val="10000"/>
                </a:srgbClr>
              </a:solidFill>
            </a:ln>
          </p:spPr>
          <p:txBody>
            <a:bodyPr rtlCol="0" anchor="ctr"/>
            <a:lstStyle/>
            <a:p/>
          </p:txBody>
        </p:sp>
        <p:sp>
          <p:nvSpPr>
            <p:cNvPr id="69" name="text_214"/>
            <p:cNvSpPr txBox="1"/>
            <p:nvPr/>
          </p:nvSpPr>
          <p:spPr>
            <a:xfrm>
              <a:off x="3429000" y="3108960"/>
              <a:ext cx="6126480" cy="274320"/>
            </a:xfrm>
            <a:prstGeom prst="rect">
              <a:avLst/>
            </a:prstGeom>
            <a:noFill/>
          </p:spPr>
          <p:txBody>
            <a:bodyPr wrap="square" lIns="0" rIns="0" tIns="0" bIns="0" anchor="t">
              <a:spAutoFit/>
            </a:bodyPr>
            <a:lstStyle/>
            <a:p>
              <a:pPr algn="ctr"/>
              <a:r>
                <a:rPr sz="1100" b="1" i="0" spc="200">
                  <a:solidFill>
                    <a:srgbClr val="22D3EE"/>
                  </a:solidFill>
                  <a:latin typeface="Arial"/>
                </a:rPr>
                <a:t>EVERY CALL GOES THROUGH FLATKEY</a:t>
              </a:r>
            </a:p>
          </p:txBody>
        </p:sp>
        <p:grpSp>
          <p:nvGrpSpPr>
            <p:cNvPr id="70" name="group_215"/>
            <p:cNvGrpSpPr/>
            <p:nvPr/>
          </p:nvGrpSpPr>
          <p:grpSpPr>
            <a:xfrm>
              <a:off x="3543300" y="3493008"/>
              <a:ext cx="1325880" cy="384048"/>
              <a:chOff x="3543300" y="3493008"/>
              <a:chExt cx="1325880" cy="384048"/>
            </a:xfrm>
          </p:grpSpPr>
          <p:sp>
            <p:nvSpPr>
              <p:cNvPr id="71" name="shape_216"/>
              <p:cNvSpPr/>
              <p:nvPr/>
            </p:nvSpPr>
            <p:spPr>
              <a:xfrm>
                <a:off x="3543300" y="3493008"/>
                <a:ext cx="1325880" cy="384048"/>
              </a:xfrm>
              <a:prstGeom prst="roundRect">
                <a:avLst>
                  <a:gd name="adj" fmla="val 50000"/>
                </a:avLst>
              </a:prstGeom>
              <a:solidFill>
                <a:srgbClr val="22D3EE">
                  <a:alpha val="10000"/>
                </a:srgbClr>
              </a:solidFill>
              <a:ln w="9525">
                <a:solidFill>
                  <a:srgbClr val="22D3EE">
                    <a:alpha val="50000"/>
                  </a:srgbClr>
                </a:solidFill>
              </a:ln>
            </p:spPr>
            <p:txBody>
              <a:bodyPr rtlCol="0" anchor="ctr"/>
              <a:lstStyle/>
              <a:p/>
            </p:txBody>
          </p:sp>
          <p:sp>
            <p:nvSpPr>
              <p:cNvPr id="72" name="text_217"/>
              <p:cNvSpPr txBox="1"/>
              <p:nvPr/>
            </p:nvSpPr>
            <p:spPr>
              <a:xfrm>
                <a:off x="3543300" y="3493008"/>
                <a:ext cx="1325880" cy="384048"/>
              </a:xfrm>
              <a:prstGeom prst="rect">
                <a:avLst/>
              </a:prstGeom>
              <a:noFill/>
            </p:spPr>
            <p:txBody>
              <a:bodyPr wrap="square" lIns="0" rIns="0" tIns="0" bIns="0" anchor="ctr">
                <a:spAutoFit/>
              </a:bodyPr>
              <a:lstStyle/>
              <a:p>
                <a:pPr algn="ctr"/>
                <a:r>
                  <a:rPr sz="1200" b="1" i="0">
                    <a:solidFill>
                      <a:srgbClr val="22D3EE"/>
                    </a:solidFill>
                    <a:latin typeface="Arial"/>
                  </a:rPr>
                  <a:t>fast</a:t>
                </a:r>
              </a:p>
            </p:txBody>
          </p:sp>
        </p:grpSp>
        <p:grpSp>
          <p:nvGrpSpPr>
            <p:cNvPr id="73" name="group_218"/>
            <p:cNvGrpSpPr/>
            <p:nvPr/>
          </p:nvGrpSpPr>
          <p:grpSpPr>
            <a:xfrm>
              <a:off x="5052060" y="3493008"/>
              <a:ext cx="1325880" cy="384048"/>
              <a:chOff x="5052060" y="3493008"/>
              <a:chExt cx="1325880" cy="384048"/>
            </a:xfrm>
          </p:grpSpPr>
          <p:sp>
            <p:nvSpPr>
              <p:cNvPr id="74" name="shape_219"/>
              <p:cNvSpPr/>
              <p:nvPr/>
            </p:nvSpPr>
            <p:spPr>
              <a:xfrm>
                <a:off x="5052060" y="3493008"/>
                <a:ext cx="1325880" cy="384048"/>
              </a:xfrm>
              <a:prstGeom prst="roundRect">
                <a:avLst>
                  <a:gd name="adj" fmla="val 50000"/>
                </a:avLst>
              </a:prstGeom>
              <a:solidFill>
                <a:srgbClr val="A78BFA">
                  <a:alpha val="10000"/>
                </a:srgbClr>
              </a:solidFill>
              <a:ln w="9525">
                <a:solidFill>
                  <a:srgbClr val="A78BFA">
                    <a:alpha val="50000"/>
                  </a:srgbClr>
                </a:solidFill>
              </a:ln>
            </p:spPr>
            <p:txBody>
              <a:bodyPr rtlCol="0" anchor="ctr"/>
              <a:lstStyle/>
              <a:p/>
            </p:txBody>
          </p:sp>
          <p:sp>
            <p:nvSpPr>
              <p:cNvPr id="75" name="text_220"/>
              <p:cNvSpPr txBox="1"/>
              <p:nvPr/>
            </p:nvSpPr>
            <p:spPr>
              <a:xfrm>
                <a:off x="5052060" y="3493008"/>
                <a:ext cx="1325880" cy="384048"/>
              </a:xfrm>
              <a:prstGeom prst="rect">
                <a:avLst/>
              </a:prstGeom>
              <a:noFill/>
            </p:spPr>
            <p:txBody>
              <a:bodyPr wrap="square" lIns="0" rIns="0" tIns="0" bIns="0" anchor="ctr">
                <a:spAutoFit/>
              </a:bodyPr>
              <a:lstStyle/>
              <a:p>
                <a:pPr algn="ctr"/>
                <a:r>
                  <a:rPr sz="1200" b="1" i="0">
                    <a:solidFill>
                      <a:srgbClr val="A78BFA"/>
                    </a:solidFill>
                    <a:latin typeface="Arial"/>
                  </a:rPr>
                  <a:t>reasoning</a:t>
                </a:r>
              </a:p>
            </p:txBody>
          </p:sp>
        </p:grpSp>
        <p:grpSp>
          <p:nvGrpSpPr>
            <p:cNvPr id="76" name="group_221"/>
            <p:cNvGrpSpPr/>
            <p:nvPr/>
          </p:nvGrpSpPr>
          <p:grpSpPr>
            <a:xfrm>
              <a:off x="6560820" y="3493008"/>
              <a:ext cx="1325880" cy="384048"/>
              <a:chOff x="6560820" y="3493008"/>
              <a:chExt cx="1325880" cy="384048"/>
            </a:xfrm>
          </p:grpSpPr>
          <p:sp>
            <p:nvSpPr>
              <p:cNvPr id="77" name="shape_222"/>
              <p:cNvSpPr/>
              <p:nvPr/>
            </p:nvSpPr>
            <p:spPr>
              <a:xfrm>
                <a:off x="6560820" y="3493008"/>
                <a:ext cx="1325880" cy="384048"/>
              </a:xfrm>
              <a:prstGeom prst="roundRect">
                <a:avLst>
                  <a:gd name="adj" fmla="val 50000"/>
                </a:avLst>
              </a:prstGeom>
              <a:solidFill>
                <a:srgbClr val="F59E0B">
                  <a:alpha val="10000"/>
                </a:srgbClr>
              </a:solidFill>
              <a:ln w="9525">
                <a:solidFill>
                  <a:srgbClr val="F59E0B">
                    <a:alpha val="50000"/>
                  </a:srgbClr>
                </a:solidFill>
              </a:ln>
            </p:spPr>
            <p:txBody>
              <a:bodyPr rtlCol="0" anchor="ctr"/>
              <a:lstStyle/>
              <a:p/>
            </p:txBody>
          </p:sp>
          <p:sp>
            <p:nvSpPr>
              <p:cNvPr id="78" name="text_223"/>
              <p:cNvSpPr txBox="1"/>
              <p:nvPr/>
            </p:nvSpPr>
            <p:spPr>
              <a:xfrm>
                <a:off x="6560820" y="3493008"/>
                <a:ext cx="1325880" cy="384048"/>
              </a:xfrm>
              <a:prstGeom prst="rect">
                <a:avLst/>
              </a:prstGeom>
              <a:noFill/>
            </p:spPr>
            <p:txBody>
              <a:bodyPr wrap="square" lIns="0" rIns="0" tIns="0" bIns="0" anchor="ctr">
                <a:spAutoFit/>
              </a:bodyPr>
              <a:lstStyle/>
              <a:p>
                <a:pPr algn="ctr"/>
                <a:r>
                  <a:rPr sz="1200" b="1" i="0">
                    <a:solidFill>
                      <a:srgbClr val="F59E0B"/>
                    </a:solidFill>
                    <a:latin typeface="Arial"/>
                  </a:rPr>
                  <a:t>coding</a:t>
                </a:r>
              </a:p>
            </p:txBody>
          </p:sp>
        </p:grpSp>
        <p:grpSp>
          <p:nvGrpSpPr>
            <p:cNvPr id="79" name="group_224"/>
            <p:cNvGrpSpPr/>
            <p:nvPr/>
          </p:nvGrpSpPr>
          <p:grpSpPr>
            <a:xfrm>
              <a:off x="8069579" y="3493008"/>
              <a:ext cx="1325880" cy="384048"/>
              <a:chOff x="8069579" y="3493008"/>
              <a:chExt cx="1325880" cy="384048"/>
            </a:xfrm>
          </p:grpSpPr>
          <p:sp>
            <p:nvSpPr>
              <p:cNvPr id="80" name="shape_225"/>
              <p:cNvSpPr/>
              <p:nvPr/>
            </p:nvSpPr>
            <p:spPr>
              <a:xfrm>
                <a:off x="8069579" y="3493008"/>
                <a:ext cx="1325880" cy="384048"/>
              </a:xfrm>
              <a:prstGeom prst="roundRect">
                <a:avLst>
                  <a:gd name="adj" fmla="val 50000"/>
                </a:avLst>
              </a:prstGeom>
              <a:solidFill>
                <a:srgbClr val="F43F5E">
                  <a:alpha val="10000"/>
                </a:srgbClr>
              </a:solidFill>
              <a:ln w="9525">
                <a:solidFill>
                  <a:srgbClr val="F43F5E">
                    <a:alpha val="50000"/>
                  </a:srgbClr>
                </a:solidFill>
              </a:ln>
            </p:spPr>
            <p:txBody>
              <a:bodyPr rtlCol="0" anchor="ctr"/>
              <a:lstStyle/>
              <a:p/>
            </p:txBody>
          </p:sp>
          <p:sp>
            <p:nvSpPr>
              <p:cNvPr id="81" name="text_226"/>
              <p:cNvSpPr txBox="1"/>
              <p:nvPr/>
            </p:nvSpPr>
            <p:spPr>
              <a:xfrm>
                <a:off x="8069579" y="3493008"/>
                <a:ext cx="1325880" cy="384048"/>
              </a:xfrm>
              <a:prstGeom prst="rect">
                <a:avLst/>
              </a:prstGeom>
              <a:noFill/>
            </p:spPr>
            <p:txBody>
              <a:bodyPr wrap="square" lIns="0" rIns="0" tIns="0" bIns="0" anchor="ctr">
                <a:spAutoFit/>
              </a:bodyPr>
              <a:lstStyle/>
              <a:p>
                <a:pPr algn="ctr"/>
                <a:r>
                  <a:rPr sz="1200" b="1" i="0">
                    <a:solidFill>
                      <a:srgbClr val="F43F5E"/>
                    </a:solidFill>
                    <a:latin typeface="Arial"/>
                  </a:rPr>
                  <a:t>vision</a:t>
                </a:r>
              </a:p>
            </p:txBody>
          </p:sp>
        </p:grpSp>
        <p:sp>
          <p:nvSpPr>
            <p:cNvPr id="82" name="text_227"/>
            <p:cNvSpPr txBox="1"/>
            <p:nvPr/>
          </p:nvSpPr>
          <p:spPr>
            <a:xfrm>
              <a:off x="3429000" y="4023360"/>
              <a:ext cx="6126480" cy="502920"/>
            </a:xfrm>
            <a:prstGeom prst="rect">
              <a:avLst/>
            </a:prstGeom>
            <a:noFill/>
          </p:spPr>
          <p:txBody>
            <a:bodyPr wrap="square" lIns="0" rIns="0" tIns="0" bIns="0" anchor="t">
              <a:spAutoFit/>
            </a:bodyPr>
            <a:lstStyle/>
            <a:p>
              <a:pPr algn="ctr"/>
              <a:r>
                <a:rPr sz="1200" b="0" i="0">
                  <a:solidFill>
                    <a:srgbClr val="8B90A0"/>
                  </a:solidFill>
                  <a:latin typeface="Arial"/>
                </a:rPr>
                <a:t>Tiered models with automatic failover and per-call cost tracking. Kylon holds the workforce manifest; Finch skills are shared by every agent.</a:t>
              </a:r>
            </a:p>
          </p:txBody>
        </p:sp>
      </p:grpSp>
      <p:sp>
        <p:nvSpPr>
          <p:cNvPr id="83" name="loopdot"/>
          <p:cNvSpPr/>
          <p:nvPr/>
        </p:nvSpPr>
        <p:spPr>
          <a:xfrm>
            <a:off x="1577339" y="3726180"/>
            <a:ext cx="182880" cy="182880"/>
          </a:xfrm>
          <a:prstGeom prst="ellipse">
            <a:avLst/>
          </a:prstGeom>
          <a:solidFill>
            <a:srgbClr val="22D3EE"/>
          </a:solidFill>
          <a:ln>
            <a:noFill/>
          </a:ln>
          <a:effectLst>
            <a:glow rad="127000">
              <a:srgbClr val="22D3EE">
                <a:alpha val="60000"/>
              </a:srgbClr>
            </a:glow>
          </a:effectLst>
        </p:spPr>
        <p:txBody>
          <a:bodyPr rtlCol="0" anchor="ctr"/>
          <a:lstStyle/>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600"/>
                                        <p:tgtEl>
                                          <p:spTgt spid="10"/>
                                        </p:tgtEl>
                                      </p:cBhvr>
                                    </p:animEffect>
                                    <p:anim calcmode="lin" valueType="num">
                                      <p:cBhvr additive="base">
                                        <p:cTn id="11" dur="600" fill="hold"/>
                                        <p:tgtEl>
                                          <p:spTgt spid="10"/>
                                        </p:tgtEl>
                                        <p:attrNameLst>
                                          <p:attrName>ppt_x</p:attrName>
                                        </p:attrNameLst>
                                      </p:cBhvr>
                                      <p:tavLst>
                                        <p:tav tm="0">
                                          <p:val>
                                            <p:strVal val="#ppt_x"/>
                                          </p:val>
                                        </p:tav>
                                        <p:tav tm="100000">
                                          <p:val>
                                            <p:strVal val="#ppt_x"/>
                                          </p:val>
                                        </p:tav>
                                      </p:tavLst>
                                    </p:anim>
                                    <p:anim calcmode="lin" valueType="num">
                                      <p:cBhvr additive="base">
                                        <p:cTn id="12" dur="600" fill="hold"/>
                                        <p:tgtEl>
                                          <p:spTgt spid="10"/>
                                        </p:tgtEl>
                                        <p:attrNameLst>
                                          <p:attrName>ppt_y</p:attrName>
                                        </p:attrNameLst>
                                      </p:cBhvr>
                                      <p:tavLst>
                                        <p:tav tm="0">
                                          <p:val>
                                            <p:strVal val="#ppt_y+.06"/>
                                          </p:val>
                                        </p:tav>
                                        <p:tav tm="100000">
                                          <p:val>
                                            <p:strVal val="#ppt_y"/>
                                          </p:val>
                                        </p:tav>
                                      </p:tavLst>
                                    </p:anim>
                                  </p:childTnLst>
                                </p:cTn>
                              </p:par>
                              <p:par>
                                <p:cTn id="13" presetID="53" presetClass="entr" presetSubtype="16" fill="hold" grpId="0" nodeType="withEffect">
                                  <p:stCondLst>
                                    <p:cond delay="40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450" fill="hold"/>
                                        <p:tgtEl>
                                          <p:spTgt spid="11"/>
                                        </p:tgtEl>
                                        <p:attrNameLst>
                                          <p:attrName>ppt_w</p:attrName>
                                        </p:attrNameLst>
                                      </p:cBhvr>
                                      <p:tavLst>
                                        <p:tav tm="0">
                                          <p:val>
                                            <p:strVal val="0"/>
                                          </p:val>
                                        </p:tav>
                                        <p:tav tm="100000">
                                          <p:val>
                                            <p:strVal val="#ppt_w"/>
                                          </p:val>
                                        </p:tav>
                                      </p:tavLst>
                                    </p:anim>
                                    <p:anim calcmode="lin" valueType="num">
                                      <p:cBhvr additive="base">
                                        <p:cTn id="16" dur="450" fill="hold"/>
                                        <p:tgtEl>
                                          <p:spTgt spid="11"/>
                                        </p:tgtEl>
                                        <p:attrNameLst>
                                          <p:attrName>ppt_h</p:attrName>
                                        </p:attrNameLst>
                                      </p:cBhvr>
                                      <p:tavLst>
                                        <p:tav tm="0">
                                          <p:val>
                                            <p:strVal val="0"/>
                                          </p:val>
                                        </p:tav>
                                        <p:tav tm="100000">
                                          <p:val>
                                            <p:strVal val="#ppt_h"/>
                                          </p:val>
                                        </p:tav>
                                      </p:tavLst>
                                    </p:anim>
                                    <p:animEffect transition="in" filter="fade">
                                      <p:cBhvr>
                                        <p:cTn id="17" dur="450"/>
                                        <p:tgtEl>
                                          <p:spTgt spid="11"/>
                                        </p:tgtEl>
                                      </p:cBhvr>
                                    </p:animEffect>
                                  </p:childTnLst>
                                </p:cTn>
                              </p:par>
                              <p:par>
                                <p:cTn id="18" presetID="10" presetClass="entr" presetSubtype="0" fill="hold" grpId="0" nodeType="withEffect">
                                  <p:stCondLst>
                                    <p:cond delay="580"/>
                                  </p:stCondLst>
                                  <p:childTnLst>
                                    <p:set>
                                      <p:cBhvr>
                                        <p:cTn id="19" dur="1" fill="hold">
                                          <p:stCondLst>
                                            <p:cond delay="0"/>
                                          </p:stCondLst>
                                        </p:cTn>
                                        <p:tgtEl>
                                          <p:spTgt spid="58"/>
                                        </p:tgtEl>
                                        <p:attrNameLst>
                                          <p:attrName>style.visibility</p:attrName>
                                        </p:attrNameLst>
                                      </p:cBhvr>
                                      <p:to>
                                        <p:strVal val="visible"/>
                                      </p:to>
                                    </p:set>
                                    <p:animEffect transition="in" filter="fade">
                                      <p:cBhvr>
                                        <p:cTn id="20" dur="300"/>
                                        <p:tgtEl>
                                          <p:spTgt spid="58"/>
                                        </p:tgtEl>
                                      </p:cBhvr>
                                    </p:animEffect>
                                  </p:childTnLst>
                                </p:cTn>
                              </p:par>
                              <p:par>
                                <p:cTn id="21" presetID="53" presetClass="entr" presetSubtype="16" fill="hold" grpId="0" nodeType="withEffect">
                                  <p:stCondLst>
                                    <p:cond delay="63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450" fill="hold"/>
                                        <p:tgtEl>
                                          <p:spTgt spid="15"/>
                                        </p:tgtEl>
                                        <p:attrNameLst>
                                          <p:attrName>ppt_w</p:attrName>
                                        </p:attrNameLst>
                                      </p:cBhvr>
                                      <p:tavLst>
                                        <p:tav tm="0">
                                          <p:val>
                                            <p:strVal val="0"/>
                                          </p:val>
                                        </p:tav>
                                        <p:tav tm="100000">
                                          <p:val>
                                            <p:strVal val="#ppt_w"/>
                                          </p:val>
                                        </p:tav>
                                      </p:tavLst>
                                    </p:anim>
                                    <p:anim calcmode="lin" valueType="num">
                                      <p:cBhvr additive="base">
                                        <p:cTn id="24" dur="450" fill="hold"/>
                                        <p:tgtEl>
                                          <p:spTgt spid="15"/>
                                        </p:tgtEl>
                                        <p:attrNameLst>
                                          <p:attrName>ppt_h</p:attrName>
                                        </p:attrNameLst>
                                      </p:cBhvr>
                                      <p:tavLst>
                                        <p:tav tm="0">
                                          <p:val>
                                            <p:strVal val="0"/>
                                          </p:val>
                                        </p:tav>
                                        <p:tav tm="100000">
                                          <p:val>
                                            <p:strVal val="#ppt_h"/>
                                          </p:val>
                                        </p:tav>
                                      </p:tavLst>
                                    </p:anim>
                                    <p:animEffect transition="in" filter="fade">
                                      <p:cBhvr>
                                        <p:cTn id="25" dur="450"/>
                                        <p:tgtEl>
                                          <p:spTgt spid="15"/>
                                        </p:tgtEl>
                                      </p:cBhvr>
                                    </p:animEffect>
                                  </p:childTnLst>
                                </p:cTn>
                              </p:par>
                              <p:par>
                                <p:cTn id="26" presetID="10" presetClass="entr" presetSubtype="0" fill="hold" grpId="0" nodeType="withEffect">
                                  <p:stCondLst>
                                    <p:cond delay="810"/>
                                  </p:stCondLst>
                                  <p:childTnLst>
                                    <p:set>
                                      <p:cBhvr>
                                        <p:cTn id="27" dur="1" fill="hold">
                                          <p:stCondLst>
                                            <p:cond delay="0"/>
                                          </p:stCondLst>
                                        </p:cTn>
                                        <p:tgtEl>
                                          <p:spTgt spid="59"/>
                                        </p:tgtEl>
                                        <p:attrNameLst>
                                          <p:attrName>style.visibility</p:attrName>
                                        </p:attrNameLst>
                                      </p:cBhvr>
                                      <p:to>
                                        <p:strVal val="visible"/>
                                      </p:to>
                                    </p:set>
                                    <p:animEffect transition="in" filter="fade">
                                      <p:cBhvr>
                                        <p:cTn id="28" dur="300"/>
                                        <p:tgtEl>
                                          <p:spTgt spid="59"/>
                                        </p:tgtEl>
                                      </p:cBhvr>
                                    </p:animEffect>
                                  </p:childTnLst>
                                </p:cTn>
                              </p:par>
                              <p:par>
                                <p:cTn id="29" presetID="53" presetClass="entr" presetSubtype="16" fill="hold" grpId="0" nodeType="withEffect">
                                  <p:stCondLst>
                                    <p:cond delay="86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450" fill="hold"/>
                                        <p:tgtEl>
                                          <p:spTgt spid="19"/>
                                        </p:tgtEl>
                                        <p:attrNameLst>
                                          <p:attrName>ppt_w</p:attrName>
                                        </p:attrNameLst>
                                      </p:cBhvr>
                                      <p:tavLst>
                                        <p:tav tm="0">
                                          <p:val>
                                            <p:strVal val="0"/>
                                          </p:val>
                                        </p:tav>
                                        <p:tav tm="100000">
                                          <p:val>
                                            <p:strVal val="#ppt_w"/>
                                          </p:val>
                                        </p:tav>
                                      </p:tavLst>
                                    </p:anim>
                                    <p:anim calcmode="lin" valueType="num">
                                      <p:cBhvr additive="base">
                                        <p:cTn id="32" dur="450" fill="hold"/>
                                        <p:tgtEl>
                                          <p:spTgt spid="19"/>
                                        </p:tgtEl>
                                        <p:attrNameLst>
                                          <p:attrName>ppt_h</p:attrName>
                                        </p:attrNameLst>
                                      </p:cBhvr>
                                      <p:tavLst>
                                        <p:tav tm="0">
                                          <p:val>
                                            <p:strVal val="0"/>
                                          </p:val>
                                        </p:tav>
                                        <p:tav tm="100000">
                                          <p:val>
                                            <p:strVal val="#ppt_h"/>
                                          </p:val>
                                        </p:tav>
                                      </p:tavLst>
                                    </p:anim>
                                    <p:animEffect transition="in" filter="fade">
                                      <p:cBhvr>
                                        <p:cTn id="33" dur="450"/>
                                        <p:tgtEl>
                                          <p:spTgt spid="19"/>
                                        </p:tgtEl>
                                      </p:cBhvr>
                                    </p:animEffect>
                                  </p:childTnLst>
                                </p:cTn>
                              </p:par>
                              <p:par>
                                <p:cTn id="34" presetID="10" presetClass="entr" presetSubtype="0" fill="hold" grpId="0" nodeType="withEffect">
                                  <p:stCondLst>
                                    <p:cond delay="1040"/>
                                  </p:stCondLst>
                                  <p:childTnLst>
                                    <p:set>
                                      <p:cBhvr>
                                        <p:cTn id="35" dur="1" fill="hold">
                                          <p:stCondLst>
                                            <p:cond delay="0"/>
                                          </p:stCondLst>
                                        </p:cTn>
                                        <p:tgtEl>
                                          <p:spTgt spid="60"/>
                                        </p:tgtEl>
                                        <p:attrNameLst>
                                          <p:attrName>style.visibility</p:attrName>
                                        </p:attrNameLst>
                                      </p:cBhvr>
                                      <p:to>
                                        <p:strVal val="visible"/>
                                      </p:to>
                                    </p:set>
                                    <p:animEffect transition="in" filter="fade">
                                      <p:cBhvr>
                                        <p:cTn id="36" dur="300"/>
                                        <p:tgtEl>
                                          <p:spTgt spid="60"/>
                                        </p:tgtEl>
                                      </p:cBhvr>
                                    </p:animEffect>
                                  </p:childTnLst>
                                </p:cTn>
                              </p:par>
                              <p:par>
                                <p:cTn id="37" presetID="53" presetClass="entr" presetSubtype="16" fill="hold" grpId="0" nodeType="withEffect">
                                  <p:stCondLst>
                                    <p:cond delay="1090"/>
                                  </p:stCondLst>
                                  <p:childTnLst>
                                    <p:set>
                                      <p:cBhvr>
                                        <p:cTn id="38" dur="1" fill="hold">
                                          <p:stCondLst>
                                            <p:cond delay="0"/>
                                          </p:stCondLst>
                                        </p:cTn>
                                        <p:tgtEl>
                                          <p:spTgt spid="23"/>
                                        </p:tgtEl>
                                        <p:attrNameLst>
                                          <p:attrName>style.visibility</p:attrName>
                                        </p:attrNameLst>
                                      </p:cBhvr>
                                      <p:to>
                                        <p:strVal val="visible"/>
                                      </p:to>
                                    </p:set>
                                    <p:anim calcmode="lin" valueType="num">
                                      <p:cBhvr additive="base">
                                        <p:cTn id="39" dur="450" fill="hold"/>
                                        <p:tgtEl>
                                          <p:spTgt spid="23"/>
                                        </p:tgtEl>
                                        <p:attrNameLst>
                                          <p:attrName>ppt_w</p:attrName>
                                        </p:attrNameLst>
                                      </p:cBhvr>
                                      <p:tavLst>
                                        <p:tav tm="0">
                                          <p:val>
                                            <p:strVal val="0"/>
                                          </p:val>
                                        </p:tav>
                                        <p:tav tm="100000">
                                          <p:val>
                                            <p:strVal val="#ppt_w"/>
                                          </p:val>
                                        </p:tav>
                                      </p:tavLst>
                                    </p:anim>
                                    <p:anim calcmode="lin" valueType="num">
                                      <p:cBhvr additive="base">
                                        <p:cTn id="40" dur="450" fill="hold"/>
                                        <p:tgtEl>
                                          <p:spTgt spid="23"/>
                                        </p:tgtEl>
                                        <p:attrNameLst>
                                          <p:attrName>ppt_h</p:attrName>
                                        </p:attrNameLst>
                                      </p:cBhvr>
                                      <p:tavLst>
                                        <p:tav tm="0">
                                          <p:val>
                                            <p:strVal val="0"/>
                                          </p:val>
                                        </p:tav>
                                        <p:tav tm="100000">
                                          <p:val>
                                            <p:strVal val="#ppt_h"/>
                                          </p:val>
                                        </p:tav>
                                      </p:tavLst>
                                    </p:anim>
                                    <p:animEffect transition="in" filter="fade">
                                      <p:cBhvr>
                                        <p:cTn id="41" dur="450"/>
                                        <p:tgtEl>
                                          <p:spTgt spid="23"/>
                                        </p:tgtEl>
                                      </p:cBhvr>
                                    </p:animEffect>
                                  </p:childTnLst>
                                </p:cTn>
                              </p:par>
                              <p:par>
                                <p:cTn id="42" presetID="10" presetClass="entr" presetSubtype="0" fill="hold" grpId="0" nodeType="withEffect">
                                  <p:stCondLst>
                                    <p:cond delay="1270"/>
                                  </p:stCondLst>
                                  <p:childTnLst>
                                    <p:set>
                                      <p:cBhvr>
                                        <p:cTn id="43" dur="1" fill="hold">
                                          <p:stCondLst>
                                            <p:cond delay="0"/>
                                          </p:stCondLst>
                                        </p:cTn>
                                        <p:tgtEl>
                                          <p:spTgt spid="61"/>
                                        </p:tgtEl>
                                        <p:attrNameLst>
                                          <p:attrName>style.visibility</p:attrName>
                                        </p:attrNameLst>
                                      </p:cBhvr>
                                      <p:to>
                                        <p:strVal val="visible"/>
                                      </p:to>
                                    </p:set>
                                    <p:animEffect transition="in" filter="fade">
                                      <p:cBhvr>
                                        <p:cTn id="44" dur="300"/>
                                        <p:tgtEl>
                                          <p:spTgt spid="61"/>
                                        </p:tgtEl>
                                      </p:cBhvr>
                                    </p:animEffect>
                                  </p:childTnLst>
                                </p:cTn>
                              </p:par>
                              <p:par>
                                <p:cTn id="45" presetID="53" presetClass="entr" presetSubtype="16" fill="hold" grpId="0" nodeType="withEffect">
                                  <p:stCondLst>
                                    <p:cond delay="1320"/>
                                  </p:stCondLst>
                                  <p:childTnLst>
                                    <p:set>
                                      <p:cBhvr>
                                        <p:cTn id="46" dur="1" fill="hold">
                                          <p:stCondLst>
                                            <p:cond delay="0"/>
                                          </p:stCondLst>
                                        </p:cTn>
                                        <p:tgtEl>
                                          <p:spTgt spid="43"/>
                                        </p:tgtEl>
                                        <p:attrNameLst>
                                          <p:attrName>style.visibility</p:attrName>
                                        </p:attrNameLst>
                                      </p:cBhvr>
                                      <p:to>
                                        <p:strVal val="visible"/>
                                      </p:to>
                                    </p:set>
                                    <p:anim calcmode="lin" valueType="num">
                                      <p:cBhvr additive="base">
                                        <p:cTn id="47" dur="450" fill="hold"/>
                                        <p:tgtEl>
                                          <p:spTgt spid="43"/>
                                        </p:tgtEl>
                                        <p:attrNameLst>
                                          <p:attrName>ppt_w</p:attrName>
                                        </p:attrNameLst>
                                      </p:cBhvr>
                                      <p:tavLst>
                                        <p:tav tm="0">
                                          <p:val>
                                            <p:strVal val="0"/>
                                          </p:val>
                                        </p:tav>
                                        <p:tav tm="100000">
                                          <p:val>
                                            <p:strVal val="#ppt_w"/>
                                          </p:val>
                                        </p:tav>
                                      </p:tavLst>
                                    </p:anim>
                                    <p:anim calcmode="lin" valueType="num">
                                      <p:cBhvr additive="base">
                                        <p:cTn id="48" dur="450" fill="hold"/>
                                        <p:tgtEl>
                                          <p:spTgt spid="43"/>
                                        </p:tgtEl>
                                        <p:attrNameLst>
                                          <p:attrName>ppt_h</p:attrName>
                                        </p:attrNameLst>
                                      </p:cBhvr>
                                      <p:tavLst>
                                        <p:tav tm="0">
                                          <p:val>
                                            <p:strVal val="0"/>
                                          </p:val>
                                        </p:tav>
                                        <p:tav tm="100000">
                                          <p:val>
                                            <p:strVal val="#ppt_h"/>
                                          </p:val>
                                        </p:tav>
                                      </p:tavLst>
                                    </p:anim>
                                    <p:animEffect transition="in" filter="fade">
                                      <p:cBhvr>
                                        <p:cTn id="49" dur="450"/>
                                        <p:tgtEl>
                                          <p:spTgt spid="43"/>
                                        </p:tgtEl>
                                      </p:cBhvr>
                                    </p:animEffect>
                                  </p:childTnLst>
                                </p:cTn>
                              </p:par>
                              <p:par>
                                <p:cTn id="50" presetID="10" presetClass="entr" presetSubtype="0" fill="hold" grpId="0" nodeType="withEffect">
                                  <p:stCondLst>
                                    <p:cond delay="1500"/>
                                  </p:stCondLst>
                                  <p:childTnLst>
                                    <p:set>
                                      <p:cBhvr>
                                        <p:cTn id="51" dur="1" fill="hold">
                                          <p:stCondLst>
                                            <p:cond delay="0"/>
                                          </p:stCondLst>
                                        </p:cTn>
                                        <p:tgtEl>
                                          <p:spTgt spid="62"/>
                                        </p:tgtEl>
                                        <p:attrNameLst>
                                          <p:attrName>style.visibility</p:attrName>
                                        </p:attrNameLst>
                                      </p:cBhvr>
                                      <p:to>
                                        <p:strVal val="visible"/>
                                      </p:to>
                                    </p:set>
                                    <p:animEffect transition="in" filter="fade">
                                      <p:cBhvr>
                                        <p:cTn id="52" dur="300"/>
                                        <p:tgtEl>
                                          <p:spTgt spid="62"/>
                                        </p:tgtEl>
                                      </p:cBhvr>
                                    </p:animEffect>
                                  </p:childTnLst>
                                </p:cTn>
                              </p:par>
                              <p:par>
                                <p:cTn id="53" presetID="53" presetClass="entr" presetSubtype="16" fill="hold" grpId="0" nodeType="withEffect">
                                  <p:stCondLst>
                                    <p:cond delay="1550"/>
                                  </p:stCondLst>
                                  <p:childTnLst>
                                    <p:set>
                                      <p:cBhvr>
                                        <p:cTn id="54" dur="1" fill="hold">
                                          <p:stCondLst>
                                            <p:cond delay="0"/>
                                          </p:stCondLst>
                                        </p:cTn>
                                        <p:tgtEl>
                                          <p:spTgt spid="27"/>
                                        </p:tgtEl>
                                        <p:attrNameLst>
                                          <p:attrName>style.visibility</p:attrName>
                                        </p:attrNameLst>
                                      </p:cBhvr>
                                      <p:to>
                                        <p:strVal val="visible"/>
                                      </p:to>
                                    </p:set>
                                    <p:anim calcmode="lin" valueType="num">
                                      <p:cBhvr additive="base">
                                        <p:cTn id="55" dur="450" fill="hold"/>
                                        <p:tgtEl>
                                          <p:spTgt spid="27"/>
                                        </p:tgtEl>
                                        <p:attrNameLst>
                                          <p:attrName>ppt_w</p:attrName>
                                        </p:attrNameLst>
                                      </p:cBhvr>
                                      <p:tavLst>
                                        <p:tav tm="0">
                                          <p:val>
                                            <p:strVal val="0"/>
                                          </p:val>
                                        </p:tav>
                                        <p:tav tm="100000">
                                          <p:val>
                                            <p:strVal val="#ppt_w"/>
                                          </p:val>
                                        </p:tav>
                                      </p:tavLst>
                                    </p:anim>
                                    <p:anim calcmode="lin" valueType="num">
                                      <p:cBhvr additive="base">
                                        <p:cTn id="56" dur="450" fill="hold"/>
                                        <p:tgtEl>
                                          <p:spTgt spid="27"/>
                                        </p:tgtEl>
                                        <p:attrNameLst>
                                          <p:attrName>ppt_h</p:attrName>
                                        </p:attrNameLst>
                                      </p:cBhvr>
                                      <p:tavLst>
                                        <p:tav tm="0">
                                          <p:val>
                                            <p:strVal val="0"/>
                                          </p:val>
                                        </p:tav>
                                        <p:tav tm="100000">
                                          <p:val>
                                            <p:strVal val="#ppt_h"/>
                                          </p:val>
                                        </p:tav>
                                      </p:tavLst>
                                    </p:anim>
                                    <p:animEffect transition="in" filter="fade">
                                      <p:cBhvr>
                                        <p:cTn id="57" dur="450"/>
                                        <p:tgtEl>
                                          <p:spTgt spid="27"/>
                                        </p:tgtEl>
                                      </p:cBhvr>
                                    </p:animEffect>
                                  </p:childTnLst>
                                </p:cTn>
                              </p:par>
                              <p:par>
                                <p:cTn id="58" presetID="10" presetClass="entr" presetSubtype="0" fill="hold" grpId="0" nodeType="withEffect">
                                  <p:stCondLst>
                                    <p:cond delay="1730"/>
                                  </p:stCondLst>
                                  <p:childTnLst>
                                    <p:set>
                                      <p:cBhvr>
                                        <p:cTn id="59" dur="1" fill="hold">
                                          <p:stCondLst>
                                            <p:cond delay="0"/>
                                          </p:stCondLst>
                                        </p:cTn>
                                        <p:tgtEl>
                                          <p:spTgt spid="63"/>
                                        </p:tgtEl>
                                        <p:attrNameLst>
                                          <p:attrName>style.visibility</p:attrName>
                                        </p:attrNameLst>
                                      </p:cBhvr>
                                      <p:to>
                                        <p:strVal val="visible"/>
                                      </p:to>
                                    </p:set>
                                    <p:animEffect transition="in" filter="fade">
                                      <p:cBhvr>
                                        <p:cTn id="60" dur="300"/>
                                        <p:tgtEl>
                                          <p:spTgt spid="63"/>
                                        </p:tgtEl>
                                      </p:cBhvr>
                                    </p:animEffect>
                                  </p:childTnLst>
                                </p:cTn>
                              </p:par>
                              <p:par>
                                <p:cTn id="61" presetID="53" presetClass="entr" presetSubtype="16" fill="hold" grpId="0" nodeType="withEffect">
                                  <p:stCondLst>
                                    <p:cond delay="1780"/>
                                  </p:stCondLst>
                                  <p:childTnLst>
                                    <p:set>
                                      <p:cBhvr>
                                        <p:cTn id="62" dur="1" fill="hold">
                                          <p:stCondLst>
                                            <p:cond delay="0"/>
                                          </p:stCondLst>
                                        </p:cTn>
                                        <p:tgtEl>
                                          <p:spTgt spid="31"/>
                                        </p:tgtEl>
                                        <p:attrNameLst>
                                          <p:attrName>style.visibility</p:attrName>
                                        </p:attrNameLst>
                                      </p:cBhvr>
                                      <p:to>
                                        <p:strVal val="visible"/>
                                      </p:to>
                                    </p:set>
                                    <p:anim calcmode="lin" valueType="num">
                                      <p:cBhvr additive="base">
                                        <p:cTn id="63" dur="450" fill="hold"/>
                                        <p:tgtEl>
                                          <p:spTgt spid="31"/>
                                        </p:tgtEl>
                                        <p:attrNameLst>
                                          <p:attrName>ppt_w</p:attrName>
                                        </p:attrNameLst>
                                      </p:cBhvr>
                                      <p:tavLst>
                                        <p:tav tm="0">
                                          <p:val>
                                            <p:strVal val="0"/>
                                          </p:val>
                                        </p:tav>
                                        <p:tav tm="100000">
                                          <p:val>
                                            <p:strVal val="#ppt_w"/>
                                          </p:val>
                                        </p:tav>
                                      </p:tavLst>
                                    </p:anim>
                                    <p:anim calcmode="lin" valueType="num">
                                      <p:cBhvr additive="base">
                                        <p:cTn id="64" dur="450" fill="hold"/>
                                        <p:tgtEl>
                                          <p:spTgt spid="31"/>
                                        </p:tgtEl>
                                        <p:attrNameLst>
                                          <p:attrName>ppt_h</p:attrName>
                                        </p:attrNameLst>
                                      </p:cBhvr>
                                      <p:tavLst>
                                        <p:tav tm="0">
                                          <p:val>
                                            <p:strVal val="0"/>
                                          </p:val>
                                        </p:tav>
                                        <p:tav tm="100000">
                                          <p:val>
                                            <p:strVal val="#ppt_h"/>
                                          </p:val>
                                        </p:tav>
                                      </p:tavLst>
                                    </p:anim>
                                    <p:animEffect transition="in" filter="fade">
                                      <p:cBhvr>
                                        <p:cTn id="65" dur="450"/>
                                        <p:tgtEl>
                                          <p:spTgt spid="31"/>
                                        </p:tgtEl>
                                      </p:cBhvr>
                                    </p:animEffect>
                                  </p:childTnLst>
                                </p:cTn>
                              </p:par>
                              <p:par>
                                <p:cTn id="66" presetID="10" presetClass="entr" presetSubtype="0" fill="hold" grpId="0" nodeType="withEffect">
                                  <p:stCondLst>
                                    <p:cond delay="1960"/>
                                  </p:stCondLst>
                                  <p:childTnLst>
                                    <p:set>
                                      <p:cBhvr>
                                        <p:cTn id="67" dur="1" fill="hold">
                                          <p:stCondLst>
                                            <p:cond delay="0"/>
                                          </p:stCondLst>
                                        </p:cTn>
                                        <p:tgtEl>
                                          <p:spTgt spid="64"/>
                                        </p:tgtEl>
                                        <p:attrNameLst>
                                          <p:attrName>style.visibility</p:attrName>
                                        </p:attrNameLst>
                                      </p:cBhvr>
                                      <p:to>
                                        <p:strVal val="visible"/>
                                      </p:to>
                                    </p:set>
                                    <p:animEffect transition="in" filter="fade">
                                      <p:cBhvr>
                                        <p:cTn id="68" dur="300"/>
                                        <p:tgtEl>
                                          <p:spTgt spid="64"/>
                                        </p:tgtEl>
                                      </p:cBhvr>
                                    </p:animEffect>
                                  </p:childTnLst>
                                </p:cTn>
                              </p:par>
                              <p:par>
                                <p:cTn id="69" presetID="53" presetClass="entr" presetSubtype="16" fill="hold" grpId="0" nodeType="withEffect">
                                  <p:stCondLst>
                                    <p:cond delay="2010"/>
                                  </p:stCondLst>
                                  <p:childTnLst>
                                    <p:set>
                                      <p:cBhvr>
                                        <p:cTn id="70" dur="1" fill="hold">
                                          <p:stCondLst>
                                            <p:cond delay="0"/>
                                          </p:stCondLst>
                                        </p:cTn>
                                        <p:tgtEl>
                                          <p:spTgt spid="35"/>
                                        </p:tgtEl>
                                        <p:attrNameLst>
                                          <p:attrName>style.visibility</p:attrName>
                                        </p:attrNameLst>
                                      </p:cBhvr>
                                      <p:to>
                                        <p:strVal val="visible"/>
                                      </p:to>
                                    </p:set>
                                    <p:anim calcmode="lin" valueType="num">
                                      <p:cBhvr additive="base">
                                        <p:cTn id="71" dur="450" fill="hold"/>
                                        <p:tgtEl>
                                          <p:spTgt spid="35"/>
                                        </p:tgtEl>
                                        <p:attrNameLst>
                                          <p:attrName>ppt_w</p:attrName>
                                        </p:attrNameLst>
                                      </p:cBhvr>
                                      <p:tavLst>
                                        <p:tav tm="0">
                                          <p:val>
                                            <p:strVal val="0"/>
                                          </p:val>
                                        </p:tav>
                                        <p:tav tm="100000">
                                          <p:val>
                                            <p:strVal val="#ppt_w"/>
                                          </p:val>
                                        </p:tav>
                                      </p:tavLst>
                                    </p:anim>
                                    <p:anim calcmode="lin" valueType="num">
                                      <p:cBhvr additive="base">
                                        <p:cTn id="72" dur="450" fill="hold"/>
                                        <p:tgtEl>
                                          <p:spTgt spid="35"/>
                                        </p:tgtEl>
                                        <p:attrNameLst>
                                          <p:attrName>ppt_h</p:attrName>
                                        </p:attrNameLst>
                                      </p:cBhvr>
                                      <p:tavLst>
                                        <p:tav tm="0">
                                          <p:val>
                                            <p:strVal val="0"/>
                                          </p:val>
                                        </p:tav>
                                        <p:tav tm="100000">
                                          <p:val>
                                            <p:strVal val="#ppt_h"/>
                                          </p:val>
                                        </p:tav>
                                      </p:tavLst>
                                    </p:anim>
                                    <p:animEffect transition="in" filter="fade">
                                      <p:cBhvr>
                                        <p:cTn id="73" dur="450"/>
                                        <p:tgtEl>
                                          <p:spTgt spid="35"/>
                                        </p:tgtEl>
                                      </p:cBhvr>
                                    </p:animEffect>
                                  </p:childTnLst>
                                </p:cTn>
                              </p:par>
                              <p:par>
                                <p:cTn id="74" presetID="10" presetClass="entr" presetSubtype="0" fill="hold" grpId="0" nodeType="withEffect">
                                  <p:stCondLst>
                                    <p:cond delay="2190"/>
                                  </p:stCondLst>
                                  <p:childTnLst>
                                    <p:set>
                                      <p:cBhvr>
                                        <p:cTn id="75" dur="1" fill="hold">
                                          <p:stCondLst>
                                            <p:cond delay="0"/>
                                          </p:stCondLst>
                                        </p:cTn>
                                        <p:tgtEl>
                                          <p:spTgt spid="65"/>
                                        </p:tgtEl>
                                        <p:attrNameLst>
                                          <p:attrName>style.visibility</p:attrName>
                                        </p:attrNameLst>
                                      </p:cBhvr>
                                      <p:to>
                                        <p:strVal val="visible"/>
                                      </p:to>
                                    </p:set>
                                    <p:animEffect transition="in" filter="fade">
                                      <p:cBhvr>
                                        <p:cTn id="76" dur="300"/>
                                        <p:tgtEl>
                                          <p:spTgt spid="65"/>
                                        </p:tgtEl>
                                      </p:cBhvr>
                                    </p:animEffect>
                                  </p:childTnLst>
                                </p:cTn>
                              </p:par>
                              <p:par>
                                <p:cTn id="77" presetID="53" presetClass="entr" presetSubtype="16" fill="hold" grpId="0" nodeType="withEffect">
                                  <p:stCondLst>
                                    <p:cond delay="2240"/>
                                  </p:stCondLst>
                                  <p:childTnLst>
                                    <p:set>
                                      <p:cBhvr>
                                        <p:cTn id="78" dur="1" fill="hold">
                                          <p:stCondLst>
                                            <p:cond delay="0"/>
                                          </p:stCondLst>
                                        </p:cTn>
                                        <p:tgtEl>
                                          <p:spTgt spid="39"/>
                                        </p:tgtEl>
                                        <p:attrNameLst>
                                          <p:attrName>style.visibility</p:attrName>
                                        </p:attrNameLst>
                                      </p:cBhvr>
                                      <p:to>
                                        <p:strVal val="visible"/>
                                      </p:to>
                                    </p:set>
                                    <p:anim calcmode="lin" valueType="num">
                                      <p:cBhvr additive="base">
                                        <p:cTn id="79" dur="450" fill="hold"/>
                                        <p:tgtEl>
                                          <p:spTgt spid="39"/>
                                        </p:tgtEl>
                                        <p:attrNameLst>
                                          <p:attrName>ppt_w</p:attrName>
                                        </p:attrNameLst>
                                      </p:cBhvr>
                                      <p:tavLst>
                                        <p:tav tm="0">
                                          <p:val>
                                            <p:strVal val="0"/>
                                          </p:val>
                                        </p:tav>
                                        <p:tav tm="100000">
                                          <p:val>
                                            <p:strVal val="#ppt_w"/>
                                          </p:val>
                                        </p:tav>
                                      </p:tavLst>
                                    </p:anim>
                                    <p:anim calcmode="lin" valueType="num">
                                      <p:cBhvr additive="base">
                                        <p:cTn id="80" dur="450" fill="hold"/>
                                        <p:tgtEl>
                                          <p:spTgt spid="39"/>
                                        </p:tgtEl>
                                        <p:attrNameLst>
                                          <p:attrName>ppt_h</p:attrName>
                                        </p:attrNameLst>
                                      </p:cBhvr>
                                      <p:tavLst>
                                        <p:tav tm="0">
                                          <p:val>
                                            <p:strVal val="0"/>
                                          </p:val>
                                        </p:tav>
                                        <p:tav tm="100000">
                                          <p:val>
                                            <p:strVal val="#ppt_h"/>
                                          </p:val>
                                        </p:tav>
                                      </p:tavLst>
                                    </p:anim>
                                    <p:animEffect transition="in" filter="fade">
                                      <p:cBhvr>
                                        <p:cTn id="81" dur="450"/>
                                        <p:tgtEl>
                                          <p:spTgt spid="39"/>
                                        </p:tgtEl>
                                      </p:cBhvr>
                                    </p:animEffect>
                                  </p:childTnLst>
                                </p:cTn>
                              </p:par>
                              <p:par>
                                <p:cTn id="82" presetID="10" presetClass="entr" presetSubtype="0" fill="hold" grpId="0" nodeType="withEffect">
                                  <p:stCondLst>
                                    <p:cond delay="2420"/>
                                  </p:stCondLst>
                                  <p:childTnLst>
                                    <p:set>
                                      <p:cBhvr>
                                        <p:cTn id="83" dur="1" fill="hold">
                                          <p:stCondLst>
                                            <p:cond delay="0"/>
                                          </p:stCondLst>
                                        </p:cTn>
                                        <p:tgtEl>
                                          <p:spTgt spid="66"/>
                                        </p:tgtEl>
                                        <p:attrNameLst>
                                          <p:attrName>style.visibility</p:attrName>
                                        </p:attrNameLst>
                                      </p:cBhvr>
                                      <p:to>
                                        <p:strVal val="visible"/>
                                      </p:to>
                                    </p:set>
                                    <p:animEffect transition="in" filter="fade">
                                      <p:cBhvr>
                                        <p:cTn id="84" dur="300"/>
                                        <p:tgtEl>
                                          <p:spTgt spid="66"/>
                                        </p:tgtEl>
                                      </p:cBhvr>
                                    </p:animEffect>
                                  </p:childTnLst>
                                </p:cTn>
                              </p:par>
                              <p:par>
                                <p:cTn id="85" presetID="10" presetClass="entr" presetSubtype="0" fill="hold" grpId="0" nodeType="withEffect">
                                  <p:stCondLst>
                                    <p:cond delay="2470"/>
                                  </p:stCondLst>
                                  <p:childTnLst>
                                    <p:set>
                                      <p:cBhvr>
                                        <p:cTn id="86" dur="1" fill="hold">
                                          <p:stCondLst>
                                            <p:cond delay="0"/>
                                          </p:stCondLst>
                                        </p:cTn>
                                        <p:tgtEl>
                                          <p:spTgt spid="67"/>
                                        </p:tgtEl>
                                        <p:attrNameLst>
                                          <p:attrName>style.visibility</p:attrName>
                                        </p:attrNameLst>
                                      </p:cBhvr>
                                      <p:to>
                                        <p:strVal val="visible"/>
                                      </p:to>
                                    </p:set>
                                    <p:animEffect transition="in" filter="fade">
                                      <p:cBhvr>
                                        <p:cTn id="87" dur="600"/>
                                        <p:tgtEl>
                                          <p:spTgt spid="67"/>
                                        </p:tgtEl>
                                      </p:cBhvr>
                                    </p:animEffect>
                                  </p:childTnLst>
                                </p:cTn>
                              </p:par>
                              <p:par>
                                <p:cTn id="88" presetID="0" presetClass="path" presetSubtype="0" fill="hold" grpId="0" nodeType="withEffect">
                                  <p:stCondLst>
                                    <p:cond delay="2900"/>
                                  </p:stCondLst>
                                  <p:childTnLst>
                                    <p:animMotion origin="layout" path="M 0 0 L 0.0000 -0.2400 L 0.7549 -0.2400 L 0.7549 0.2400 L 0.0000 0.2400 L 0.0000 0.0000 E" pathEditMode="relative" ptsTypes="">
                                      <p:cBhvr>
                                        <p:cTn id="89" dur="9000" fill="hold" repeatCount="indefinite"/>
                                        <p:tgtEl>
                                          <p:spTgt spid="8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060A"/>
        </a:solidFill>
        <a:effectLst/>
      </p:bgPr>
    </p:bg>
    <p:spTree>
      <p:nvGrpSpPr>
        <p:cNvPr id="1" name=""/>
        <p:cNvGrpSpPr/>
        <p:nvPr/>
      </p:nvGrpSpPr>
      <p:grpSpPr/>
      <p:pic>
        <p:nvPicPr>
          <p:cNvPr id="2" name="!!bg" descr="bg.png"/>
          <p:cNvPicPr>
            <a:picLocks noChangeAspect="1"/>
          </p:cNvPicPr>
          <p:nvPr/>
        </p:nvPicPr>
        <p:blipFill>
          <a:blip r:embed="rId2"/>
          <a:stretch>
            <a:fillRect/>
          </a:stretch>
        </p:blipFill>
        <p:spPr>
          <a:xfrm>
            <a:off x="0" y="0"/>
            <a:ext cx="12191695" cy="6858000"/>
          </a:xfrm>
          <a:prstGeom prst="rect">
            <a:avLst/>
          </a:prstGeom>
        </p:spPr>
      </p:pic>
      <p:pic>
        <p:nvPicPr>
          <p:cNvPr id="3" name="!!orb_violet" descr="orb_violet.png"/>
          <p:cNvPicPr>
            <a:picLocks noChangeAspect="1"/>
          </p:cNvPicPr>
          <p:nvPr/>
        </p:nvPicPr>
        <p:blipFill>
          <a:blip r:embed="rId3"/>
          <a:stretch>
            <a:fillRect/>
          </a:stretch>
        </p:blipFill>
        <p:spPr>
          <a:xfrm>
            <a:off x="8229600" y="-3200400"/>
            <a:ext cx="6400800" cy="6400800"/>
          </a:xfrm>
          <a:prstGeom prst="rect">
            <a:avLst/>
          </a:prstGeom>
        </p:spPr>
      </p:pic>
      <p:pic>
        <p:nvPicPr>
          <p:cNvPr id="4" name="!!orb_cyan" descr="orb_cyan.png"/>
          <p:cNvPicPr>
            <a:picLocks noChangeAspect="1"/>
          </p:cNvPicPr>
          <p:nvPr/>
        </p:nvPicPr>
        <p:blipFill>
          <a:blip r:embed="rId4"/>
          <a:stretch>
            <a:fillRect/>
          </a:stretch>
        </p:blipFill>
        <p:spPr>
          <a:xfrm>
            <a:off x="-2286000" y="3474720"/>
            <a:ext cx="6400800" cy="6400800"/>
          </a:xfrm>
          <a:prstGeom prst="rect">
            <a:avLst/>
          </a:prstGeom>
        </p:spPr>
      </p:pic>
      <p:pic>
        <p:nvPicPr>
          <p:cNvPr id="5" name="!!orb_rose" descr="orb_rose.png"/>
          <p:cNvPicPr>
            <a:picLocks noChangeAspect="1"/>
          </p:cNvPicPr>
          <p:nvPr/>
        </p:nvPicPr>
        <p:blipFill>
          <a:blip r:embed="rId5"/>
          <a:stretch>
            <a:fillRect/>
          </a:stretch>
        </p:blipFill>
        <p:spPr>
          <a:xfrm>
            <a:off x="4572000" y="5029200"/>
            <a:ext cx="3657600" cy="3657600"/>
          </a:xfrm>
          <a:prstGeom prst="rect">
            <a:avLst/>
          </a:prstGeom>
        </p:spPr>
      </p:pic>
      <p:pic>
        <p:nvPicPr>
          <p:cNvPr id="6" name="!!footlogo" descr="logo.png"/>
          <p:cNvPicPr>
            <a:picLocks noChangeAspect="1"/>
          </p:cNvPicPr>
          <p:nvPr/>
        </p:nvPicPr>
        <p:blipFill>
          <a:blip r:embed="rId6"/>
          <a:stretch>
            <a:fillRect/>
          </a:stretch>
        </p:blipFill>
        <p:spPr>
          <a:xfrm>
            <a:off x="548640" y="6327648"/>
            <a:ext cx="237744" cy="237744"/>
          </a:xfrm>
          <a:prstGeom prst="rect">
            <a:avLst/>
          </a:prstGeom>
        </p:spPr>
      </p:pic>
      <p:sp>
        <p:nvSpPr>
          <p:cNvPr id="7" name="!!footname"/>
          <p:cNvSpPr txBox="1"/>
          <p:nvPr/>
        </p:nvSpPr>
        <p:spPr>
          <a:xfrm>
            <a:off x="868680" y="6327648"/>
            <a:ext cx="2743200" cy="237744"/>
          </a:xfrm>
          <a:prstGeom prst="rect">
            <a:avLst/>
          </a:prstGeom>
          <a:noFill/>
        </p:spPr>
        <p:txBody>
          <a:bodyPr wrap="square" lIns="0" rIns="0" tIns="0" bIns="0" anchor="ctr">
            <a:spAutoFit/>
          </a:bodyPr>
          <a:lstStyle/>
          <a:p>
            <a:pPr algn="l"/>
            <a:r>
              <a:rPr sz="1100" b="1" i="0">
                <a:solidFill>
                  <a:srgbClr val="8B90A0"/>
                </a:solidFill>
                <a:latin typeface="Arial"/>
              </a:rPr>
              <a:t>Haven</a:t>
            </a:r>
          </a:p>
        </p:txBody>
      </p:sp>
      <p:sp>
        <p:nvSpPr>
          <p:cNvPr id="8" name="!!pageno"/>
          <p:cNvSpPr txBox="1"/>
          <p:nvPr/>
        </p:nvSpPr>
        <p:spPr>
          <a:xfrm>
            <a:off x="9814255" y="6327648"/>
            <a:ext cx="1828800" cy="237744"/>
          </a:xfrm>
          <a:prstGeom prst="rect">
            <a:avLst/>
          </a:prstGeom>
          <a:noFill/>
        </p:spPr>
        <p:txBody>
          <a:bodyPr wrap="square" lIns="0" rIns="0" tIns="0" bIns="0" anchor="ctr">
            <a:spAutoFit/>
          </a:bodyPr>
          <a:lstStyle/>
          <a:p>
            <a:pPr algn="r"/>
            <a:r>
              <a:rPr sz="1100" b="0" i="0">
                <a:solidFill>
                  <a:srgbClr val="8B90A0"/>
                </a:solidFill>
                <a:latin typeface="Arial"/>
              </a:rPr>
              <a:t>06 / 10</a:t>
            </a:r>
          </a:p>
        </p:txBody>
      </p:sp>
      <p:sp>
        <p:nvSpPr>
          <p:cNvPr id="9" name="text_228"/>
          <p:cNvSpPr txBox="1"/>
          <p:nvPr/>
        </p:nvSpPr>
        <p:spPr>
          <a:xfrm>
            <a:off x="548640" y="457200"/>
            <a:ext cx="7315200" cy="274320"/>
          </a:xfrm>
          <a:prstGeom prst="rect">
            <a:avLst/>
          </a:prstGeom>
          <a:noFill/>
        </p:spPr>
        <p:txBody>
          <a:bodyPr wrap="square" lIns="0" rIns="0" tIns="0" bIns="0" anchor="t">
            <a:spAutoFit/>
          </a:bodyPr>
          <a:lstStyle/>
          <a:p>
            <a:pPr algn="l"/>
            <a:r>
              <a:rPr sz="1200" b="1" i="0" spc="300">
                <a:solidFill>
                  <a:srgbClr val="22D3EE"/>
                </a:solidFill>
                <a:latin typeface="Arial"/>
              </a:rPr>
              <a:t>LIVE DEMO</a:t>
            </a:r>
          </a:p>
        </p:txBody>
      </p:sp>
      <p:sp>
        <p:nvSpPr>
          <p:cNvPr id="10" name="text_229"/>
          <p:cNvSpPr txBox="1"/>
          <p:nvPr/>
        </p:nvSpPr>
        <p:spPr>
          <a:xfrm>
            <a:off x="548640" y="749808"/>
            <a:ext cx="11064240" cy="685800"/>
          </a:xfrm>
          <a:prstGeom prst="rect">
            <a:avLst/>
          </a:prstGeom>
          <a:noFill/>
        </p:spPr>
        <p:txBody>
          <a:bodyPr wrap="square" lIns="0" rIns="0" tIns="0" bIns="0" anchor="t">
            <a:spAutoFit/>
          </a:bodyPr>
          <a:lstStyle/>
          <a:p>
            <a:pPr algn="l"/>
            <a:r>
              <a:rPr sz="3400" b="1" i="0">
                <a:solidFill>
                  <a:srgbClr val="FFFFFF"/>
                </a:solidFill>
                <a:latin typeface="Arial"/>
              </a:rPr>
              <a:t>Live demo: a phishing takedown in 6 seconds</a:t>
            </a:r>
          </a:p>
        </p:txBody>
      </p:sp>
      <p:sp>
        <p:nvSpPr>
          <p:cNvPr id="11" name="shape_230"/>
          <p:cNvSpPr/>
          <p:nvPr/>
        </p:nvSpPr>
        <p:spPr>
          <a:xfrm>
            <a:off x="1472946" y="2121408"/>
            <a:ext cx="9243060" cy="45720"/>
          </a:xfrm>
          <a:prstGeom prst="rect">
            <a:avLst/>
          </a:prstGeom>
          <a:gradFill rotWithShape="1">
            <a:gsLst>
              <a:gs pos="0">
                <a:srgbClr val="F43F5E"/>
              </a:gs>
              <a:gs pos="100000">
                <a:srgbClr val="10B981"/>
              </a:gs>
            </a:gsLst>
            <a:lin scaled="0" ang="0"/>
          </a:gradFill>
          <a:ln>
            <a:noFill/>
          </a:ln>
        </p:spPr>
        <p:txBody>
          <a:bodyPr rtlCol="0" anchor="ctr"/>
          <a:lstStyle/>
          <a:p/>
        </p:txBody>
      </p:sp>
      <p:grpSp>
        <p:nvGrpSpPr>
          <p:cNvPr id="12" name="group_231"/>
          <p:cNvGrpSpPr/>
          <p:nvPr/>
        </p:nvGrpSpPr>
        <p:grpSpPr>
          <a:xfrm>
            <a:off x="594359" y="1965960"/>
            <a:ext cx="1757172" cy="1755648"/>
            <a:chOff x="594359" y="1965960"/>
            <a:chExt cx="1757172" cy="1755648"/>
          </a:xfrm>
        </p:grpSpPr>
        <p:sp>
          <p:nvSpPr>
            <p:cNvPr id="13" name="shape_232"/>
            <p:cNvSpPr/>
            <p:nvPr/>
          </p:nvSpPr>
          <p:spPr>
            <a:xfrm>
              <a:off x="1290066" y="1965960"/>
              <a:ext cx="365760" cy="365760"/>
            </a:xfrm>
            <a:prstGeom prst="ellipse">
              <a:avLst/>
            </a:prstGeom>
            <a:solidFill>
              <a:srgbClr val="F43F5E"/>
            </a:solidFill>
            <a:ln w="19050">
              <a:solidFill>
                <a:srgbClr val="FFFFFF">
                  <a:alpha val="70000"/>
                </a:srgbClr>
              </a:solidFill>
            </a:ln>
            <a:effectLst>
              <a:glow rad="127000">
                <a:srgbClr val="F43F5E">
                  <a:alpha val="45000"/>
                </a:srgbClr>
              </a:glow>
            </a:effectLst>
          </p:spPr>
          <p:txBody>
            <a:bodyPr rtlCol="0" anchor="ctr"/>
            <a:lstStyle/>
            <a:p/>
          </p:txBody>
        </p:sp>
        <p:sp>
          <p:nvSpPr>
            <p:cNvPr id="14" name="text_233"/>
            <p:cNvSpPr txBox="1"/>
            <p:nvPr/>
          </p:nvSpPr>
          <p:spPr>
            <a:xfrm>
              <a:off x="594359" y="2468880"/>
              <a:ext cx="1757172" cy="384048"/>
            </a:xfrm>
            <a:prstGeom prst="rect">
              <a:avLst/>
            </a:prstGeom>
            <a:noFill/>
          </p:spPr>
          <p:txBody>
            <a:bodyPr wrap="square" lIns="0" rIns="0" tIns="0" bIns="0" anchor="t">
              <a:spAutoFit/>
            </a:bodyPr>
            <a:lstStyle/>
            <a:p>
              <a:pPr algn="ctr"/>
              <a:r>
                <a:rPr sz="2200" b="1" i="0">
                  <a:solidFill>
                    <a:srgbClr val="F43F5E"/>
                  </a:solidFill>
                  <a:latin typeface="Arial"/>
                </a:rPr>
                <a:t>0.0s</a:t>
              </a:r>
            </a:p>
          </p:txBody>
        </p:sp>
        <p:sp>
          <p:nvSpPr>
            <p:cNvPr id="15" name="text_234"/>
            <p:cNvSpPr txBox="1"/>
            <p:nvPr/>
          </p:nvSpPr>
          <p:spPr>
            <a:xfrm>
              <a:off x="594359" y="2862072"/>
              <a:ext cx="1757172" cy="274320"/>
            </a:xfrm>
            <a:prstGeom prst="rect">
              <a:avLst/>
            </a:prstGeom>
            <a:noFill/>
          </p:spPr>
          <p:txBody>
            <a:bodyPr wrap="square" lIns="0" rIns="0" tIns="0" bIns="0" anchor="t">
              <a:spAutoFit/>
            </a:bodyPr>
            <a:lstStyle/>
            <a:p>
              <a:pPr algn="ctr"/>
              <a:r>
                <a:rPr sz="1400" b="1" i="0">
                  <a:solidFill>
                    <a:srgbClr val="FFFFFF"/>
                  </a:solidFill>
                  <a:latin typeface="Arial"/>
                </a:rPr>
                <a:t>Posted</a:t>
              </a:r>
            </a:p>
          </p:txBody>
        </p:sp>
        <p:sp>
          <p:nvSpPr>
            <p:cNvPr id="16" name="text_235"/>
            <p:cNvSpPr txBox="1"/>
            <p:nvPr/>
          </p:nvSpPr>
          <p:spPr>
            <a:xfrm>
              <a:off x="640079" y="3154680"/>
              <a:ext cx="1665732" cy="566928"/>
            </a:xfrm>
            <a:prstGeom prst="rect">
              <a:avLst/>
            </a:prstGeom>
            <a:noFill/>
          </p:spPr>
          <p:txBody>
            <a:bodyPr wrap="square" lIns="0" rIns="0" tIns="0" bIns="0" anchor="t">
              <a:spAutoFit/>
            </a:bodyPr>
            <a:lstStyle/>
            <a:p>
              <a:pPr algn="ctr"/>
              <a:r>
                <a:rPr sz="1100" b="0" i="0">
                  <a:solidFill>
                    <a:srgbClr val="8B90A0"/>
                  </a:solidFill>
                  <a:latin typeface="Arial"/>
                </a:rPr>
                <a:t>Scammer drops a fake “free Premium” link</a:t>
              </a:r>
            </a:p>
          </p:txBody>
        </p:sp>
      </p:grpSp>
      <p:grpSp>
        <p:nvGrpSpPr>
          <p:cNvPr id="17" name="group_236"/>
          <p:cNvGrpSpPr/>
          <p:nvPr/>
        </p:nvGrpSpPr>
        <p:grpSpPr>
          <a:xfrm>
            <a:off x="2442972" y="1965960"/>
            <a:ext cx="1757172" cy="1755648"/>
            <a:chOff x="2442972" y="1965960"/>
            <a:chExt cx="1757172" cy="1755648"/>
          </a:xfrm>
        </p:grpSpPr>
        <p:sp>
          <p:nvSpPr>
            <p:cNvPr id="18" name="shape_237"/>
            <p:cNvSpPr/>
            <p:nvPr/>
          </p:nvSpPr>
          <p:spPr>
            <a:xfrm>
              <a:off x="3138678" y="1965960"/>
              <a:ext cx="365760" cy="365760"/>
            </a:xfrm>
            <a:prstGeom prst="ellipse">
              <a:avLst/>
            </a:prstGeom>
            <a:solidFill>
              <a:srgbClr val="F59E0B"/>
            </a:solidFill>
            <a:ln w="19050">
              <a:solidFill>
                <a:srgbClr val="FFFFFF">
                  <a:alpha val="70000"/>
                </a:srgbClr>
              </a:solidFill>
            </a:ln>
            <a:effectLst>
              <a:glow rad="127000">
                <a:srgbClr val="F59E0B">
                  <a:alpha val="45000"/>
                </a:srgbClr>
              </a:glow>
            </a:effectLst>
          </p:spPr>
          <p:txBody>
            <a:bodyPr rtlCol="0" anchor="ctr"/>
            <a:lstStyle/>
            <a:p/>
          </p:txBody>
        </p:sp>
        <p:sp>
          <p:nvSpPr>
            <p:cNvPr id="19" name="text_238"/>
            <p:cNvSpPr txBox="1"/>
            <p:nvPr/>
          </p:nvSpPr>
          <p:spPr>
            <a:xfrm>
              <a:off x="2442972" y="2468880"/>
              <a:ext cx="1757172" cy="384048"/>
            </a:xfrm>
            <a:prstGeom prst="rect">
              <a:avLst/>
            </a:prstGeom>
            <a:noFill/>
          </p:spPr>
          <p:txBody>
            <a:bodyPr wrap="square" lIns="0" rIns="0" tIns="0" bIns="0" anchor="t">
              <a:spAutoFit/>
            </a:bodyPr>
            <a:lstStyle/>
            <a:p>
              <a:pPr algn="ctr"/>
              <a:r>
                <a:rPr sz="2200" b="1" i="0">
                  <a:solidFill>
                    <a:srgbClr val="F59E0B"/>
                  </a:solidFill>
                  <a:latin typeface="Arial"/>
                </a:rPr>
                <a:t>0.4s</a:t>
              </a:r>
            </a:p>
          </p:txBody>
        </p:sp>
        <p:sp>
          <p:nvSpPr>
            <p:cNvPr id="20" name="text_239"/>
            <p:cNvSpPr txBox="1"/>
            <p:nvPr/>
          </p:nvSpPr>
          <p:spPr>
            <a:xfrm>
              <a:off x="2442972" y="2862072"/>
              <a:ext cx="1757172" cy="274320"/>
            </a:xfrm>
            <a:prstGeom prst="rect">
              <a:avLst/>
            </a:prstGeom>
            <a:noFill/>
          </p:spPr>
          <p:txBody>
            <a:bodyPr wrap="square" lIns="0" rIns="0" tIns="0" bIns="0" anchor="t">
              <a:spAutoFit/>
            </a:bodyPr>
            <a:lstStyle/>
            <a:p>
              <a:pPr algn="ctr"/>
              <a:r>
                <a:rPr sz="1400" b="1" i="0">
                  <a:solidFill>
                    <a:srgbClr val="FFFFFF"/>
                  </a:solidFill>
                  <a:latin typeface="Arial"/>
                </a:rPr>
                <a:t>Quarantined</a:t>
              </a:r>
            </a:p>
          </p:txBody>
        </p:sp>
        <p:sp>
          <p:nvSpPr>
            <p:cNvPr id="21" name="text_240"/>
            <p:cNvSpPr txBox="1"/>
            <p:nvPr/>
          </p:nvSpPr>
          <p:spPr>
            <a:xfrm>
              <a:off x="2488692" y="3154680"/>
              <a:ext cx="1665732" cy="566928"/>
            </a:xfrm>
            <a:prstGeom prst="rect">
              <a:avLst/>
            </a:prstGeom>
            <a:noFill/>
          </p:spPr>
          <p:txBody>
            <a:bodyPr wrap="square" lIns="0" rIns="0" tIns="0" bIns="0" anchor="t">
              <a:spAutoFit/>
            </a:bodyPr>
            <a:lstStyle/>
            <a:p>
              <a:pPr algn="ctr"/>
              <a:r>
                <a:rPr sz="1100" b="0" i="0">
                  <a:solidFill>
                    <a:srgbClr val="8B90A0"/>
                  </a:solidFill>
                  <a:latin typeface="Arial"/>
                </a:rPr>
                <a:t>Nova scores risk 80+ and hides it</a:t>
              </a:r>
            </a:p>
          </p:txBody>
        </p:sp>
      </p:grpSp>
      <p:grpSp>
        <p:nvGrpSpPr>
          <p:cNvPr id="22" name="group_241"/>
          <p:cNvGrpSpPr/>
          <p:nvPr/>
        </p:nvGrpSpPr>
        <p:grpSpPr>
          <a:xfrm>
            <a:off x="4291584" y="1965960"/>
            <a:ext cx="1757172" cy="1755648"/>
            <a:chOff x="4291584" y="1965960"/>
            <a:chExt cx="1757172" cy="1755648"/>
          </a:xfrm>
        </p:grpSpPr>
        <p:sp>
          <p:nvSpPr>
            <p:cNvPr id="23" name="shape_242"/>
            <p:cNvSpPr/>
            <p:nvPr/>
          </p:nvSpPr>
          <p:spPr>
            <a:xfrm>
              <a:off x="4987290" y="1965960"/>
              <a:ext cx="365760" cy="365760"/>
            </a:xfrm>
            <a:prstGeom prst="ellipse">
              <a:avLst/>
            </a:prstGeom>
            <a:solidFill>
              <a:srgbClr val="A78BFA"/>
            </a:solidFill>
            <a:ln w="19050">
              <a:solidFill>
                <a:srgbClr val="FFFFFF">
                  <a:alpha val="70000"/>
                </a:srgbClr>
              </a:solidFill>
            </a:ln>
            <a:effectLst>
              <a:glow rad="127000">
                <a:srgbClr val="A78BFA">
                  <a:alpha val="45000"/>
                </a:srgbClr>
              </a:glow>
            </a:effectLst>
          </p:spPr>
          <p:txBody>
            <a:bodyPr rtlCol="0" anchor="ctr"/>
            <a:lstStyle/>
            <a:p/>
          </p:txBody>
        </p:sp>
        <p:sp>
          <p:nvSpPr>
            <p:cNvPr id="24" name="text_243"/>
            <p:cNvSpPr txBox="1"/>
            <p:nvPr/>
          </p:nvSpPr>
          <p:spPr>
            <a:xfrm>
              <a:off x="4291584" y="2468880"/>
              <a:ext cx="1757172" cy="384048"/>
            </a:xfrm>
            <a:prstGeom prst="rect">
              <a:avLst/>
            </a:prstGeom>
            <a:noFill/>
          </p:spPr>
          <p:txBody>
            <a:bodyPr wrap="square" lIns="0" rIns="0" tIns="0" bIns="0" anchor="t">
              <a:spAutoFit/>
            </a:bodyPr>
            <a:lstStyle/>
            <a:p>
              <a:pPr algn="ctr"/>
              <a:r>
                <a:rPr sz="2200" b="1" i="0">
                  <a:solidFill>
                    <a:srgbClr val="A78BFA"/>
                  </a:solidFill>
                  <a:latin typeface="Arial"/>
                </a:rPr>
                <a:t>2s</a:t>
              </a:r>
            </a:p>
          </p:txBody>
        </p:sp>
        <p:sp>
          <p:nvSpPr>
            <p:cNvPr id="25" name="text_244"/>
            <p:cNvSpPr txBox="1"/>
            <p:nvPr/>
          </p:nvSpPr>
          <p:spPr>
            <a:xfrm>
              <a:off x="4291584" y="2862072"/>
              <a:ext cx="1757172" cy="274320"/>
            </a:xfrm>
            <a:prstGeom prst="rect">
              <a:avLst/>
            </a:prstGeom>
            <a:noFill/>
          </p:spPr>
          <p:txBody>
            <a:bodyPr wrap="square" lIns="0" rIns="0" tIns="0" bIns="0" anchor="t">
              <a:spAutoFit/>
            </a:bodyPr>
            <a:lstStyle/>
            <a:p>
              <a:pPr algn="ctr"/>
              <a:r>
                <a:rPr sz="1400" b="1" i="0">
                  <a:solidFill>
                    <a:srgbClr val="FFFFFF"/>
                  </a:solidFill>
                  <a:latin typeface="Arial"/>
                </a:rPr>
                <a:t>Delegated</a:t>
              </a:r>
            </a:p>
          </p:txBody>
        </p:sp>
        <p:sp>
          <p:nvSpPr>
            <p:cNvPr id="26" name="text_245"/>
            <p:cNvSpPr txBox="1"/>
            <p:nvPr/>
          </p:nvSpPr>
          <p:spPr>
            <a:xfrm>
              <a:off x="4337304" y="3154680"/>
              <a:ext cx="1665732" cy="566928"/>
            </a:xfrm>
            <a:prstGeom prst="rect">
              <a:avLst/>
            </a:prstGeom>
            <a:noFill/>
          </p:spPr>
          <p:txBody>
            <a:bodyPr wrap="square" lIns="0" rIns="0" tIns="0" bIns="0" anchor="t">
              <a:spAutoFit/>
            </a:bodyPr>
            <a:lstStyle/>
            <a:p>
              <a:pPr algn="ctr"/>
              <a:r>
                <a:rPr sz="1100" b="0" i="0">
                  <a:solidFill>
                    <a:srgbClr val="8B90A0"/>
                  </a:solidFill>
                  <a:latin typeface="Arial"/>
                </a:rPr>
                <a:t>Aria hands it to Rex over BAND</a:t>
              </a:r>
            </a:p>
          </p:txBody>
        </p:sp>
      </p:grpSp>
      <p:grpSp>
        <p:nvGrpSpPr>
          <p:cNvPr id="27" name="group_246"/>
          <p:cNvGrpSpPr/>
          <p:nvPr/>
        </p:nvGrpSpPr>
        <p:grpSpPr>
          <a:xfrm>
            <a:off x="6140196" y="1965960"/>
            <a:ext cx="1757172" cy="1755648"/>
            <a:chOff x="6140196" y="1965960"/>
            <a:chExt cx="1757172" cy="1755648"/>
          </a:xfrm>
        </p:grpSpPr>
        <p:sp>
          <p:nvSpPr>
            <p:cNvPr id="28" name="shape_247"/>
            <p:cNvSpPr/>
            <p:nvPr/>
          </p:nvSpPr>
          <p:spPr>
            <a:xfrm>
              <a:off x="6835902" y="1965960"/>
              <a:ext cx="365760" cy="365760"/>
            </a:xfrm>
            <a:prstGeom prst="ellipse">
              <a:avLst/>
            </a:prstGeom>
            <a:solidFill>
              <a:srgbClr val="22D3EE"/>
            </a:solidFill>
            <a:ln w="19050">
              <a:solidFill>
                <a:srgbClr val="FFFFFF">
                  <a:alpha val="70000"/>
                </a:srgbClr>
              </a:solidFill>
            </a:ln>
            <a:effectLst>
              <a:glow rad="127000">
                <a:srgbClr val="22D3EE">
                  <a:alpha val="45000"/>
                </a:srgbClr>
              </a:glow>
            </a:effectLst>
          </p:spPr>
          <p:txBody>
            <a:bodyPr rtlCol="0" anchor="ctr"/>
            <a:lstStyle/>
            <a:p/>
          </p:txBody>
        </p:sp>
        <p:sp>
          <p:nvSpPr>
            <p:cNvPr id="29" name="text_248"/>
            <p:cNvSpPr txBox="1"/>
            <p:nvPr/>
          </p:nvSpPr>
          <p:spPr>
            <a:xfrm>
              <a:off x="6140196" y="2468880"/>
              <a:ext cx="1757172" cy="384048"/>
            </a:xfrm>
            <a:prstGeom prst="rect">
              <a:avLst/>
            </a:prstGeom>
            <a:noFill/>
          </p:spPr>
          <p:txBody>
            <a:bodyPr wrap="square" lIns="0" rIns="0" tIns="0" bIns="0" anchor="t">
              <a:spAutoFit/>
            </a:bodyPr>
            <a:lstStyle/>
            <a:p>
              <a:pPr algn="ctr"/>
              <a:r>
                <a:rPr sz="2200" b="1" i="0">
                  <a:solidFill>
                    <a:srgbClr val="22D3EE"/>
                  </a:solidFill>
                  <a:latin typeface="Arial"/>
                </a:rPr>
                <a:t>4s</a:t>
              </a:r>
            </a:p>
          </p:txBody>
        </p:sp>
        <p:sp>
          <p:nvSpPr>
            <p:cNvPr id="30" name="text_249"/>
            <p:cNvSpPr txBox="1"/>
            <p:nvPr/>
          </p:nvSpPr>
          <p:spPr>
            <a:xfrm>
              <a:off x="6140196" y="2862072"/>
              <a:ext cx="1757172" cy="274320"/>
            </a:xfrm>
            <a:prstGeom prst="rect">
              <a:avLst/>
            </a:prstGeom>
            <a:noFill/>
          </p:spPr>
          <p:txBody>
            <a:bodyPr wrap="square" lIns="0" rIns="0" tIns="0" bIns="0" anchor="t">
              <a:spAutoFit/>
            </a:bodyPr>
            <a:lstStyle/>
            <a:p>
              <a:pPr algn="ctr"/>
              <a:r>
                <a:rPr sz="1400" b="1" i="0">
                  <a:solidFill>
                    <a:srgbClr val="FFFFFF"/>
                  </a:solidFill>
                  <a:latin typeface="Arial"/>
                </a:rPr>
                <a:t>Detonated</a:t>
              </a:r>
            </a:p>
          </p:txBody>
        </p:sp>
        <p:sp>
          <p:nvSpPr>
            <p:cNvPr id="31" name="text_250"/>
            <p:cNvSpPr txBox="1"/>
            <p:nvPr/>
          </p:nvSpPr>
          <p:spPr>
            <a:xfrm>
              <a:off x="6185916" y="3154680"/>
              <a:ext cx="1665732" cy="566928"/>
            </a:xfrm>
            <a:prstGeom prst="rect">
              <a:avLst/>
            </a:prstGeom>
            <a:noFill/>
          </p:spPr>
          <p:txBody>
            <a:bodyPr wrap="square" lIns="0" rIns="0" tIns="0" bIns="0" anchor="t">
              <a:spAutoFit/>
            </a:bodyPr>
            <a:lstStyle/>
            <a:p>
              <a:pPr algn="ctr"/>
              <a:r>
                <a:rPr sz="1100" b="0" i="0">
                  <a:solidFill>
                    <a:srgbClr val="8B90A0"/>
                  </a:solidFill>
                  <a:latin typeface="Arial"/>
                </a:rPr>
                <a:t>Celesto sandbox captures the credential harvester</a:t>
              </a:r>
            </a:p>
          </p:txBody>
        </p:sp>
      </p:grpSp>
      <p:grpSp>
        <p:nvGrpSpPr>
          <p:cNvPr id="32" name="group_251"/>
          <p:cNvGrpSpPr/>
          <p:nvPr/>
        </p:nvGrpSpPr>
        <p:grpSpPr>
          <a:xfrm>
            <a:off x="7988808" y="1965960"/>
            <a:ext cx="1757172" cy="1755648"/>
            <a:chOff x="7988808" y="1965960"/>
            <a:chExt cx="1757172" cy="1755648"/>
          </a:xfrm>
        </p:grpSpPr>
        <p:sp>
          <p:nvSpPr>
            <p:cNvPr id="33" name="shape_252"/>
            <p:cNvSpPr/>
            <p:nvPr/>
          </p:nvSpPr>
          <p:spPr>
            <a:xfrm>
              <a:off x="8684514" y="1965960"/>
              <a:ext cx="365760" cy="365760"/>
            </a:xfrm>
            <a:prstGeom prst="ellipse">
              <a:avLst/>
            </a:prstGeom>
            <a:solidFill>
              <a:srgbClr val="EC4899"/>
            </a:solidFill>
            <a:ln w="19050">
              <a:solidFill>
                <a:srgbClr val="FFFFFF">
                  <a:alpha val="70000"/>
                </a:srgbClr>
              </a:solidFill>
            </a:ln>
            <a:effectLst>
              <a:glow rad="127000">
                <a:srgbClr val="EC4899">
                  <a:alpha val="45000"/>
                </a:srgbClr>
              </a:glow>
            </a:effectLst>
          </p:spPr>
          <p:txBody>
            <a:bodyPr rtlCol="0" anchor="ctr"/>
            <a:lstStyle/>
            <a:p/>
          </p:txBody>
        </p:sp>
        <p:sp>
          <p:nvSpPr>
            <p:cNvPr id="34" name="text_253"/>
            <p:cNvSpPr txBox="1"/>
            <p:nvPr/>
          </p:nvSpPr>
          <p:spPr>
            <a:xfrm>
              <a:off x="7988808" y="2468880"/>
              <a:ext cx="1757172" cy="384048"/>
            </a:xfrm>
            <a:prstGeom prst="rect">
              <a:avLst/>
            </a:prstGeom>
            <a:noFill/>
          </p:spPr>
          <p:txBody>
            <a:bodyPr wrap="square" lIns="0" rIns="0" tIns="0" bIns="0" anchor="t">
              <a:spAutoFit/>
            </a:bodyPr>
            <a:lstStyle/>
            <a:p>
              <a:pPr algn="ctr"/>
              <a:r>
                <a:rPr sz="2200" b="1" i="0">
                  <a:solidFill>
                    <a:srgbClr val="EC4899"/>
                  </a:solidFill>
                  <a:latin typeface="Arial"/>
                </a:rPr>
                <a:t>6s</a:t>
              </a:r>
            </a:p>
          </p:txBody>
        </p:sp>
        <p:sp>
          <p:nvSpPr>
            <p:cNvPr id="35" name="text_254"/>
            <p:cNvSpPr txBox="1"/>
            <p:nvPr/>
          </p:nvSpPr>
          <p:spPr>
            <a:xfrm>
              <a:off x="7988808" y="2862072"/>
              <a:ext cx="1757172" cy="274320"/>
            </a:xfrm>
            <a:prstGeom prst="rect">
              <a:avLst/>
            </a:prstGeom>
            <a:noFill/>
          </p:spPr>
          <p:txBody>
            <a:bodyPr wrap="square" lIns="0" rIns="0" tIns="0" bIns="0" anchor="t">
              <a:spAutoFit/>
            </a:bodyPr>
            <a:lstStyle/>
            <a:p>
              <a:pPr algn="ctr"/>
              <a:r>
                <a:rPr sz="1400" b="1" i="0">
                  <a:solidFill>
                    <a:srgbClr val="FFFFFF"/>
                  </a:solidFill>
                  <a:latin typeface="Arial"/>
                </a:rPr>
                <a:t>Warned</a:t>
              </a:r>
            </a:p>
          </p:txBody>
        </p:sp>
        <p:sp>
          <p:nvSpPr>
            <p:cNvPr id="36" name="text_255"/>
            <p:cNvSpPr txBox="1"/>
            <p:nvPr/>
          </p:nvSpPr>
          <p:spPr>
            <a:xfrm>
              <a:off x="8034528" y="3154680"/>
              <a:ext cx="1665732" cy="566928"/>
            </a:xfrm>
            <a:prstGeom prst="rect">
              <a:avLst/>
            </a:prstGeom>
            <a:noFill/>
          </p:spPr>
          <p:txBody>
            <a:bodyPr wrap="square" lIns="0" rIns="0" tIns="0" bIns="0" anchor="t">
              <a:spAutoFit/>
            </a:bodyPr>
            <a:lstStyle/>
            <a:p>
              <a:pPr algn="ctr"/>
              <a:r>
                <a:rPr sz="1100" b="0" i="0">
                  <a:solidFill>
                    <a:srgbClr val="8B90A0"/>
                  </a:solidFill>
                  <a:latin typeface="Arial"/>
                </a:rPr>
                <a:t>Rex warns the channel by voice; Juno blocklists the domain</a:t>
              </a:r>
            </a:p>
          </p:txBody>
        </p:sp>
      </p:grpSp>
      <p:grpSp>
        <p:nvGrpSpPr>
          <p:cNvPr id="37" name="group_256"/>
          <p:cNvGrpSpPr/>
          <p:nvPr/>
        </p:nvGrpSpPr>
        <p:grpSpPr>
          <a:xfrm>
            <a:off x="9837420" y="1965960"/>
            <a:ext cx="1757172" cy="1755648"/>
            <a:chOff x="9837420" y="1965960"/>
            <a:chExt cx="1757172" cy="1755648"/>
          </a:xfrm>
        </p:grpSpPr>
        <p:sp>
          <p:nvSpPr>
            <p:cNvPr id="38" name="shape_257"/>
            <p:cNvSpPr/>
            <p:nvPr/>
          </p:nvSpPr>
          <p:spPr>
            <a:xfrm>
              <a:off x="10533126" y="1965960"/>
              <a:ext cx="365760" cy="365760"/>
            </a:xfrm>
            <a:prstGeom prst="ellipse">
              <a:avLst/>
            </a:prstGeom>
            <a:solidFill>
              <a:srgbClr val="10B981"/>
            </a:solidFill>
            <a:ln w="19050">
              <a:solidFill>
                <a:srgbClr val="FFFFFF">
                  <a:alpha val="70000"/>
                </a:srgbClr>
              </a:solidFill>
            </a:ln>
            <a:effectLst>
              <a:glow rad="127000">
                <a:srgbClr val="10B981">
                  <a:alpha val="45000"/>
                </a:srgbClr>
              </a:glow>
            </a:effectLst>
          </p:spPr>
          <p:txBody>
            <a:bodyPr rtlCol="0" anchor="ctr"/>
            <a:lstStyle/>
            <a:p/>
          </p:txBody>
        </p:sp>
        <p:sp>
          <p:nvSpPr>
            <p:cNvPr id="39" name="text_258"/>
            <p:cNvSpPr txBox="1"/>
            <p:nvPr/>
          </p:nvSpPr>
          <p:spPr>
            <a:xfrm>
              <a:off x="9837420" y="2468880"/>
              <a:ext cx="1757172" cy="384048"/>
            </a:xfrm>
            <a:prstGeom prst="rect">
              <a:avLst/>
            </a:prstGeom>
            <a:noFill/>
          </p:spPr>
          <p:txBody>
            <a:bodyPr wrap="square" lIns="0" rIns="0" tIns="0" bIns="0" anchor="t">
              <a:spAutoFit/>
            </a:bodyPr>
            <a:lstStyle/>
            <a:p>
              <a:pPr algn="ctr"/>
              <a:r>
                <a:rPr sz="2200" b="1" i="0">
                  <a:solidFill>
                    <a:srgbClr val="10B981"/>
                  </a:solidFill>
                  <a:latin typeface="Arial"/>
                </a:rPr>
                <a:t>1 click</a:t>
              </a:r>
            </a:p>
          </p:txBody>
        </p:sp>
        <p:sp>
          <p:nvSpPr>
            <p:cNvPr id="40" name="text_259"/>
            <p:cNvSpPr txBox="1"/>
            <p:nvPr/>
          </p:nvSpPr>
          <p:spPr>
            <a:xfrm>
              <a:off x="9837420" y="2862072"/>
              <a:ext cx="1757172" cy="274320"/>
            </a:xfrm>
            <a:prstGeom prst="rect">
              <a:avLst/>
            </a:prstGeom>
            <a:noFill/>
          </p:spPr>
          <p:txBody>
            <a:bodyPr wrap="square" lIns="0" rIns="0" tIns="0" bIns="0" anchor="t">
              <a:spAutoFit/>
            </a:bodyPr>
            <a:lstStyle/>
            <a:p>
              <a:pPr algn="ctr"/>
              <a:r>
                <a:rPr sz="1400" b="1" i="0">
                  <a:solidFill>
                    <a:srgbClr val="FFFFFF"/>
                  </a:solidFill>
                  <a:latin typeface="Arial"/>
                </a:rPr>
                <a:t>Banned</a:t>
              </a:r>
            </a:p>
          </p:txBody>
        </p:sp>
        <p:sp>
          <p:nvSpPr>
            <p:cNvPr id="41" name="text_260"/>
            <p:cNvSpPr txBox="1"/>
            <p:nvPr/>
          </p:nvSpPr>
          <p:spPr>
            <a:xfrm>
              <a:off x="9883140" y="3154680"/>
              <a:ext cx="1665732" cy="566928"/>
            </a:xfrm>
            <a:prstGeom prst="rect">
              <a:avLst/>
            </a:prstGeom>
            <a:noFill/>
          </p:spPr>
          <p:txBody>
            <a:bodyPr wrap="square" lIns="0" rIns="0" tIns="0" bIns="0" anchor="t">
              <a:spAutoFit/>
            </a:bodyPr>
            <a:lstStyle/>
            <a:p>
              <a:pPr algn="ctr"/>
              <a:r>
                <a:rPr sz="1100" b="0" i="0">
                  <a:solidFill>
                    <a:srgbClr val="8B90A0"/>
                  </a:solidFill>
                  <a:latin typeface="Arial"/>
                </a:rPr>
                <a:t>Founder approves; n8n logs the enforcement</a:t>
              </a:r>
            </a:p>
          </p:txBody>
        </p:sp>
      </p:grpSp>
      <p:grpSp>
        <p:nvGrpSpPr>
          <p:cNvPr id="42" name="group_261"/>
          <p:cNvGrpSpPr/>
          <p:nvPr/>
        </p:nvGrpSpPr>
        <p:grpSpPr>
          <a:xfrm>
            <a:off x="548640" y="3931920"/>
            <a:ext cx="3566160" cy="2194560"/>
            <a:chOff x="548640" y="3931920"/>
            <a:chExt cx="3566160" cy="2194560"/>
          </a:xfrm>
        </p:grpSpPr>
        <p:sp>
          <p:nvSpPr>
            <p:cNvPr id="43" name="shape_262"/>
            <p:cNvSpPr/>
            <p:nvPr/>
          </p:nvSpPr>
          <p:spPr>
            <a:xfrm>
              <a:off x="548640" y="3931920"/>
              <a:ext cx="3566160" cy="2194560"/>
            </a:xfrm>
            <a:prstGeom prst="roundRect">
              <a:avLst>
                <a:gd name="adj" fmla="val 5833"/>
              </a:avLst>
            </a:prstGeom>
            <a:solidFill>
              <a:srgbClr val="0B0D14">
                <a:alpha val="92000"/>
              </a:srgbClr>
            </a:solidFill>
            <a:ln w="12700">
              <a:solidFill>
                <a:srgbClr val="A78BFA">
                  <a:alpha val="35000"/>
                </a:srgbClr>
              </a:solidFill>
            </a:ln>
            <a:effectLst>
              <a:glow rad="228600">
                <a:srgbClr val="8B5CF6">
                  <a:alpha val="22000"/>
                </a:srgbClr>
              </a:glow>
            </a:effectLst>
          </p:spPr>
          <p:txBody>
            <a:bodyPr rtlCol="0" anchor="ctr"/>
            <a:lstStyle/>
            <a:p/>
          </p:txBody>
        </p:sp>
        <p:sp>
          <p:nvSpPr>
            <p:cNvPr id="44" name="shape_263"/>
            <p:cNvSpPr/>
            <p:nvPr/>
          </p:nvSpPr>
          <p:spPr>
            <a:xfrm>
              <a:off x="713232" y="4032504"/>
              <a:ext cx="91440" cy="91440"/>
            </a:xfrm>
            <a:prstGeom prst="ellipse">
              <a:avLst/>
            </a:prstGeom>
            <a:solidFill>
              <a:srgbClr val="F43F5E">
                <a:alpha val="90000"/>
              </a:srgbClr>
            </a:solidFill>
            <a:ln>
              <a:noFill/>
            </a:ln>
          </p:spPr>
          <p:txBody>
            <a:bodyPr rtlCol="0" anchor="ctr"/>
            <a:lstStyle/>
            <a:p/>
          </p:txBody>
        </p:sp>
        <p:sp>
          <p:nvSpPr>
            <p:cNvPr id="45" name="shape_264"/>
            <p:cNvSpPr/>
            <p:nvPr/>
          </p:nvSpPr>
          <p:spPr>
            <a:xfrm>
              <a:off x="868680" y="4032504"/>
              <a:ext cx="91440" cy="91440"/>
            </a:xfrm>
            <a:prstGeom prst="ellipse">
              <a:avLst/>
            </a:prstGeom>
            <a:solidFill>
              <a:srgbClr val="F59E0B">
                <a:alpha val="90000"/>
              </a:srgbClr>
            </a:solidFill>
            <a:ln>
              <a:noFill/>
            </a:ln>
          </p:spPr>
          <p:txBody>
            <a:bodyPr rtlCol="0" anchor="ctr"/>
            <a:lstStyle/>
            <a:p/>
          </p:txBody>
        </p:sp>
        <p:sp>
          <p:nvSpPr>
            <p:cNvPr id="46" name="shape_265"/>
            <p:cNvSpPr/>
            <p:nvPr/>
          </p:nvSpPr>
          <p:spPr>
            <a:xfrm>
              <a:off x="1024128" y="4032504"/>
              <a:ext cx="91440" cy="91440"/>
            </a:xfrm>
            <a:prstGeom prst="ellipse">
              <a:avLst/>
            </a:prstGeom>
            <a:solidFill>
              <a:srgbClr val="10B981">
                <a:alpha val="90000"/>
              </a:srgbClr>
            </a:solidFill>
            <a:ln>
              <a:noFill/>
            </a:ln>
          </p:spPr>
          <p:txBody>
            <a:bodyPr rtlCol="0" anchor="ctr"/>
            <a:lstStyle/>
            <a:p/>
          </p:txBody>
        </p:sp>
        <p:sp>
          <p:nvSpPr>
            <p:cNvPr id="47" name="shape_266"/>
            <p:cNvSpPr/>
            <p:nvPr/>
          </p:nvSpPr>
          <p:spPr>
            <a:xfrm>
              <a:off x="1142999" y="3995928"/>
              <a:ext cx="2377440" cy="164592"/>
            </a:xfrm>
            <a:prstGeom prst="roundRect">
              <a:avLst>
                <a:gd name="adj" fmla="val 50000"/>
              </a:avLst>
            </a:prstGeom>
            <a:solidFill>
              <a:srgbClr val="FFFFFF">
                <a:alpha val="6000"/>
              </a:srgbClr>
            </a:solidFill>
            <a:ln>
              <a:noFill/>
            </a:ln>
          </p:spPr>
          <p:txBody>
            <a:bodyPr rtlCol="0" anchor="ctr"/>
            <a:lstStyle/>
            <a:p/>
          </p:txBody>
        </p:sp>
        <p:sp>
          <p:nvSpPr>
            <p:cNvPr id="48" name="text_267"/>
            <p:cNvSpPr txBox="1"/>
            <p:nvPr/>
          </p:nvSpPr>
          <p:spPr>
            <a:xfrm>
              <a:off x="1142999" y="3995928"/>
              <a:ext cx="2377440" cy="164592"/>
            </a:xfrm>
            <a:prstGeom prst="rect">
              <a:avLst/>
            </a:prstGeom>
            <a:noFill/>
          </p:spPr>
          <p:txBody>
            <a:bodyPr wrap="square" lIns="0" rIns="0" tIns="0" bIns="0" anchor="ctr">
              <a:spAutoFit/>
            </a:bodyPr>
            <a:lstStyle/>
            <a:p>
              <a:pPr algn="ctr"/>
              <a:r>
                <a:rPr sz="800" b="0" i="0">
                  <a:solidFill>
                    <a:srgbClr val="8B90A0"/>
                  </a:solidFill>
                  <a:latin typeface="Arial"/>
                </a:rPr>
                <a:t>haven / incidents / 1042</a:t>
              </a:r>
            </a:p>
          </p:txBody>
        </p:sp>
        <p:pic>
          <p:nvPicPr>
            <p:cNvPr id="49" name="shot_268" descr="incident-room.png"/>
            <p:cNvPicPr>
              <a:picLocks noChangeAspect="1"/>
            </p:cNvPicPr>
            <p:nvPr/>
          </p:nvPicPr>
          <p:blipFill>
            <a:blip r:embed="rId7"/>
            <a:srcRect b="14439"/>
            <a:stretch>
              <a:fillRect/>
            </a:stretch>
          </p:blipFill>
          <p:spPr>
            <a:xfrm>
              <a:off x="621792" y="4224528"/>
              <a:ext cx="3419856" cy="1828800"/>
            </a:xfrm>
            <a:prstGeom prst="rect">
              <a:avLst/>
            </a:prstGeom>
          </p:spPr>
        </p:pic>
      </p:grpSp>
      <p:grpSp>
        <p:nvGrpSpPr>
          <p:cNvPr id="50" name="group_269"/>
          <p:cNvGrpSpPr/>
          <p:nvPr/>
        </p:nvGrpSpPr>
        <p:grpSpPr>
          <a:xfrm>
            <a:off x="4389120" y="3931920"/>
            <a:ext cx="2264664" cy="2194560"/>
            <a:chOff x="4389120" y="3931920"/>
            <a:chExt cx="2264664" cy="2194560"/>
          </a:xfrm>
        </p:grpSpPr>
        <p:sp>
          <p:nvSpPr>
            <p:cNvPr id="51" name="shape_270"/>
            <p:cNvSpPr/>
            <p:nvPr/>
          </p:nvSpPr>
          <p:spPr>
            <a:xfrm>
              <a:off x="4389120" y="3931920"/>
              <a:ext cx="2264664" cy="2194560"/>
            </a:xfrm>
            <a:prstGeom prst="roundRect">
              <a:avLst>
                <a:gd name="adj" fmla="val 6666"/>
              </a:avLst>
            </a:prstGeom>
            <a:solidFill>
              <a:srgbClr val="EC4899">
                <a:alpha val="7000"/>
              </a:srgbClr>
            </a:solidFill>
            <a:ln w="9525">
              <a:solidFill>
                <a:srgbClr val="EC4899">
                  <a:alpha val="35000"/>
                </a:srgbClr>
              </a:solidFill>
            </a:ln>
          </p:spPr>
          <p:txBody>
            <a:bodyPr rtlCol="0" anchor="ctr"/>
            <a:lstStyle/>
            <a:p/>
          </p:txBody>
        </p:sp>
        <p:sp>
          <p:nvSpPr>
            <p:cNvPr id="52" name="shape_271"/>
            <p:cNvSpPr/>
            <p:nvPr/>
          </p:nvSpPr>
          <p:spPr>
            <a:xfrm>
              <a:off x="4590288" y="4133087"/>
              <a:ext cx="457200" cy="457200"/>
            </a:xfrm>
            <a:prstGeom prst="ellipse">
              <a:avLst/>
            </a:prstGeom>
            <a:solidFill>
              <a:srgbClr val="EC4899">
                <a:alpha val="18000"/>
              </a:srgbClr>
            </a:solidFill>
            <a:ln w="9525">
              <a:solidFill>
                <a:srgbClr val="EC4899">
                  <a:alpha val="55000"/>
                </a:srgbClr>
              </a:solidFill>
            </a:ln>
          </p:spPr>
          <p:txBody>
            <a:bodyPr rtlCol="0" anchor="ctr"/>
            <a:lstStyle/>
            <a:p/>
          </p:txBody>
        </p:sp>
        <p:pic>
          <p:nvPicPr>
            <p:cNvPr id="53" name="pic_272" descr="icon_lifebuoy.png"/>
            <p:cNvPicPr>
              <a:picLocks noChangeAspect="1"/>
            </p:cNvPicPr>
            <p:nvPr/>
          </p:nvPicPr>
          <p:blipFill>
            <a:blip r:embed="rId8"/>
            <a:stretch>
              <a:fillRect/>
            </a:stretch>
          </p:blipFill>
          <p:spPr>
            <a:xfrm>
              <a:off x="4704588" y="4247388"/>
              <a:ext cx="228600" cy="228600"/>
            </a:xfrm>
            <a:prstGeom prst="rect">
              <a:avLst/>
            </a:prstGeom>
          </p:spPr>
        </p:pic>
        <p:sp>
          <p:nvSpPr>
            <p:cNvPr id="54" name="text_273"/>
            <p:cNvSpPr txBox="1"/>
            <p:nvPr/>
          </p:nvSpPr>
          <p:spPr>
            <a:xfrm>
              <a:off x="5175504" y="4206240"/>
              <a:ext cx="1350264" cy="329184"/>
            </a:xfrm>
            <a:prstGeom prst="rect">
              <a:avLst/>
            </a:prstGeom>
            <a:noFill/>
          </p:spPr>
          <p:txBody>
            <a:bodyPr wrap="square" lIns="0" rIns="0" tIns="0" bIns="0" anchor="t">
              <a:spAutoFit/>
            </a:bodyPr>
            <a:lstStyle/>
            <a:p>
              <a:pPr algn="l"/>
              <a:r>
                <a:rPr sz="1500" b="1" i="0">
                  <a:solidFill>
                    <a:srgbClr val="FFFFFF"/>
                  </a:solidFill>
                  <a:latin typeface="Arial"/>
                </a:rPr>
                <a:t>Crisis care</a:t>
              </a:r>
            </a:p>
          </p:txBody>
        </p:sp>
        <p:sp>
          <p:nvSpPr>
            <p:cNvPr id="55" name="text_274"/>
            <p:cNvSpPr txBox="1"/>
            <p:nvPr/>
          </p:nvSpPr>
          <p:spPr>
            <a:xfrm>
              <a:off x="4590288" y="4700016"/>
              <a:ext cx="1862328" cy="438912"/>
            </a:xfrm>
            <a:prstGeom prst="rect">
              <a:avLst/>
            </a:prstGeom>
            <a:noFill/>
          </p:spPr>
          <p:txBody>
            <a:bodyPr wrap="square" lIns="0" rIns="0" tIns="0" bIns="0" anchor="t">
              <a:spAutoFit/>
            </a:bodyPr>
            <a:lstStyle/>
            <a:p>
              <a:pPr algn="l"/>
              <a:r>
                <a:rPr sz="3000" b="1" i="0">
                  <a:solidFill>
                    <a:srgbClr val="F472B6"/>
                  </a:solidFill>
                  <a:latin typeface="Arial"/>
                </a:rPr>
                <a:t>&lt; 5s</a:t>
              </a:r>
            </a:p>
          </p:txBody>
        </p:sp>
        <p:sp>
          <p:nvSpPr>
            <p:cNvPr id="56" name="text_275"/>
            <p:cNvSpPr txBox="1"/>
            <p:nvPr/>
          </p:nvSpPr>
          <p:spPr>
            <a:xfrm>
              <a:off x="4590288" y="5120640"/>
              <a:ext cx="1862328" cy="228600"/>
            </a:xfrm>
            <a:prstGeom prst="rect">
              <a:avLst/>
            </a:prstGeom>
            <a:noFill/>
          </p:spPr>
          <p:txBody>
            <a:bodyPr wrap="square" lIns="0" rIns="0" tIns="0" bIns="0" anchor="t">
              <a:spAutoFit/>
            </a:bodyPr>
            <a:lstStyle/>
            <a:p>
              <a:pPr algn="l"/>
              <a:r>
                <a:rPr sz="1100" b="0" i="0">
                  <a:solidFill>
                    <a:srgbClr val="8B90A0"/>
                  </a:solidFill>
                  <a:latin typeface="Arial"/>
                </a:rPr>
                <a:t>to a caring reply</a:t>
              </a:r>
            </a:p>
          </p:txBody>
        </p:sp>
        <p:sp>
          <p:nvSpPr>
            <p:cNvPr id="57" name="text_276"/>
            <p:cNvSpPr txBox="1"/>
            <p:nvPr/>
          </p:nvSpPr>
          <p:spPr>
            <a:xfrm>
              <a:off x="4590288" y="5413248"/>
              <a:ext cx="1862328" cy="640080"/>
            </a:xfrm>
            <a:prstGeom prst="rect">
              <a:avLst/>
            </a:prstGeom>
            <a:noFill/>
          </p:spPr>
          <p:txBody>
            <a:bodyPr wrap="square" lIns="0" rIns="0" tIns="0" bIns="0" anchor="t">
              <a:spAutoFit/>
            </a:bodyPr>
            <a:lstStyle/>
            <a:p>
              <a:pPr algn="l"/>
              <a:r>
                <a:rPr sz="1100" b="0" i="0">
                  <a:solidFill>
                    <a:srgbClr val="E6E8EF"/>
                  </a:solidFill>
                  <a:latin typeface="Arial"/>
                </a:rPr>
                <a:t>“I want to end it” → Mira answers with 988 resources; n8n pages a human.</a:t>
              </a:r>
            </a:p>
          </p:txBody>
        </p:sp>
      </p:grpSp>
      <p:grpSp>
        <p:nvGrpSpPr>
          <p:cNvPr id="58" name="group_277"/>
          <p:cNvGrpSpPr/>
          <p:nvPr/>
        </p:nvGrpSpPr>
        <p:grpSpPr>
          <a:xfrm>
            <a:off x="6882384" y="3931920"/>
            <a:ext cx="2264664" cy="2194560"/>
            <a:chOff x="6882384" y="3931920"/>
            <a:chExt cx="2264664" cy="2194560"/>
          </a:xfrm>
        </p:grpSpPr>
        <p:sp>
          <p:nvSpPr>
            <p:cNvPr id="59" name="shape_278"/>
            <p:cNvSpPr/>
            <p:nvPr/>
          </p:nvSpPr>
          <p:spPr>
            <a:xfrm>
              <a:off x="6882384" y="3931920"/>
              <a:ext cx="2264664" cy="2194560"/>
            </a:xfrm>
            <a:prstGeom prst="roundRect">
              <a:avLst>
                <a:gd name="adj" fmla="val 6666"/>
              </a:avLst>
            </a:prstGeom>
            <a:solidFill>
              <a:srgbClr val="F43F5E">
                <a:alpha val="7000"/>
              </a:srgbClr>
            </a:solidFill>
            <a:ln w="9525">
              <a:solidFill>
                <a:srgbClr val="F43F5E">
                  <a:alpha val="35000"/>
                </a:srgbClr>
              </a:solidFill>
            </a:ln>
          </p:spPr>
          <p:txBody>
            <a:bodyPr rtlCol="0" anchor="ctr"/>
            <a:lstStyle/>
            <a:p/>
          </p:txBody>
        </p:sp>
        <p:sp>
          <p:nvSpPr>
            <p:cNvPr id="60" name="shape_279"/>
            <p:cNvSpPr/>
            <p:nvPr/>
          </p:nvSpPr>
          <p:spPr>
            <a:xfrm>
              <a:off x="7083552" y="4133087"/>
              <a:ext cx="749808" cy="749808"/>
            </a:xfrm>
            <a:prstGeom prst="ellipse">
              <a:avLst/>
            </a:prstGeom>
            <a:solidFill>
              <a:srgbClr val="F43F5E">
                <a:alpha val="18000"/>
              </a:srgbClr>
            </a:solidFill>
            <a:ln w="9525">
              <a:solidFill>
                <a:srgbClr val="F43F5E">
                  <a:alpha val="80000"/>
                </a:srgbClr>
              </a:solidFill>
            </a:ln>
          </p:spPr>
          <p:txBody>
            <a:bodyPr rtlCol="0" anchor="ctr"/>
            <a:lstStyle/>
            <a:p/>
          </p:txBody>
        </p:sp>
        <p:sp>
          <p:nvSpPr>
            <p:cNvPr id="61" name="text_280"/>
            <p:cNvSpPr txBox="1"/>
            <p:nvPr/>
          </p:nvSpPr>
          <p:spPr>
            <a:xfrm>
              <a:off x="7083552" y="4133087"/>
              <a:ext cx="749808" cy="749808"/>
            </a:xfrm>
            <a:prstGeom prst="rect">
              <a:avLst/>
            </a:prstGeom>
            <a:noFill/>
          </p:spPr>
          <p:txBody>
            <a:bodyPr wrap="square" lIns="0" rIns="0" tIns="0" bIns="0" anchor="ctr">
              <a:spAutoFit/>
            </a:bodyPr>
            <a:lstStyle/>
            <a:p>
              <a:pPr algn="ctr"/>
              <a:r>
                <a:rPr sz="3400" b="1" i="0">
                  <a:solidFill>
                    <a:srgbClr val="F43F5E"/>
                  </a:solidFill>
                  <a:latin typeface="Arial"/>
                </a:rPr>
                <a:t>F</a:t>
              </a:r>
            </a:p>
          </p:txBody>
        </p:sp>
        <p:sp>
          <p:nvSpPr>
            <p:cNvPr id="62" name="text_281"/>
            <p:cNvSpPr txBox="1"/>
            <p:nvPr/>
          </p:nvSpPr>
          <p:spPr>
            <a:xfrm>
              <a:off x="7961376" y="4206240"/>
              <a:ext cx="1075944" cy="603504"/>
            </a:xfrm>
            <a:prstGeom prst="rect">
              <a:avLst/>
            </a:prstGeom>
            <a:noFill/>
          </p:spPr>
          <p:txBody>
            <a:bodyPr wrap="square" lIns="0" rIns="0" tIns="0" bIns="0" anchor="t">
              <a:spAutoFit/>
            </a:bodyPr>
            <a:lstStyle/>
            <a:p>
              <a:pPr algn="l"/>
              <a:r>
                <a:rPr sz="1500" b="1" i="0">
                  <a:solidFill>
                    <a:srgbClr val="FFFFFF"/>
                  </a:solidFill>
                  <a:latin typeface="Arial"/>
                </a:rPr>
                <a:t>Bot audit</a:t>
              </a:r>
            </a:p>
            <a:p>
              <a:pPr algn="l"/>
              <a:r>
                <a:rPr sz="1100" b="0" i="0">
                  <a:solidFill>
                    <a:srgbClr val="8B90A0"/>
                  </a:solidFill>
                  <a:latin typeface="Arial"/>
                </a:rPr>
                <a:t>RaidShield Pro</a:t>
              </a:r>
            </a:p>
          </p:txBody>
        </p:sp>
        <p:sp>
          <p:nvSpPr>
            <p:cNvPr id="63" name="text_282"/>
            <p:cNvSpPr txBox="1"/>
            <p:nvPr/>
          </p:nvSpPr>
          <p:spPr>
            <a:xfrm>
              <a:off x="7083552" y="5074920"/>
              <a:ext cx="1862328" cy="960120"/>
            </a:xfrm>
            <a:prstGeom prst="rect">
              <a:avLst/>
            </a:prstGeom>
            <a:noFill/>
          </p:spPr>
          <p:txBody>
            <a:bodyPr wrap="square" lIns="0" rIns="0" tIns="0" bIns="0" anchor="t">
              <a:spAutoFit/>
            </a:bodyPr>
            <a:lstStyle/>
            <a:p>
              <a:pPr algn="l"/>
              <a:r>
                <a:rPr sz="1100" b="0" i="0">
                  <a:solidFill>
                    <a:srgbClr val="E6E8EF"/>
                  </a:solidFill>
                  <a:latin typeface="Arial"/>
                </a:rPr>
                <a:t>Kai: real Snyk vulns, requests ADMINISTRATOR, evals user input. Tenki sandbox + Prelint confirm.</a:t>
              </a:r>
            </a:p>
          </p:txBody>
        </p:sp>
      </p:grpSp>
      <p:grpSp>
        <p:nvGrpSpPr>
          <p:cNvPr id="64" name="group_283"/>
          <p:cNvGrpSpPr/>
          <p:nvPr/>
        </p:nvGrpSpPr>
        <p:grpSpPr>
          <a:xfrm>
            <a:off x="9375648" y="3931920"/>
            <a:ext cx="2264664" cy="2194560"/>
            <a:chOff x="9375648" y="3931920"/>
            <a:chExt cx="2264664" cy="2194560"/>
          </a:xfrm>
        </p:grpSpPr>
        <p:sp>
          <p:nvSpPr>
            <p:cNvPr id="65" name="shape_284"/>
            <p:cNvSpPr/>
            <p:nvPr/>
          </p:nvSpPr>
          <p:spPr>
            <a:xfrm>
              <a:off x="9375648" y="3931920"/>
              <a:ext cx="2264664" cy="2194560"/>
            </a:xfrm>
            <a:prstGeom prst="roundRect">
              <a:avLst>
                <a:gd name="adj" fmla="val 6666"/>
              </a:avLst>
            </a:prstGeom>
            <a:solidFill>
              <a:srgbClr val="3B82F6">
                <a:alpha val="7000"/>
              </a:srgbClr>
            </a:solidFill>
            <a:ln w="9525">
              <a:solidFill>
                <a:srgbClr val="3B82F6">
                  <a:alpha val="35000"/>
                </a:srgbClr>
              </a:solidFill>
            </a:ln>
          </p:spPr>
          <p:txBody>
            <a:bodyPr rtlCol="0" anchor="ctr"/>
            <a:lstStyle/>
            <a:p/>
          </p:txBody>
        </p:sp>
        <p:sp>
          <p:nvSpPr>
            <p:cNvPr id="66" name="text_285"/>
            <p:cNvSpPr txBox="1"/>
            <p:nvPr/>
          </p:nvSpPr>
          <p:spPr>
            <a:xfrm>
              <a:off x="9576816" y="4160520"/>
              <a:ext cx="1862328" cy="329184"/>
            </a:xfrm>
            <a:prstGeom prst="rect">
              <a:avLst/>
            </a:prstGeom>
            <a:noFill/>
          </p:spPr>
          <p:txBody>
            <a:bodyPr wrap="square" lIns="0" rIns="0" tIns="0" bIns="0" anchor="t">
              <a:spAutoFit/>
            </a:bodyPr>
            <a:lstStyle/>
            <a:p>
              <a:pPr algn="l"/>
              <a:r>
                <a:rPr sz="1500" b="1" i="0">
                  <a:solidFill>
                    <a:srgbClr val="FFFFFF"/>
                  </a:solidFill>
                  <a:latin typeface="Arial"/>
                </a:rPr>
                <a:t>Ask Haven</a:t>
              </a:r>
            </a:p>
          </p:txBody>
        </p:sp>
        <p:sp>
          <p:nvSpPr>
            <p:cNvPr id="67" name="text_286"/>
            <p:cNvSpPr txBox="1"/>
            <p:nvPr/>
          </p:nvSpPr>
          <p:spPr>
            <a:xfrm>
              <a:off x="9576816" y="4480559"/>
              <a:ext cx="1862328" cy="457200"/>
            </a:xfrm>
            <a:prstGeom prst="rect">
              <a:avLst/>
            </a:prstGeom>
            <a:noFill/>
          </p:spPr>
          <p:txBody>
            <a:bodyPr wrap="square" lIns="0" rIns="0" tIns="0" bIns="0" anchor="t">
              <a:spAutoFit/>
            </a:bodyPr>
            <a:lstStyle/>
            <a:p>
              <a:pPr algn="l"/>
              <a:r>
                <a:rPr sz="1100" b="0" i="1">
                  <a:solidFill>
                    <a:srgbClr val="E6E8EF"/>
                  </a:solidFill>
                  <a:latin typeface="Arial"/>
                </a:rPr>
                <a:t>“Which kind of incident is most common?”</a:t>
              </a:r>
            </a:p>
          </p:txBody>
        </p:sp>
        <p:sp>
          <p:nvSpPr>
            <p:cNvPr id="68" name="shape_287"/>
            <p:cNvSpPr/>
            <p:nvPr/>
          </p:nvSpPr>
          <p:spPr>
            <a:xfrm>
              <a:off x="9576816" y="5221223"/>
              <a:ext cx="397002" cy="521207"/>
            </a:xfrm>
            <a:prstGeom prst="roundRect">
              <a:avLst>
                <a:gd name="adj" fmla="val 9213"/>
              </a:avLst>
            </a:prstGeom>
            <a:solidFill>
              <a:srgbClr val="F43F5E">
                <a:alpha val="85000"/>
              </a:srgbClr>
            </a:solidFill>
            <a:ln>
              <a:noFill/>
            </a:ln>
          </p:spPr>
          <p:txBody>
            <a:bodyPr rtlCol="0" anchor="ctr"/>
            <a:lstStyle/>
            <a:p/>
          </p:txBody>
        </p:sp>
        <p:sp>
          <p:nvSpPr>
            <p:cNvPr id="69" name="text_288"/>
            <p:cNvSpPr txBox="1"/>
            <p:nvPr/>
          </p:nvSpPr>
          <p:spPr>
            <a:xfrm>
              <a:off x="9531096" y="5788151"/>
              <a:ext cx="488442" cy="228600"/>
            </a:xfrm>
            <a:prstGeom prst="rect">
              <a:avLst/>
            </a:prstGeom>
            <a:noFill/>
          </p:spPr>
          <p:txBody>
            <a:bodyPr wrap="square" lIns="0" rIns="0" tIns="0" bIns="0" anchor="t">
              <a:spAutoFit/>
            </a:bodyPr>
            <a:lstStyle/>
            <a:p>
              <a:pPr algn="ctr"/>
              <a:r>
                <a:rPr sz="850" b="0" i="0">
                  <a:solidFill>
                    <a:srgbClr val="8B90A0"/>
                  </a:solidFill>
                  <a:latin typeface="Arial"/>
                </a:rPr>
                <a:t>phishing</a:t>
              </a:r>
            </a:p>
          </p:txBody>
        </p:sp>
        <p:sp>
          <p:nvSpPr>
            <p:cNvPr id="70" name="shape_289"/>
            <p:cNvSpPr/>
            <p:nvPr/>
          </p:nvSpPr>
          <p:spPr>
            <a:xfrm>
              <a:off x="10065258" y="5402275"/>
              <a:ext cx="397002" cy="340156"/>
            </a:xfrm>
            <a:prstGeom prst="roundRect">
              <a:avLst>
                <a:gd name="adj" fmla="val 10752"/>
              </a:avLst>
            </a:prstGeom>
            <a:solidFill>
              <a:srgbClr val="F59E0B">
                <a:alpha val="85000"/>
              </a:srgbClr>
            </a:solidFill>
            <a:ln>
              <a:noFill/>
            </a:ln>
          </p:spPr>
          <p:txBody>
            <a:bodyPr rtlCol="0" anchor="ctr"/>
            <a:lstStyle/>
            <a:p/>
          </p:txBody>
        </p:sp>
        <p:sp>
          <p:nvSpPr>
            <p:cNvPr id="71" name="text_290"/>
            <p:cNvSpPr txBox="1"/>
            <p:nvPr/>
          </p:nvSpPr>
          <p:spPr>
            <a:xfrm>
              <a:off x="10019538" y="5788151"/>
              <a:ext cx="488442" cy="228600"/>
            </a:xfrm>
            <a:prstGeom prst="rect">
              <a:avLst/>
            </a:prstGeom>
            <a:noFill/>
          </p:spPr>
          <p:txBody>
            <a:bodyPr wrap="square" lIns="0" rIns="0" tIns="0" bIns="0" anchor="t">
              <a:spAutoFit/>
            </a:bodyPr>
            <a:lstStyle/>
            <a:p>
              <a:pPr algn="ctr"/>
              <a:r>
                <a:rPr sz="850" b="0" i="0">
                  <a:solidFill>
                    <a:srgbClr val="8B90A0"/>
                  </a:solidFill>
                  <a:latin typeface="Arial"/>
                </a:rPr>
                <a:t>spam</a:t>
              </a:r>
            </a:p>
          </p:txBody>
        </p:sp>
        <p:sp>
          <p:nvSpPr>
            <p:cNvPr id="72" name="shape_291"/>
            <p:cNvSpPr/>
            <p:nvPr/>
          </p:nvSpPr>
          <p:spPr>
            <a:xfrm>
              <a:off x="10553700" y="5522975"/>
              <a:ext cx="397002" cy="219456"/>
            </a:xfrm>
            <a:prstGeom prst="roundRect">
              <a:avLst>
                <a:gd name="adj" fmla="val 16666"/>
              </a:avLst>
            </a:prstGeom>
            <a:solidFill>
              <a:srgbClr val="A78BFA">
                <a:alpha val="85000"/>
              </a:srgbClr>
            </a:solidFill>
            <a:ln>
              <a:noFill/>
            </a:ln>
          </p:spPr>
          <p:txBody>
            <a:bodyPr rtlCol="0" anchor="ctr"/>
            <a:lstStyle/>
            <a:p/>
          </p:txBody>
        </p:sp>
        <p:sp>
          <p:nvSpPr>
            <p:cNvPr id="73" name="text_292"/>
            <p:cNvSpPr txBox="1"/>
            <p:nvPr/>
          </p:nvSpPr>
          <p:spPr>
            <a:xfrm>
              <a:off x="10507980" y="5788151"/>
              <a:ext cx="488442" cy="228600"/>
            </a:xfrm>
            <a:prstGeom prst="rect">
              <a:avLst/>
            </a:prstGeom>
            <a:noFill/>
          </p:spPr>
          <p:txBody>
            <a:bodyPr wrap="square" lIns="0" rIns="0" tIns="0" bIns="0" anchor="t">
              <a:spAutoFit/>
            </a:bodyPr>
            <a:lstStyle/>
            <a:p>
              <a:pPr algn="ctr"/>
              <a:r>
                <a:rPr sz="850" b="0" i="0">
                  <a:solidFill>
                    <a:srgbClr val="8B90A0"/>
                  </a:solidFill>
                  <a:latin typeface="Arial"/>
                </a:rPr>
                <a:t>raids</a:t>
              </a:r>
            </a:p>
          </p:txBody>
        </p:sp>
        <p:sp>
          <p:nvSpPr>
            <p:cNvPr id="74" name="shape_293"/>
            <p:cNvSpPr/>
            <p:nvPr/>
          </p:nvSpPr>
          <p:spPr>
            <a:xfrm>
              <a:off x="11042142" y="5621731"/>
              <a:ext cx="397002" cy="120700"/>
            </a:xfrm>
            <a:prstGeom prst="roundRect">
              <a:avLst>
                <a:gd name="adj" fmla="val 30303"/>
              </a:avLst>
            </a:prstGeom>
            <a:solidFill>
              <a:srgbClr val="22D3EE">
                <a:alpha val="85000"/>
              </a:srgbClr>
            </a:solidFill>
            <a:ln>
              <a:noFill/>
            </a:ln>
          </p:spPr>
          <p:txBody>
            <a:bodyPr rtlCol="0" anchor="ctr"/>
            <a:lstStyle/>
            <a:p/>
          </p:txBody>
        </p:sp>
        <p:sp>
          <p:nvSpPr>
            <p:cNvPr id="75" name="text_294"/>
            <p:cNvSpPr txBox="1"/>
            <p:nvPr/>
          </p:nvSpPr>
          <p:spPr>
            <a:xfrm>
              <a:off x="10996422" y="5788151"/>
              <a:ext cx="488442" cy="228600"/>
            </a:xfrm>
            <a:prstGeom prst="rect">
              <a:avLst/>
            </a:prstGeom>
            <a:noFill/>
          </p:spPr>
          <p:txBody>
            <a:bodyPr wrap="square" lIns="0" rIns="0" tIns="0" bIns="0" anchor="t">
              <a:spAutoFit/>
            </a:bodyPr>
            <a:lstStyle/>
            <a:p>
              <a:pPr algn="ctr"/>
              <a:r>
                <a:rPr sz="850" b="0" i="0">
                  <a:solidFill>
                    <a:srgbClr val="8B90A0"/>
                  </a:solidFill>
                  <a:latin typeface="Arial"/>
                </a:rPr>
                <a:t>crisis</a:t>
              </a:r>
            </a:p>
          </p:txBody>
        </p:sp>
        <p:sp>
          <p:nvSpPr>
            <p:cNvPr id="76" name="text_295"/>
            <p:cNvSpPr txBox="1"/>
            <p:nvPr/>
          </p:nvSpPr>
          <p:spPr>
            <a:xfrm>
              <a:off x="9576816" y="4910328"/>
              <a:ext cx="1862328" cy="228600"/>
            </a:xfrm>
            <a:prstGeom prst="rect">
              <a:avLst/>
            </a:prstGeom>
            <a:noFill/>
          </p:spPr>
          <p:txBody>
            <a:bodyPr wrap="square" lIns="0" rIns="0" tIns="0" bIns="0" anchor="t">
              <a:spAutoFit/>
            </a:bodyPr>
            <a:lstStyle/>
            <a:p>
              <a:pPr algn="l"/>
              <a:r>
                <a:rPr sz="950" b="1" i="0">
                  <a:solidFill>
                    <a:srgbClr val="60A5FA"/>
                  </a:solidFill>
                  <a:latin typeface="Arial"/>
                </a:rPr>
                <a:t>PromptQL → SQL → chart</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600"/>
                                        <p:tgtEl>
                                          <p:spTgt spid="10"/>
                                        </p:tgtEl>
                                      </p:cBhvr>
                                    </p:animEffect>
                                    <p:anim calcmode="lin" valueType="num">
                                      <p:cBhvr additive="base">
                                        <p:cTn id="11" dur="600" fill="hold"/>
                                        <p:tgtEl>
                                          <p:spTgt spid="10"/>
                                        </p:tgtEl>
                                        <p:attrNameLst>
                                          <p:attrName>ppt_x</p:attrName>
                                        </p:attrNameLst>
                                      </p:cBhvr>
                                      <p:tavLst>
                                        <p:tav tm="0">
                                          <p:val>
                                            <p:strVal val="#ppt_x"/>
                                          </p:val>
                                        </p:tav>
                                        <p:tav tm="100000">
                                          <p:val>
                                            <p:strVal val="#ppt_x"/>
                                          </p:val>
                                        </p:tav>
                                      </p:tavLst>
                                    </p:anim>
                                    <p:anim calcmode="lin" valueType="num">
                                      <p:cBhvr additive="base">
                                        <p:cTn id="12" dur="600" fill="hold"/>
                                        <p:tgtEl>
                                          <p:spTgt spid="10"/>
                                        </p:tgtEl>
                                        <p:attrNameLst>
                                          <p:attrName>ppt_y</p:attrName>
                                        </p:attrNameLst>
                                      </p:cBhvr>
                                      <p:tavLst>
                                        <p:tav tm="0">
                                          <p:val>
                                            <p:strVal val="#ppt_y+.06"/>
                                          </p:val>
                                        </p:tav>
                                        <p:tav tm="100000">
                                          <p:val>
                                            <p:strVal val="#ppt_y"/>
                                          </p:val>
                                        </p:tav>
                                      </p:tavLst>
                                    </p:anim>
                                  </p:childTnLst>
                                </p:cTn>
                              </p:par>
                              <p:par>
                                <p:cTn id="13" presetID="47" presetClass="entr" presetSubtype="0" fill="hold" grpId="0" nodeType="withEffect">
                                  <p:stCondLst>
                                    <p:cond delay="30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900"/>
                                        <p:tgtEl>
                                          <p:spTgt spid="11"/>
                                        </p:tgtEl>
                                      </p:cBhvr>
                                    </p:animEffect>
                                    <p:anim calcmode="lin" valueType="num">
                                      <p:cBhvr additive="base">
                                        <p:cTn id="16" dur="900" fill="hold"/>
                                        <p:tgtEl>
                                          <p:spTgt spid="11"/>
                                        </p:tgtEl>
                                        <p:attrNameLst>
                                          <p:attrName>ppt_x</p:attrName>
                                        </p:attrNameLst>
                                      </p:cBhvr>
                                      <p:tavLst>
                                        <p:tav tm="0">
                                          <p:val>
                                            <p:strVal val="#ppt_x-.06"/>
                                          </p:val>
                                        </p:tav>
                                        <p:tav tm="100000">
                                          <p:val>
                                            <p:strVal val="#ppt_x"/>
                                          </p:val>
                                        </p:tav>
                                      </p:tavLst>
                                    </p:anim>
                                    <p:anim calcmode="lin" valueType="num">
                                      <p:cBhvr additive="base">
                                        <p:cTn id="17" dur="900" fill="hold"/>
                                        <p:tgtEl>
                                          <p:spTgt spid="11"/>
                                        </p:tgtEl>
                                        <p:attrNameLst>
                                          <p:attrName>ppt_y</p:attrName>
                                        </p:attrNameLst>
                                      </p:cBhvr>
                                      <p:tavLst>
                                        <p:tav tm="0">
                                          <p:val>
                                            <p:strVal val="#ppt_y"/>
                                          </p:val>
                                        </p:tav>
                                        <p:tav tm="100000">
                                          <p:val>
                                            <p:strVal val="#ppt_y"/>
                                          </p:val>
                                        </p:tav>
                                      </p:tavLst>
                                    </p:anim>
                                  </p:childTnLst>
                                </p:cTn>
                              </p:par>
                              <p:par>
                                <p:cTn id="18" presetID="53" presetClass="entr" presetSubtype="16" fill="hold" grpId="0" nodeType="withEffect">
                                  <p:stCondLst>
                                    <p:cond delay="60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450" fill="hold"/>
                                        <p:tgtEl>
                                          <p:spTgt spid="12"/>
                                        </p:tgtEl>
                                        <p:attrNameLst>
                                          <p:attrName>ppt_w</p:attrName>
                                        </p:attrNameLst>
                                      </p:cBhvr>
                                      <p:tavLst>
                                        <p:tav tm="0">
                                          <p:val>
                                            <p:strVal val="0"/>
                                          </p:val>
                                        </p:tav>
                                        <p:tav tm="100000">
                                          <p:val>
                                            <p:strVal val="#ppt_w"/>
                                          </p:val>
                                        </p:tav>
                                      </p:tavLst>
                                    </p:anim>
                                    <p:anim calcmode="lin" valueType="num">
                                      <p:cBhvr additive="base">
                                        <p:cTn id="21" dur="450" fill="hold"/>
                                        <p:tgtEl>
                                          <p:spTgt spid="12"/>
                                        </p:tgtEl>
                                        <p:attrNameLst>
                                          <p:attrName>ppt_h</p:attrName>
                                        </p:attrNameLst>
                                      </p:cBhvr>
                                      <p:tavLst>
                                        <p:tav tm="0">
                                          <p:val>
                                            <p:strVal val="0"/>
                                          </p:val>
                                        </p:tav>
                                        <p:tav tm="100000">
                                          <p:val>
                                            <p:strVal val="#ppt_h"/>
                                          </p:val>
                                        </p:tav>
                                      </p:tavLst>
                                    </p:anim>
                                    <p:animEffect transition="in" filter="fade">
                                      <p:cBhvr>
                                        <p:cTn id="22" dur="450"/>
                                        <p:tgtEl>
                                          <p:spTgt spid="12"/>
                                        </p:tgtEl>
                                      </p:cBhvr>
                                    </p:animEffect>
                                  </p:childTnLst>
                                </p:cTn>
                              </p:par>
                              <p:par>
                                <p:cTn id="23" presetID="53" presetClass="entr" presetSubtype="16" fill="hold" grpId="0" nodeType="withEffect">
                                  <p:stCondLst>
                                    <p:cond delay="93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450" fill="hold"/>
                                        <p:tgtEl>
                                          <p:spTgt spid="17"/>
                                        </p:tgtEl>
                                        <p:attrNameLst>
                                          <p:attrName>ppt_w</p:attrName>
                                        </p:attrNameLst>
                                      </p:cBhvr>
                                      <p:tavLst>
                                        <p:tav tm="0">
                                          <p:val>
                                            <p:strVal val="0"/>
                                          </p:val>
                                        </p:tav>
                                        <p:tav tm="100000">
                                          <p:val>
                                            <p:strVal val="#ppt_w"/>
                                          </p:val>
                                        </p:tav>
                                      </p:tavLst>
                                    </p:anim>
                                    <p:anim calcmode="lin" valueType="num">
                                      <p:cBhvr additive="base">
                                        <p:cTn id="26" dur="450" fill="hold"/>
                                        <p:tgtEl>
                                          <p:spTgt spid="17"/>
                                        </p:tgtEl>
                                        <p:attrNameLst>
                                          <p:attrName>ppt_h</p:attrName>
                                        </p:attrNameLst>
                                      </p:cBhvr>
                                      <p:tavLst>
                                        <p:tav tm="0">
                                          <p:val>
                                            <p:strVal val="0"/>
                                          </p:val>
                                        </p:tav>
                                        <p:tav tm="100000">
                                          <p:val>
                                            <p:strVal val="#ppt_h"/>
                                          </p:val>
                                        </p:tav>
                                      </p:tavLst>
                                    </p:anim>
                                    <p:animEffect transition="in" filter="fade">
                                      <p:cBhvr>
                                        <p:cTn id="27" dur="450"/>
                                        <p:tgtEl>
                                          <p:spTgt spid="17"/>
                                        </p:tgtEl>
                                      </p:cBhvr>
                                    </p:animEffect>
                                  </p:childTnLst>
                                </p:cTn>
                              </p:par>
                              <p:par>
                                <p:cTn id="28" presetID="53" presetClass="entr" presetSubtype="16" fill="hold" grpId="0" nodeType="withEffect">
                                  <p:stCondLst>
                                    <p:cond delay="1260"/>
                                  </p:stCondLst>
                                  <p:childTnLst>
                                    <p:set>
                                      <p:cBhvr>
                                        <p:cTn id="29" dur="1" fill="hold">
                                          <p:stCondLst>
                                            <p:cond delay="0"/>
                                          </p:stCondLst>
                                        </p:cTn>
                                        <p:tgtEl>
                                          <p:spTgt spid="22"/>
                                        </p:tgtEl>
                                        <p:attrNameLst>
                                          <p:attrName>style.visibility</p:attrName>
                                        </p:attrNameLst>
                                      </p:cBhvr>
                                      <p:to>
                                        <p:strVal val="visible"/>
                                      </p:to>
                                    </p:set>
                                    <p:anim calcmode="lin" valueType="num">
                                      <p:cBhvr additive="base">
                                        <p:cTn id="30" dur="450" fill="hold"/>
                                        <p:tgtEl>
                                          <p:spTgt spid="22"/>
                                        </p:tgtEl>
                                        <p:attrNameLst>
                                          <p:attrName>ppt_w</p:attrName>
                                        </p:attrNameLst>
                                      </p:cBhvr>
                                      <p:tavLst>
                                        <p:tav tm="0">
                                          <p:val>
                                            <p:strVal val="0"/>
                                          </p:val>
                                        </p:tav>
                                        <p:tav tm="100000">
                                          <p:val>
                                            <p:strVal val="#ppt_w"/>
                                          </p:val>
                                        </p:tav>
                                      </p:tavLst>
                                    </p:anim>
                                    <p:anim calcmode="lin" valueType="num">
                                      <p:cBhvr additive="base">
                                        <p:cTn id="31" dur="450" fill="hold"/>
                                        <p:tgtEl>
                                          <p:spTgt spid="22"/>
                                        </p:tgtEl>
                                        <p:attrNameLst>
                                          <p:attrName>ppt_h</p:attrName>
                                        </p:attrNameLst>
                                      </p:cBhvr>
                                      <p:tavLst>
                                        <p:tav tm="0">
                                          <p:val>
                                            <p:strVal val="0"/>
                                          </p:val>
                                        </p:tav>
                                        <p:tav tm="100000">
                                          <p:val>
                                            <p:strVal val="#ppt_h"/>
                                          </p:val>
                                        </p:tav>
                                      </p:tavLst>
                                    </p:anim>
                                    <p:animEffect transition="in" filter="fade">
                                      <p:cBhvr>
                                        <p:cTn id="32" dur="450"/>
                                        <p:tgtEl>
                                          <p:spTgt spid="22"/>
                                        </p:tgtEl>
                                      </p:cBhvr>
                                    </p:animEffect>
                                  </p:childTnLst>
                                </p:cTn>
                              </p:par>
                              <p:par>
                                <p:cTn id="33" presetID="53" presetClass="entr" presetSubtype="16" fill="hold" grpId="0" nodeType="withEffect">
                                  <p:stCondLst>
                                    <p:cond delay="1590"/>
                                  </p:stCondLst>
                                  <p:childTnLst>
                                    <p:set>
                                      <p:cBhvr>
                                        <p:cTn id="34" dur="1" fill="hold">
                                          <p:stCondLst>
                                            <p:cond delay="0"/>
                                          </p:stCondLst>
                                        </p:cTn>
                                        <p:tgtEl>
                                          <p:spTgt spid="27"/>
                                        </p:tgtEl>
                                        <p:attrNameLst>
                                          <p:attrName>style.visibility</p:attrName>
                                        </p:attrNameLst>
                                      </p:cBhvr>
                                      <p:to>
                                        <p:strVal val="visible"/>
                                      </p:to>
                                    </p:set>
                                    <p:anim calcmode="lin" valueType="num">
                                      <p:cBhvr additive="base">
                                        <p:cTn id="35" dur="450" fill="hold"/>
                                        <p:tgtEl>
                                          <p:spTgt spid="27"/>
                                        </p:tgtEl>
                                        <p:attrNameLst>
                                          <p:attrName>ppt_w</p:attrName>
                                        </p:attrNameLst>
                                      </p:cBhvr>
                                      <p:tavLst>
                                        <p:tav tm="0">
                                          <p:val>
                                            <p:strVal val="0"/>
                                          </p:val>
                                        </p:tav>
                                        <p:tav tm="100000">
                                          <p:val>
                                            <p:strVal val="#ppt_w"/>
                                          </p:val>
                                        </p:tav>
                                      </p:tavLst>
                                    </p:anim>
                                    <p:anim calcmode="lin" valueType="num">
                                      <p:cBhvr additive="base">
                                        <p:cTn id="36" dur="450" fill="hold"/>
                                        <p:tgtEl>
                                          <p:spTgt spid="27"/>
                                        </p:tgtEl>
                                        <p:attrNameLst>
                                          <p:attrName>ppt_h</p:attrName>
                                        </p:attrNameLst>
                                      </p:cBhvr>
                                      <p:tavLst>
                                        <p:tav tm="0">
                                          <p:val>
                                            <p:strVal val="0"/>
                                          </p:val>
                                        </p:tav>
                                        <p:tav tm="100000">
                                          <p:val>
                                            <p:strVal val="#ppt_h"/>
                                          </p:val>
                                        </p:tav>
                                      </p:tavLst>
                                    </p:anim>
                                    <p:animEffect transition="in" filter="fade">
                                      <p:cBhvr>
                                        <p:cTn id="37" dur="450"/>
                                        <p:tgtEl>
                                          <p:spTgt spid="27"/>
                                        </p:tgtEl>
                                      </p:cBhvr>
                                    </p:animEffect>
                                  </p:childTnLst>
                                </p:cTn>
                              </p:par>
                              <p:par>
                                <p:cTn id="38" presetID="53" presetClass="entr" presetSubtype="16" fill="hold" grpId="0" nodeType="withEffect">
                                  <p:stCondLst>
                                    <p:cond delay="1920"/>
                                  </p:stCondLst>
                                  <p:childTnLst>
                                    <p:set>
                                      <p:cBhvr>
                                        <p:cTn id="39" dur="1" fill="hold">
                                          <p:stCondLst>
                                            <p:cond delay="0"/>
                                          </p:stCondLst>
                                        </p:cTn>
                                        <p:tgtEl>
                                          <p:spTgt spid="32"/>
                                        </p:tgtEl>
                                        <p:attrNameLst>
                                          <p:attrName>style.visibility</p:attrName>
                                        </p:attrNameLst>
                                      </p:cBhvr>
                                      <p:to>
                                        <p:strVal val="visible"/>
                                      </p:to>
                                    </p:set>
                                    <p:anim calcmode="lin" valueType="num">
                                      <p:cBhvr additive="base">
                                        <p:cTn id="40" dur="450" fill="hold"/>
                                        <p:tgtEl>
                                          <p:spTgt spid="32"/>
                                        </p:tgtEl>
                                        <p:attrNameLst>
                                          <p:attrName>ppt_w</p:attrName>
                                        </p:attrNameLst>
                                      </p:cBhvr>
                                      <p:tavLst>
                                        <p:tav tm="0">
                                          <p:val>
                                            <p:strVal val="0"/>
                                          </p:val>
                                        </p:tav>
                                        <p:tav tm="100000">
                                          <p:val>
                                            <p:strVal val="#ppt_w"/>
                                          </p:val>
                                        </p:tav>
                                      </p:tavLst>
                                    </p:anim>
                                    <p:anim calcmode="lin" valueType="num">
                                      <p:cBhvr additive="base">
                                        <p:cTn id="41" dur="450" fill="hold"/>
                                        <p:tgtEl>
                                          <p:spTgt spid="32"/>
                                        </p:tgtEl>
                                        <p:attrNameLst>
                                          <p:attrName>ppt_h</p:attrName>
                                        </p:attrNameLst>
                                      </p:cBhvr>
                                      <p:tavLst>
                                        <p:tav tm="0">
                                          <p:val>
                                            <p:strVal val="0"/>
                                          </p:val>
                                        </p:tav>
                                        <p:tav tm="100000">
                                          <p:val>
                                            <p:strVal val="#ppt_h"/>
                                          </p:val>
                                        </p:tav>
                                      </p:tavLst>
                                    </p:anim>
                                    <p:animEffect transition="in" filter="fade">
                                      <p:cBhvr>
                                        <p:cTn id="42" dur="450"/>
                                        <p:tgtEl>
                                          <p:spTgt spid="32"/>
                                        </p:tgtEl>
                                      </p:cBhvr>
                                    </p:animEffect>
                                  </p:childTnLst>
                                </p:cTn>
                              </p:par>
                              <p:par>
                                <p:cTn id="43" presetID="53" presetClass="entr" presetSubtype="16" fill="hold" grpId="0" nodeType="withEffect">
                                  <p:stCondLst>
                                    <p:cond delay="2250"/>
                                  </p:stCondLst>
                                  <p:childTnLst>
                                    <p:set>
                                      <p:cBhvr>
                                        <p:cTn id="44" dur="1" fill="hold">
                                          <p:stCondLst>
                                            <p:cond delay="0"/>
                                          </p:stCondLst>
                                        </p:cTn>
                                        <p:tgtEl>
                                          <p:spTgt spid="37"/>
                                        </p:tgtEl>
                                        <p:attrNameLst>
                                          <p:attrName>style.visibility</p:attrName>
                                        </p:attrNameLst>
                                      </p:cBhvr>
                                      <p:to>
                                        <p:strVal val="visible"/>
                                      </p:to>
                                    </p:set>
                                    <p:anim calcmode="lin" valueType="num">
                                      <p:cBhvr additive="base">
                                        <p:cTn id="45" dur="450" fill="hold"/>
                                        <p:tgtEl>
                                          <p:spTgt spid="37"/>
                                        </p:tgtEl>
                                        <p:attrNameLst>
                                          <p:attrName>ppt_w</p:attrName>
                                        </p:attrNameLst>
                                      </p:cBhvr>
                                      <p:tavLst>
                                        <p:tav tm="0">
                                          <p:val>
                                            <p:strVal val="0"/>
                                          </p:val>
                                        </p:tav>
                                        <p:tav tm="100000">
                                          <p:val>
                                            <p:strVal val="#ppt_w"/>
                                          </p:val>
                                        </p:tav>
                                      </p:tavLst>
                                    </p:anim>
                                    <p:anim calcmode="lin" valueType="num">
                                      <p:cBhvr additive="base">
                                        <p:cTn id="46" dur="450" fill="hold"/>
                                        <p:tgtEl>
                                          <p:spTgt spid="37"/>
                                        </p:tgtEl>
                                        <p:attrNameLst>
                                          <p:attrName>ppt_h</p:attrName>
                                        </p:attrNameLst>
                                      </p:cBhvr>
                                      <p:tavLst>
                                        <p:tav tm="0">
                                          <p:val>
                                            <p:strVal val="0"/>
                                          </p:val>
                                        </p:tav>
                                        <p:tav tm="100000">
                                          <p:val>
                                            <p:strVal val="#ppt_h"/>
                                          </p:val>
                                        </p:tav>
                                      </p:tavLst>
                                    </p:anim>
                                    <p:animEffect transition="in" filter="fade">
                                      <p:cBhvr>
                                        <p:cTn id="47" dur="450"/>
                                        <p:tgtEl>
                                          <p:spTgt spid="37"/>
                                        </p:tgtEl>
                                      </p:cBhvr>
                                    </p:animEffect>
                                  </p:childTnLst>
                                </p:cTn>
                              </p:par>
                              <p:par>
                                <p:cTn id="48" presetID="42" presetClass="entr" presetSubtype="0" fill="hold" grpId="0" nodeType="withEffect">
                                  <p:stCondLst>
                                    <p:cond delay="270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600"/>
                                        <p:tgtEl>
                                          <p:spTgt spid="42"/>
                                        </p:tgtEl>
                                      </p:cBhvr>
                                    </p:animEffect>
                                    <p:anim calcmode="lin" valueType="num">
                                      <p:cBhvr additive="base">
                                        <p:cTn id="51" dur="600" fill="hold"/>
                                        <p:tgtEl>
                                          <p:spTgt spid="42"/>
                                        </p:tgtEl>
                                        <p:attrNameLst>
                                          <p:attrName>ppt_x</p:attrName>
                                        </p:attrNameLst>
                                      </p:cBhvr>
                                      <p:tavLst>
                                        <p:tav tm="0">
                                          <p:val>
                                            <p:strVal val="#ppt_x"/>
                                          </p:val>
                                        </p:tav>
                                        <p:tav tm="100000">
                                          <p:val>
                                            <p:strVal val="#ppt_x"/>
                                          </p:val>
                                        </p:tav>
                                      </p:tavLst>
                                    </p:anim>
                                    <p:anim calcmode="lin" valueType="num">
                                      <p:cBhvr additive="base">
                                        <p:cTn id="52" dur="600" fill="hold"/>
                                        <p:tgtEl>
                                          <p:spTgt spid="42"/>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2900"/>
                                  </p:stCondLst>
                                  <p:childTnLst>
                                    <p:set>
                                      <p:cBhvr>
                                        <p:cTn id="54" dur="1" fill="hold">
                                          <p:stCondLst>
                                            <p:cond delay="0"/>
                                          </p:stCondLst>
                                        </p:cTn>
                                        <p:tgtEl>
                                          <p:spTgt spid="50"/>
                                        </p:tgtEl>
                                        <p:attrNameLst>
                                          <p:attrName>style.visibility</p:attrName>
                                        </p:attrNameLst>
                                      </p:cBhvr>
                                      <p:to>
                                        <p:strVal val="visible"/>
                                      </p:to>
                                    </p:set>
                                    <p:animEffect transition="in" filter="fade">
                                      <p:cBhvr>
                                        <p:cTn id="55" dur="600"/>
                                        <p:tgtEl>
                                          <p:spTgt spid="50"/>
                                        </p:tgtEl>
                                      </p:cBhvr>
                                    </p:animEffect>
                                    <p:anim calcmode="lin" valueType="num">
                                      <p:cBhvr additive="base">
                                        <p:cTn id="56" dur="600" fill="hold"/>
                                        <p:tgtEl>
                                          <p:spTgt spid="50"/>
                                        </p:tgtEl>
                                        <p:attrNameLst>
                                          <p:attrName>ppt_x</p:attrName>
                                        </p:attrNameLst>
                                      </p:cBhvr>
                                      <p:tavLst>
                                        <p:tav tm="0">
                                          <p:val>
                                            <p:strVal val="#ppt_x"/>
                                          </p:val>
                                        </p:tav>
                                        <p:tav tm="100000">
                                          <p:val>
                                            <p:strVal val="#ppt_x"/>
                                          </p:val>
                                        </p:tav>
                                      </p:tavLst>
                                    </p:anim>
                                    <p:anim calcmode="lin" valueType="num">
                                      <p:cBhvr additive="base">
                                        <p:cTn id="57" dur="600" fill="hold"/>
                                        <p:tgtEl>
                                          <p:spTgt spid="50"/>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3050"/>
                                  </p:stCondLst>
                                  <p:childTnLst>
                                    <p:set>
                                      <p:cBhvr>
                                        <p:cTn id="59" dur="1" fill="hold">
                                          <p:stCondLst>
                                            <p:cond delay="0"/>
                                          </p:stCondLst>
                                        </p:cTn>
                                        <p:tgtEl>
                                          <p:spTgt spid="58"/>
                                        </p:tgtEl>
                                        <p:attrNameLst>
                                          <p:attrName>style.visibility</p:attrName>
                                        </p:attrNameLst>
                                      </p:cBhvr>
                                      <p:to>
                                        <p:strVal val="visible"/>
                                      </p:to>
                                    </p:set>
                                    <p:animEffect transition="in" filter="fade">
                                      <p:cBhvr>
                                        <p:cTn id="60" dur="600"/>
                                        <p:tgtEl>
                                          <p:spTgt spid="58"/>
                                        </p:tgtEl>
                                      </p:cBhvr>
                                    </p:animEffect>
                                    <p:anim calcmode="lin" valueType="num">
                                      <p:cBhvr additive="base">
                                        <p:cTn id="61" dur="600" fill="hold"/>
                                        <p:tgtEl>
                                          <p:spTgt spid="58"/>
                                        </p:tgtEl>
                                        <p:attrNameLst>
                                          <p:attrName>ppt_x</p:attrName>
                                        </p:attrNameLst>
                                      </p:cBhvr>
                                      <p:tavLst>
                                        <p:tav tm="0">
                                          <p:val>
                                            <p:strVal val="#ppt_x"/>
                                          </p:val>
                                        </p:tav>
                                        <p:tav tm="100000">
                                          <p:val>
                                            <p:strVal val="#ppt_x"/>
                                          </p:val>
                                        </p:tav>
                                      </p:tavLst>
                                    </p:anim>
                                    <p:anim calcmode="lin" valueType="num">
                                      <p:cBhvr additive="base">
                                        <p:cTn id="62" dur="600" fill="hold"/>
                                        <p:tgtEl>
                                          <p:spTgt spid="58"/>
                                        </p:tgtEl>
                                        <p:attrNameLst>
                                          <p:attrName>ppt_y</p:attrName>
                                        </p:attrNameLst>
                                      </p:cBhvr>
                                      <p:tavLst>
                                        <p:tav tm="0">
                                          <p:val>
                                            <p:strVal val="#ppt_y+.06"/>
                                          </p:val>
                                        </p:tav>
                                        <p:tav tm="100000">
                                          <p:val>
                                            <p:strVal val="#ppt_y"/>
                                          </p:val>
                                        </p:tav>
                                      </p:tavLst>
                                    </p:anim>
                                  </p:childTnLst>
                                </p:cTn>
                              </p:par>
                              <p:par>
                                <p:cTn id="63" presetID="42" presetClass="entr" presetSubtype="0" fill="hold" grpId="0" nodeType="withEffect">
                                  <p:stCondLst>
                                    <p:cond delay="3200"/>
                                  </p:stCondLst>
                                  <p:childTnLst>
                                    <p:set>
                                      <p:cBhvr>
                                        <p:cTn id="64" dur="1" fill="hold">
                                          <p:stCondLst>
                                            <p:cond delay="0"/>
                                          </p:stCondLst>
                                        </p:cTn>
                                        <p:tgtEl>
                                          <p:spTgt spid="64"/>
                                        </p:tgtEl>
                                        <p:attrNameLst>
                                          <p:attrName>style.visibility</p:attrName>
                                        </p:attrNameLst>
                                      </p:cBhvr>
                                      <p:to>
                                        <p:strVal val="visible"/>
                                      </p:to>
                                    </p:set>
                                    <p:animEffect transition="in" filter="fade">
                                      <p:cBhvr>
                                        <p:cTn id="65" dur="600"/>
                                        <p:tgtEl>
                                          <p:spTgt spid="64"/>
                                        </p:tgtEl>
                                      </p:cBhvr>
                                    </p:animEffect>
                                    <p:anim calcmode="lin" valueType="num">
                                      <p:cBhvr additive="base">
                                        <p:cTn id="66" dur="600" fill="hold"/>
                                        <p:tgtEl>
                                          <p:spTgt spid="64"/>
                                        </p:tgtEl>
                                        <p:attrNameLst>
                                          <p:attrName>ppt_x</p:attrName>
                                        </p:attrNameLst>
                                      </p:cBhvr>
                                      <p:tavLst>
                                        <p:tav tm="0">
                                          <p:val>
                                            <p:strVal val="#ppt_x"/>
                                          </p:val>
                                        </p:tav>
                                        <p:tav tm="100000">
                                          <p:val>
                                            <p:strVal val="#ppt_x"/>
                                          </p:val>
                                        </p:tav>
                                      </p:tavLst>
                                    </p:anim>
                                    <p:anim calcmode="lin" valueType="num">
                                      <p:cBhvr additive="base">
                                        <p:cTn id="67" dur="600" fill="hold"/>
                                        <p:tgtEl>
                                          <p:spTgt spid="64"/>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60A"/>
        </a:solidFill>
        <a:effectLst/>
      </p:bgPr>
    </p:bg>
    <p:spTree>
      <p:nvGrpSpPr>
        <p:cNvPr id="1" name=""/>
        <p:cNvGrpSpPr/>
        <p:nvPr/>
      </p:nvGrpSpPr>
      <p:grpSpPr/>
      <p:pic>
        <p:nvPicPr>
          <p:cNvPr id="2" name="!!bg" descr="bg.png"/>
          <p:cNvPicPr>
            <a:picLocks noChangeAspect="1"/>
          </p:cNvPicPr>
          <p:nvPr/>
        </p:nvPicPr>
        <p:blipFill>
          <a:blip r:embed="rId2"/>
          <a:stretch>
            <a:fillRect/>
          </a:stretch>
        </p:blipFill>
        <p:spPr>
          <a:xfrm>
            <a:off x="0" y="0"/>
            <a:ext cx="12191695" cy="6858000"/>
          </a:xfrm>
          <a:prstGeom prst="rect">
            <a:avLst/>
          </a:prstGeom>
        </p:spPr>
      </p:pic>
      <p:pic>
        <p:nvPicPr>
          <p:cNvPr id="3" name="!!orb_violet" descr="orb_violet.png"/>
          <p:cNvPicPr>
            <a:picLocks noChangeAspect="1"/>
          </p:cNvPicPr>
          <p:nvPr/>
        </p:nvPicPr>
        <p:blipFill>
          <a:blip r:embed="rId3"/>
          <a:stretch>
            <a:fillRect/>
          </a:stretch>
        </p:blipFill>
        <p:spPr>
          <a:xfrm>
            <a:off x="-2743200" y="-1828800"/>
            <a:ext cx="6858000" cy="6858000"/>
          </a:xfrm>
          <a:prstGeom prst="rect">
            <a:avLst/>
          </a:prstGeom>
        </p:spPr>
      </p:pic>
      <p:pic>
        <p:nvPicPr>
          <p:cNvPr id="4" name="!!orb_cyan" descr="orb_cyan.png"/>
          <p:cNvPicPr>
            <a:picLocks noChangeAspect="1"/>
          </p:cNvPicPr>
          <p:nvPr/>
        </p:nvPicPr>
        <p:blipFill>
          <a:blip r:embed="rId4"/>
          <a:stretch>
            <a:fillRect/>
          </a:stretch>
        </p:blipFill>
        <p:spPr>
          <a:xfrm>
            <a:off x="8686800" y="2743200"/>
            <a:ext cx="5943600" cy="5943600"/>
          </a:xfrm>
          <a:prstGeom prst="rect">
            <a:avLst/>
          </a:prstGeom>
        </p:spPr>
      </p:pic>
      <p:pic>
        <p:nvPicPr>
          <p:cNvPr id="5" name="!!orb_rose" descr="orb_rose.png"/>
          <p:cNvPicPr>
            <a:picLocks noChangeAspect="1"/>
          </p:cNvPicPr>
          <p:nvPr/>
        </p:nvPicPr>
        <p:blipFill>
          <a:blip r:embed="rId5"/>
          <a:stretch>
            <a:fillRect/>
          </a:stretch>
        </p:blipFill>
        <p:spPr>
          <a:xfrm>
            <a:off x="5486400" y="-2286000"/>
            <a:ext cx="3657600" cy="3657600"/>
          </a:xfrm>
          <a:prstGeom prst="rect">
            <a:avLst/>
          </a:prstGeom>
        </p:spPr>
      </p:pic>
      <p:pic>
        <p:nvPicPr>
          <p:cNvPr id="6" name="!!footlogo" descr="logo.png"/>
          <p:cNvPicPr>
            <a:picLocks noChangeAspect="1"/>
          </p:cNvPicPr>
          <p:nvPr/>
        </p:nvPicPr>
        <p:blipFill>
          <a:blip r:embed="rId6"/>
          <a:stretch>
            <a:fillRect/>
          </a:stretch>
        </p:blipFill>
        <p:spPr>
          <a:xfrm>
            <a:off x="548640" y="6327648"/>
            <a:ext cx="237744" cy="237744"/>
          </a:xfrm>
          <a:prstGeom prst="rect">
            <a:avLst/>
          </a:prstGeom>
        </p:spPr>
      </p:pic>
      <p:sp>
        <p:nvSpPr>
          <p:cNvPr id="7" name="!!footname"/>
          <p:cNvSpPr txBox="1"/>
          <p:nvPr/>
        </p:nvSpPr>
        <p:spPr>
          <a:xfrm>
            <a:off x="868680" y="6327648"/>
            <a:ext cx="2743200" cy="237744"/>
          </a:xfrm>
          <a:prstGeom prst="rect">
            <a:avLst/>
          </a:prstGeom>
          <a:noFill/>
        </p:spPr>
        <p:txBody>
          <a:bodyPr wrap="square" lIns="0" rIns="0" tIns="0" bIns="0" anchor="ctr">
            <a:spAutoFit/>
          </a:bodyPr>
          <a:lstStyle/>
          <a:p>
            <a:pPr algn="l"/>
            <a:r>
              <a:rPr sz="1100" b="1" i="0">
                <a:solidFill>
                  <a:srgbClr val="8B90A0"/>
                </a:solidFill>
                <a:latin typeface="Arial"/>
              </a:rPr>
              <a:t>Haven</a:t>
            </a:r>
          </a:p>
        </p:txBody>
      </p:sp>
      <p:sp>
        <p:nvSpPr>
          <p:cNvPr id="8" name="!!pageno"/>
          <p:cNvSpPr txBox="1"/>
          <p:nvPr/>
        </p:nvSpPr>
        <p:spPr>
          <a:xfrm>
            <a:off x="9814255" y="6327648"/>
            <a:ext cx="1828800" cy="237744"/>
          </a:xfrm>
          <a:prstGeom prst="rect">
            <a:avLst/>
          </a:prstGeom>
          <a:noFill/>
        </p:spPr>
        <p:txBody>
          <a:bodyPr wrap="square" lIns="0" rIns="0" tIns="0" bIns="0" anchor="ctr">
            <a:spAutoFit/>
          </a:bodyPr>
          <a:lstStyle/>
          <a:p>
            <a:pPr algn="r"/>
            <a:r>
              <a:rPr sz="1100" b="0" i="0">
                <a:solidFill>
                  <a:srgbClr val="8B90A0"/>
                </a:solidFill>
                <a:latin typeface="Arial"/>
              </a:rPr>
              <a:t>07 / 10</a:t>
            </a:r>
          </a:p>
        </p:txBody>
      </p:sp>
      <p:sp>
        <p:nvSpPr>
          <p:cNvPr id="9" name="text_296"/>
          <p:cNvSpPr txBox="1"/>
          <p:nvPr/>
        </p:nvSpPr>
        <p:spPr>
          <a:xfrm>
            <a:off x="548640" y="457200"/>
            <a:ext cx="7315200" cy="274320"/>
          </a:xfrm>
          <a:prstGeom prst="rect">
            <a:avLst/>
          </a:prstGeom>
          <a:noFill/>
        </p:spPr>
        <p:txBody>
          <a:bodyPr wrap="square" lIns="0" rIns="0" tIns="0" bIns="0" anchor="t">
            <a:spAutoFit/>
          </a:bodyPr>
          <a:lstStyle/>
          <a:p>
            <a:pPr algn="l"/>
            <a:r>
              <a:rPr sz="1200" b="1" i="0" spc="300">
                <a:solidFill>
                  <a:srgbClr val="22D3EE"/>
                </a:solidFill>
                <a:latin typeface="Arial"/>
              </a:rPr>
              <a:t>TRUST BY DESIGN</a:t>
            </a:r>
          </a:p>
        </p:txBody>
      </p:sp>
      <p:sp>
        <p:nvSpPr>
          <p:cNvPr id="10" name="text_297"/>
          <p:cNvSpPr txBox="1"/>
          <p:nvPr/>
        </p:nvSpPr>
        <p:spPr>
          <a:xfrm>
            <a:off x="548640" y="749808"/>
            <a:ext cx="11064240" cy="685800"/>
          </a:xfrm>
          <a:prstGeom prst="rect">
            <a:avLst/>
          </a:prstGeom>
          <a:noFill/>
        </p:spPr>
        <p:txBody>
          <a:bodyPr wrap="square" lIns="0" rIns="0" tIns="0" bIns="0" anchor="t">
            <a:spAutoFit/>
          </a:bodyPr>
          <a:lstStyle/>
          <a:p>
            <a:pPr algn="l"/>
            <a:r>
              <a:rPr sz="3400" b="1" i="0">
                <a:solidFill>
                  <a:srgbClr val="FFFFFF"/>
                </a:solidFill>
                <a:latin typeface="Arial"/>
              </a:rPr>
              <a:t>Safety and trust are built into the company</a:t>
            </a:r>
          </a:p>
        </p:txBody>
      </p:sp>
      <p:grpSp>
        <p:nvGrpSpPr>
          <p:cNvPr id="11" name="group_298"/>
          <p:cNvGrpSpPr/>
          <p:nvPr/>
        </p:nvGrpSpPr>
        <p:grpSpPr>
          <a:xfrm>
            <a:off x="548640" y="1691640"/>
            <a:ext cx="5394960" cy="4297680"/>
            <a:chOff x="548640" y="1691640"/>
            <a:chExt cx="5394960" cy="4297680"/>
          </a:xfrm>
        </p:grpSpPr>
        <p:sp>
          <p:nvSpPr>
            <p:cNvPr id="12" name="shape_299"/>
            <p:cNvSpPr/>
            <p:nvPr/>
          </p:nvSpPr>
          <p:spPr>
            <a:xfrm>
              <a:off x="548640" y="1691640"/>
              <a:ext cx="5394960" cy="4297680"/>
            </a:xfrm>
            <a:prstGeom prst="roundRect">
              <a:avLst>
                <a:gd name="adj" fmla="val 2978"/>
              </a:avLst>
            </a:prstGeom>
            <a:solidFill>
              <a:srgbClr val="0B0D14">
                <a:alpha val="92000"/>
              </a:srgbClr>
            </a:solidFill>
            <a:ln w="12700">
              <a:solidFill>
                <a:srgbClr val="A78BFA">
                  <a:alpha val="35000"/>
                </a:srgbClr>
              </a:solidFill>
            </a:ln>
            <a:effectLst>
              <a:glow rad="228600">
                <a:srgbClr val="8B5CF6">
                  <a:alpha val="22000"/>
                </a:srgbClr>
              </a:glow>
            </a:effectLst>
          </p:spPr>
          <p:txBody>
            <a:bodyPr rtlCol="0" anchor="ctr"/>
            <a:lstStyle/>
            <a:p/>
          </p:txBody>
        </p:sp>
        <p:sp>
          <p:nvSpPr>
            <p:cNvPr id="13" name="shape_300"/>
            <p:cNvSpPr/>
            <p:nvPr/>
          </p:nvSpPr>
          <p:spPr>
            <a:xfrm>
              <a:off x="713232" y="1792224"/>
              <a:ext cx="91440" cy="91440"/>
            </a:xfrm>
            <a:prstGeom prst="ellipse">
              <a:avLst/>
            </a:prstGeom>
            <a:solidFill>
              <a:srgbClr val="F43F5E">
                <a:alpha val="90000"/>
              </a:srgbClr>
            </a:solidFill>
            <a:ln>
              <a:noFill/>
            </a:ln>
          </p:spPr>
          <p:txBody>
            <a:bodyPr rtlCol="0" anchor="ctr"/>
            <a:lstStyle/>
            <a:p/>
          </p:txBody>
        </p:sp>
        <p:sp>
          <p:nvSpPr>
            <p:cNvPr id="14" name="shape_301"/>
            <p:cNvSpPr/>
            <p:nvPr/>
          </p:nvSpPr>
          <p:spPr>
            <a:xfrm>
              <a:off x="868680" y="1792224"/>
              <a:ext cx="91440" cy="91440"/>
            </a:xfrm>
            <a:prstGeom prst="ellipse">
              <a:avLst/>
            </a:prstGeom>
            <a:solidFill>
              <a:srgbClr val="F59E0B">
                <a:alpha val="90000"/>
              </a:srgbClr>
            </a:solidFill>
            <a:ln>
              <a:noFill/>
            </a:ln>
          </p:spPr>
          <p:txBody>
            <a:bodyPr rtlCol="0" anchor="ctr"/>
            <a:lstStyle/>
            <a:p/>
          </p:txBody>
        </p:sp>
        <p:sp>
          <p:nvSpPr>
            <p:cNvPr id="15" name="shape_302"/>
            <p:cNvSpPr/>
            <p:nvPr/>
          </p:nvSpPr>
          <p:spPr>
            <a:xfrm>
              <a:off x="1024128" y="1792224"/>
              <a:ext cx="91440" cy="91440"/>
            </a:xfrm>
            <a:prstGeom prst="ellipse">
              <a:avLst/>
            </a:prstGeom>
            <a:solidFill>
              <a:srgbClr val="10B981">
                <a:alpha val="90000"/>
              </a:srgbClr>
            </a:solidFill>
            <a:ln>
              <a:noFill/>
            </a:ln>
          </p:spPr>
          <p:txBody>
            <a:bodyPr rtlCol="0" anchor="ctr"/>
            <a:lstStyle/>
            <a:p/>
          </p:txBody>
        </p:sp>
        <p:sp>
          <p:nvSpPr>
            <p:cNvPr id="16" name="shape_303"/>
            <p:cNvSpPr/>
            <p:nvPr/>
          </p:nvSpPr>
          <p:spPr>
            <a:xfrm>
              <a:off x="2057400" y="1755648"/>
              <a:ext cx="2377440" cy="164592"/>
            </a:xfrm>
            <a:prstGeom prst="roundRect">
              <a:avLst>
                <a:gd name="adj" fmla="val 50000"/>
              </a:avLst>
            </a:prstGeom>
            <a:solidFill>
              <a:srgbClr val="FFFFFF">
                <a:alpha val="6000"/>
              </a:srgbClr>
            </a:solidFill>
            <a:ln>
              <a:noFill/>
            </a:ln>
          </p:spPr>
          <p:txBody>
            <a:bodyPr rtlCol="0" anchor="ctr"/>
            <a:lstStyle/>
            <a:p/>
          </p:txBody>
        </p:sp>
        <p:sp>
          <p:nvSpPr>
            <p:cNvPr id="17" name="text_304"/>
            <p:cNvSpPr txBox="1"/>
            <p:nvPr/>
          </p:nvSpPr>
          <p:spPr>
            <a:xfrm>
              <a:off x="2057400" y="1755648"/>
              <a:ext cx="2377440" cy="164592"/>
            </a:xfrm>
            <a:prstGeom prst="rect">
              <a:avLst/>
            </a:prstGeom>
            <a:noFill/>
          </p:spPr>
          <p:txBody>
            <a:bodyPr wrap="square" lIns="0" rIns="0" tIns="0" bIns="0" anchor="ctr">
              <a:spAutoFit/>
            </a:bodyPr>
            <a:lstStyle/>
            <a:p>
              <a:pPr algn="ctr"/>
              <a:r>
                <a:rPr sz="800" b="0" i="0">
                  <a:solidFill>
                    <a:srgbClr val="8B90A0"/>
                  </a:solidFill>
                  <a:latin typeface="Arial"/>
                </a:rPr>
                <a:t>haven / audits / raidshield-pro</a:t>
              </a:r>
            </a:p>
          </p:txBody>
        </p:sp>
        <p:pic>
          <p:nvPicPr>
            <p:cNvPr id="18" name="shot_305" descr="audit.png"/>
            <p:cNvPicPr>
              <a:picLocks noChangeAspect="1"/>
            </p:cNvPicPr>
            <p:nvPr/>
          </p:nvPicPr>
          <p:blipFill>
            <a:blip r:embed="rId7"/>
            <a:srcRect r="16570"/>
            <a:stretch>
              <a:fillRect/>
            </a:stretch>
          </p:blipFill>
          <p:spPr>
            <a:xfrm>
              <a:off x="621792" y="1984248"/>
              <a:ext cx="5248656" cy="3931920"/>
            </a:xfrm>
            <a:prstGeom prst="rect">
              <a:avLst/>
            </a:prstGeom>
          </p:spPr>
        </p:pic>
      </p:grpSp>
      <p:grpSp>
        <p:nvGrpSpPr>
          <p:cNvPr id="19" name="group_306"/>
          <p:cNvGrpSpPr/>
          <p:nvPr/>
        </p:nvGrpSpPr>
        <p:grpSpPr>
          <a:xfrm>
            <a:off x="6263640" y="1691640"/>
            <a:ext cx="5376672" cy="749808"/>
            <a:chOff x="6263640" y="1691640"/>
            <a:chExt cx="5376672" cy="749808"/>
          </a:xfrm>
        </p:grpSpPr>
        <p:sp>
          <p:nvSpPr>
            <p:cNvPr id="20" name="shape_307"/>
            <p:cNvSpPr/>
            <p:nvPr/>
          </p:nvSpPr>
          <p:spPr>
            <a:xfrm>
              <a:off x="6263640" y="1691640"/>
              <a:ext cx="5376672" cy="749808"/>
            </a:xfrm>
            <a:prstGeom prst="roundRect">
              <a:avLst>
                <a:gd name="adj" fmla="val 19512"/>
              </a:avLst>
            </a:prstGeom>
            <a:solidFill>
              <a:srgbClr val="FFFFFF">
                <a:alpha val="5000"/>
              </a:srgbClr>
            </a:solidFill>
            <a:ln w="9525">
              <a:solidFill>
                <a:srgbClr val="FFFFFF">
                  <a:alpha val="10000"/>
                </a:srgbClr>
              </a:solidFill>
            </a:ln>
          </p:spPr>
          <p:txBody>
            <a:bodyPr rtlCol="0" anchor="ctr"/>
            <a:lstStyle/>
            <a:p/>
          </p:txBody>
        </p:sp>
        <p:sp>
          <p:nvSpPr>
            <p:cNvPr id="21" name="shape_308"/>
            <p:cNvSpPr/>
            <p:nvPr/>
          </p:nvSpPr>
          <p:spPr>
            <a:xfrm>
              <a:off x="6428232" y="1819656"/>
              <a:ext cx="493776" cy="493776"/>
            </a:xfrm>
            <a:prstGeom prst="ellipse">
              <a:avLst/>
            </a:prstGeom>
            <a:solidFill>
              <a:srgbClr val="10B981">
                <a:alpha val="18000"/>
              </a:srgbClr>
            </a:solidFill>
            <a:ln w="9525">
              <a:solidFill>
                <a:srgbClr val="10B981">
                  <a:alpha val="55000"/>
                </a:srgbClr>
              </a:solidFill>
            </a:ln>
          </p:spPr>
          <p:txBody>
            <a:bodyPr rtlCol="0" anchor="ctr"/>
            <a:lstStyle/>
            <a:p/>
          </p:txBody>
        </p:sp>
        <p:pic>
          <p:nvPicPr>
            <p:cNvPr id="22" name="pic_309" descr="icon_user.png"/>
            <p:cNvPicPr>
              <a:picLocks noChangeAspect="1"/>
            </p:cNvPicPr>
            <p:nvPr/>
          </p:nvPicPr>
          <p:blipFill>
            <a:blip r:embed="rId8"/>
            <a:stretch>
              <a:fillRect/>
            </a:stretch>
          </p:blipFill>
          <p:spPr>
            <a:xfrm>
              <a:off x="6551676" y="1943100"/>
              <a:ext cx="246888" cy="246888"/>
            </a:xfrm>
            <a:prstGeom prst="rect">
              <a:avLst/>
            </a:prstGeom>
          </p:spPr>
        </p:pic>
        <p:sp>
          <p:nvSpPr>
            <p:cNvPr id="23" name="text_310"/>
            <p:cNvSpPr txBox="1"/>
            <p:nvPr/>
          </p:nvSpPr>
          <p:spPr>
            <a:xfrm>
              <a:off x="7114032" y="1783080"/>
              <a:ext cx="4389120" cy="274320"/>
            </a:xfrm>
            <a:prstGeom prst="rect">
              <a:avLst/>
            </a:prstGeom>
            <a:noFill/>
          </p:spPr>
          <p:txBody>
            <a:bodyPr wrap="square" lIns="0" rIns="0" tIns="0" bIns="0" anchor="t">
              <a:spAutoFit/>
            </a:bodyPr>
            <a:lstStyle/>
            <a:p>
              <a:pPr algn="l"/>
              <a:r>
                <a:rPr sz="1500" b="1" i="0">
                  <a:solidFill>
                    <a:srgbClr val="FFFFFF"/>
                  </a:solidFill>
                  <a:latin typeface="Arial"/>
                </a:rPr>
                <a:t>Human in the loop</a:t>
              </a:r>
            </a:p>
          </p:txBody>
        </p:sp>
        <p:sp>
          <p:nvSpPr>
            <p:cNvPr id="24" name="text_311"/>
            <p:cNvSpPr txBox="1"/>
            <p:nvPr/>
          </p:nvSpPr>
          <p:spPr>
            <a:xfrm>
              <a:off x="7114032" y="2075688"/>
              <a:ext cx="4434840" cy="292608"/>
            </a:xfrm>
            <a:prstGeom prst="rect">
              <a:avLst/>
            </a:prstGeom>
            <a:noFill/>
          </p:spPr>
          <p:txBody>
            <a:bodyPr wrap="square" lIns="0" rIns="0" tIns="0" bIns="0" anchor="t">
              <a:spAutoFit/>
            </a:bodyPr>
            <a:lstStyle/>
            <a:p>
              <a:pPr algn="l"/>
              <a:r>
                <a:rPr sz="1200" b="0" i="0">
                  <a:solidFill>
                    <a:srgbClr val="8B90A0"/>
                  </a:solidFill>
                  <a:latin typeface="Arial"/>
                </a:rPr>
                <a:t>Bans need founder approval, granted in one click.</a:t>
              </a:r>
            </a:p>
          </p:txBody>
        </p:sp>
      </p:grpSp>
      <p:grpSp>
        <p:nvGrpSpPr>
          <p:cNvPr id="25" name="group_312"/>
          <p:cNvGrpSpPr/>
          <p:nvPr/>
        </p:nvGrpSpPr>
        <p:grpSpPr>
          <a:xfrm>
            <a:off x="6263640" y="2578608"/>
            <a:ext cx="5376672" cy="749808"/>
            <a:chOff x="6263640" y="2578608"/>
            <a:chExt cx="5376672" cy="749808"/>
          </a:xfrm>
        </p:grpSpPr>
        <p:sp>
          <p:nvSpPr>
            <p:cNvPr id="26" name="shape_313"/>
            <p:cNvSpPr/>
            <p:nvPr/>
          </p:nvSpPr>
          <p:spPr>
            <a:xfrm>
              <a:off x="6263640" y="2578608"/>
              <a:ext cx="5376672" cy="749808"/>
            </a:xfrm>
            <a:prstGeom prst="roundRect">
              <a:avLst>
                <a:gd name="adj" fmla="val 19512"/>
              </a:avLst>
            </a:prstGeom>
            <a:solidFill>
              <a:srgbClr val="FFFFFF">
                <a:alpha val="5000"/>
              </a:srgbClr>
            </a:solidFill>
            <a:ln w="9525">
              <a:solidFill>
                <a:srgbClr val="FFFFFF">
                  <a:alpha val="10000"/>
                </a:srgbClr>
              </a:solidFill>
            </a:ln>
          </p:spPr>
          <p:txBody>
            <a:bodyPr rtlCol="0" anchor="ctr"/>
            <a:lstStyle/>
            <a:p/>
          </p:txBody>
        </p:sp>
        <p:sp>
          <p:nvSpPr>
            <p:cNvPr id="27" name="shape_314"/>
            <p:cNvSpPr/>
            <p:nvPr/>
          </p:nvSpPr>
          <p:spPr>
            <a:xfrm>
              <a:off x="6428232" y="2706624"/>
              <a:ext cx="493776" cy="493776"/>
            </a:xfrm>
            <a:prstGeom prst="ellipse">
              <a:avLst/>
            </a:prstGeom>
            <a:solidFill>
              <a:srgbClr val="EC4899">
                <a:alpha val="18000"/>
              </a:srgbClr>
            </a:solidFill>
            <a:ln w="9525">
              <a:solidFill>
                <a:srgbClr val="EC4899">
                  <a:alpha val="55000"/>
                </a:srgbClr>
              </a:solidFill>
            </a:ln>
          </p:spPr>
          <p:txBody>
            <a:bodyPr rtlCol="0" anchor="ctr"/>
            <a:lstStyle/>
            <a:p/>
          </p:txBody>
        </p:sp>
        <p:pic>
          <p:nvPicPr>
            <p:cNvPr id="28" name="pic_315" descr="icon_lifebuoy.png"/>
            <p:cNvPicPr>
              <a:picLocks noChangeAspect="1"/>
            </p:cNvPicPr>
            <p:nvPr/>
          </p:nvPicPr>
          <p:blipFill>
            <a:blip r:embed="rId9"/>
            <a:stretch>
              <a:fillRect/>
            </a:stretch>
          </p:blipFill>
          <p:spPr>
            <a:xfrm>
              <a:off x="6551676" y="2830068"/>
              <a:ext cx="246888" cy="246888"/>
            </a:xfrm>
            <a:prstGeom prst="rect">
              <a:avLst/>
            </a:prstGeom>
          </p:spPr>
        </p:pic>
        <p:sp>
          <p:nvSpPr>
            <p:cNvPr id="29" name="text_316"/>
            <p:cNvSpPr txBox="1"/>
            <p:nvPr/>
          </p:nvSpPr>
          <p:spPr>
            <a:xfrm>
              <a:off x="7114032" y="2670048"/>
              <a:ext cx="4389120" cy="274320"/>
            </a:xfrm>
            <a:prstGeom prst="rect">
              <a:avLst/>
            </a:prstGeom>
            <a:noFill/>
          </p:spPr>
          <p:txBody>
            <a:bodyPr wrap="square" lIns="0" rIns="0" tIns="0" bIns="0" anchor="t">
              <a:spAutoFit/>
            </a:bodyPr>
            <a:lstStyle/>
            <a:p>
              <a:pPr algn="l"/>
              <a:r>
                <a:rPr sz="1500" b="1" i="0">
                  <a:solidFill>
                    <a:srgbClr val="FFFFFF"/>
                  </a:solidFill>
                  <a:latin typeface="Arial"/>
                </a:rPr>
                <a:t>Crisis protocol</a:t>
              </a:r>
            </a:p>
          </p:txBody>
        </p:sp>
        <p:sp>
          <p:nvSpPr>
            <p:cNvPr id="30" name="text_317"/>
            <p:cNvSpPr txBox="1"/>
            <p:nvPr/>
          </p:nvSpPr>
          <p:spPr>
            <a:xfrm>
              <a:off x="7114032" y="2962656"/>
              <a:ext cx="4434840" cy="292608"/>
            </a:xfrm>
            <a:prstGeom prst="rect">
              <a:avLst/>
            </a:prstGeom>
            <a:noFill/>
          </p:spPr>
          <p:txBody>
            <a:bodyPr wrap="square" lIns="0" rIns="0" tIns="0" bIns="0" anchor="t">
              <a:spAutoFit/>
            </a:bodyPr>
            <a:lstStyle/>
            <a:p>
              <a:pPr algn="l"/>
              <a:r>
                <a:rPr sz="1200" b="0" i="0">
                  <a:solidFill>
                    <a:srgbClr val="8B90A0"/>
                  </a:solidFill>
                  <a:latin typeface="Arial"/>
                </a:rPr>
                <a:t>Never auto-deleted; Mira replies and always pages a human.</a:t>
              </a:r>
            </a:p>
          </p:txBody>
        </p:sp>
      </p:grpSp>
      <p:grpSp>
        <p:nvGrpSpPr>
          <p:cNvPr id="31" name="group_318"/>
          <p:cNvGrpSpPr/>
          <p:nvPr/>
        </p:nvGrpSpPr>
        <p:grpSpPr>
          <a:xfrm>
            <a:off x="6263640" y="3465576"/>
            <a:ext cx="5376672" cy="749808"/>
            <a:chOff x="6263640" y="3465576"/>
            <a:chExt cx="5376672" cy="749808"/>
          </a:xfrm>
        </p:grpSpPr>
        <p:sp>
          <p:nvSpPr>
            <p:cNvPr id="32" name="shape_319"/>
            <p:cNvSpPr/>
            <p:nvPr/>
          </p:nvSpPr>
          <p:spPr>
            <a:xfrm>
              <a:off x="6263640" y="3465576"/>
              <a:ext cx="5376672" cy="749808"/>
            </a:xfrm>
            <a:prstGeom prst="roundRect">
              <a:avLst>
                <a:gd name="adj" fmla="val 19512"/>
              </a:avLst>
            </a:prstGeom>
            <a:solidFill>
              <a:srgbClr val="FFFFFF">
                <a:alpha val="5000"/>
              </a:srgbClr>
            </a:solidFill>
            <a:ln w="9525">
              <a:solidFill>
                <a:srgbClr val="FFFFFF">
                  <a:alpha val="10000"/>
                </a:srgbClr>
              </a:solidFill>
            </a:ln>
          </p:spPr>
          <p:txBody>
            <a:bodyPr rtlCol="0" anchor="ctr"/>
            <a:lstStyle/>
            <a:p/>
          </p:txBody>
        </p:sp>
        <p:sp>
          <p:nvSpPr>
            <p:cNvPr id="33" name="shape_320"/>
            <p:cNvSpPr/>
            <p:nvPr/>
          </p:nvSpPr>
          <p:spPr>
            <a:xfrm>
              <a:off x="6428232" y="3593592"/>
              <a:ext cx="493776" cy="493776"/>
            </a:xfrm>
            <a:prstGeom prst="ellipse">
              <a:avLst/>
            </a:prstGeom>
            <a:solidFill>
              <a:srgbClr val="22D3EE">
                <a:alpha val="18000"/>
              </a:srgbClr>
            </a:solidFill>
            <a:ln w="9525">
              <a:solidFill>
                <a:srgbClr val="22D3EE">
                  <a:alpha val="55000"/>
                </a:srgbClr>
              </a:solidFill>
            </a:ln>
          </p:spPr>
          <p:txBody>
            <a:bodyPr rtlCol="0" anchor="ctr"/>
            <a:lstStyle/>
            <a:p/>
          </p:txBody>
        </p:sp>
        <p:pic>
          <p:nvPicPr>
            <p:cNvPr id="34" name="pic_321" descr="icon_eye.png"/>
            <p:cNvPicPr>
              <a:picLocks noChangeAspect="1"/>
            </p:cNvPicPr>
            <p:nvPr/>
          </p:nvPicPr>
          <p:blipFill>
            <a:blip r:embed="rId10"/>
            <a:stretch>
              <a:fillRect/>
            </a:stretch>
          </p:blipFill>
          <p:spPr>
            <a:xfrm>
              <a:off x="6551676" y="3717036"/>
              <a:ext cx="246888" cy="246888"/>
            </a:xfrm>
            <a:prstGeom prst="rect">
              <a:avLst/>
            </a:prstGeom>
          </p:spPr>
        </p:pic>
        <p:sp>
          <p:nvSpPr>
            <p:cNvPr id="35" name="text_322"/>
            <p:cNvSpPr txBox="1"/>
            <p:nvPr/>
          </p:nvSpPr>
          <p:spPr>
            <a:xfrm>
              <a:off x="7114032" y="3557016"/>
              <a:ext cx="4389120" cy="274320"/>
            </a:xfrm>
            <a:prstGeom prst="rect">
              <a:avLst/>
            </a:prstGeom>
            <a:noFill/>
          </p:spPr>
          <p:txBody>
            <a:bodyPr wrap="square" lIns="0" rIns="0" tIns="0" bIns="0" anchor="t">
              <a:spAutoFit/>
            </a:bodyPr>
            <a:lstStyle/>
            <a:p>
              <a:pPr algn="l"/>
              <a:r>
                <a:rPr sz="1500" b="1" i="0">
                  <a:solidFill>
                    <a:srgbClr val="FFFFFF"/>
                  </a:solidFill>
                  <a:latin typeface="Arial"/>
                </a:rPr>
                <a:t>PII redaction</a:t>
              </a:r>
            </a:p>
          </p:txBody>
        </p:sp>
        <p:sp>
          <p:nvSpPr>
            <p:cNvPr id="36" name="text_323"/>
            <p:cNvSpPr txBox="1"/>
            <p:nvPr/>
          </p:nvSpPr>
          <p:spPr>
            <a:xfrm>
              <a:off x="7114032" y="3849624"/>
              <a:ext cx="4434840" cy="292608"/>
            </a:xfrm>
            <a:prstGeom prst="rect">
              <a:avLst/>
            </a:prstGeom>
            <a:noFill/>
          </p:spPr>
          <p:txBody>
            <a:bodyPr wrap="square" lIns="0" rIns="0" tIns="0" bIns="0" anchor="t">
              <a:spAutoFit/>
            </a:bodyPr>
            <a:lstStyle/>
            <a:p>
              <a:pPr algn="l"/>
              <a:r>
                <a:rPr sz="1200" b="0" i="0">
                  <a:solidFill>
                    <a:srgbClr val="8B90A0"/>
                  </a:solidFill>
                  <a:latin typeface="Arial"/>
                </a:rPr>
                <a:t>Personal data is stripped before any model call through Flatkey.</a:t>
              </a:r>
            </a:p>
          </p:txBody>
        </p:sp>
      </p:grpSp>
      <p:grpSp>
        <p:nvGrpSpPr>
          <p:cNvPr id="37" name="group_324"/>
          <p:cNvGrpSpPr/>
          <p:nvPr/>
        </p:nvGrpSpPr>
        <p:grpSpPr>
          <a:xfrm>
            <a:off x="6263640" y="4352544"/>
            <a:ext cx="5376672" cy="749808"/>
            <a:chOff x="6263640" y="4352544"/>
            <a:chExt cx="5376672" cy="749808"/>
          </a:xfrm>
        </p:grpSpPr>
        <p:sp>
          <p:nvSpPr>
            <p:cNvPr id="38" name="shape_325"/>
            <p:cNvSpPr/>
            <p:nvPr/>
          </p:nvSpPr>
          <p:spPr>
            <a:xfrm>
              <a:off x="6263640" y="4352544"/>
              <a:ext cx="5376672" cy="749808"/>
            </a:xfrm>
            <a:prstGeom prst="roundRect">
              <a:avLst>
                <a:gd name="adj" fmla="val 19512"/>
              </a:avLst>
            </a:prstGeom>
            <a:solidFill>
              <a:srgbClr val="FFFFFF">
                <a:alpha val="5000"/>
              </a:srgbClr>
            </a:solidFill>
            <a:ln w="9525">
              <a:solidFill>
                <a:srgbClr val="FFFFFF">
                  <a:alpha val="10000"/>
                </a:srgbClr>
              </a:solidFill>
            </a:ln>
          </p:spPr>
          <p:txBody>
            <a:bodyPr rtlCol="0" anchor="ctr"/>
            <a:lstStyle/>
            <a:p/>
          </p:txBody>
        </p:sp>
        <p:sp>
          <p:nvSpPr>
            <p:cNvPr id="39" name="shape_326"/>
            <p:cNvSpPr/>
            <p:nvPr/>
          </p:nvSpPr>
          <p:spPr>
            <a:xfrm>
              <a:off x="6428232" y="4480559"/>
              <a:ext cx="493776" cy="493776"/>
            </a:xfrm>
            <a:prstGeom prst="ellipse">
              <a:avLst/>
            </a:prstGeom>
            <a:solidFill>
              <a:srgbClr val="A78BFA">
                <a:alpha val="18000"/>
              </a:srgbClr>
            </a:solidFill>
            <a:ln w="9525">
              <a:solidFill>
                <a:srgbClr val="A78BFA">
                  <a:alpha val="55000"/>
                </a:srgbClr>
              </a:solidFill>
            </a:ln>
          </p:spPr>
          <p:txBody>
            <a:bodyPr rtlCol="0" anchor="ctr"/>
            <a:lstStyle/>
            <a:p/>
          </p:txBody>
        </p:sp>
        <p:pic>
          <p:nvPicPr>
            <p:cNvPr id="40" name="pic_327" descr="icon_doc.png"/>
            <p:cNvPicPr>
              <a:picLocks noChangeAspect="1"/>
            </p:cNvPicPr>
            <p:nvPr/>
          </p:nvPicPr>
          <p:blipFill>
            <a:blip r:embed="rId11"/>
            <a:stretch>
              <a:fillRect/>
            </a:stretch>
          </p:blipFill>
          <p:spPr>
            <a:xfrm>
              <a:off x="6551676" y="4604003"/>
              <a:ext cx="246888" cy="246888"/>
            </a:xfrm>
            <a:prstGeom prst="rect">
              <a:avLst/>
            </a:prstGeom>
          </p:spPr>
        </p:pic>
        <p:sp>
          <p:nvSpPr>
            <p:cNvPr id="41" name="text_328"/>
            <p:cNvSpPr txBox="1"/>
            <p:nvPr/>
          </p:nvSpPr>
          <p:spPr>
            <a:xfrm>
              <a:off x="7114032" y="4443983"/>
              <a:ext cx="4389120" cy="274320"/>
            </a:xfrm>
            <a:prstGeom prst="rect">
              <a:avLst/>
            </a:prstGeom>
            <a:noFill/>
          </p:spPr>
          <p:txBody>
            <a:bodyPr wrap="square" lIns="0" rIns="0" tIns="0" bIns="0" anchor="t">
              <a:spAutoFit/>
            </a:bodyPr>
            <a:lstStyle/>
            <a:p>
              <a:pPr algn="l"/>
              <a:r>
                <a:rPr sz="1500" b="1" i="0">
                  <a:solidFill>
                    <a:srgbClr val="FFFFFF"/>
                  </a:solidFill>
                  <a:latin typeface="Arial"/>
                </a:rPr>
                <a:t>Policy as specs</a:t>
              </a:r>
            </a:p>
          </p:txBody>
        </p:sp>
        <p:sp>
          <p:nvSpPr>
            <p:cNvPr id="42" name="text_329"/>
            <p:cNvSpPr txBox="1"/>
            <p:nvPr/>
          </p:nvSpPr>
          <p:spPr>
            <a:xfrm>
              <a:off x="7114032" y="4736592"/>
              <a:ext cx="4434840" cy="292608"/>
            </a:xfrm>
            <a:prstGeom prst="rect">
              <a:avLst/>
            </a:prstGeom>
            <a:noFill/>
          </p:spPr>
          <p:txBody>
            <a:bodyPr wrap="square" lIns="0" rIns="0" tIns="0" bIns="0" anchor="t">
              <a:spAutoFit/>
            </a:bodyPr>
            <a:lstStyle/>
            <a:p>
              <a:pPr algn="l"/>
              <a:r>
                <a:rPr sz="1200" b="0" i="0">
                  <a:solidFill>
                    <a:srgbClr val="8B90A0"/>
                  </a:solidFill>
                  <a:latin typeface="Arial"/>
                </a:rPr>
                <a:t>Trust &amp; safety and bot policies are specs checked by Prelint.</a:t>
              </a:r>
            </a:p>
          </p:txBody>
        </p:sp>
      </p:grpSp>
      <p:grpSp>
        <p:nvGrpSpPr>
          <p:cNvPr id="43" name="group_330"/>
          <p:cNvGrpSpPr/>
          <p:nvPr/>
        </p:nvGrpSpPr>
        <p:grpSpPr>
          <a:xfrm>
            <a:off x="6263640" y="5239512"/>
            <a:ext cx="5376672" cy="749808"/>
            <a:chOff x="6263640" y="5239512"/>
            <a:chExt cx="5376672" cy="749808"/>
          </a:xfrm>
        </p:grpSpPr>
        <p:sp>
          <p:nvSpPr>
            <p:cNvPr id="44" name="shape_331"/>
            <p:cNvSpPr/>
            <p:nvPr/>
          </p:nvSpPr>
          <p:spPr>
            <a:xfrm>
              <a:off x="6263640" y="5239512"/>
              <a:ext cx="5376672" cy="749808"/>
            </a:xfrm>
            <a:prstGeom prst="roundRect">
              <a:avLst>
                <a:gd name="adj" fmla="val 19512"/>
              </a:avLst>
            </a:prstGeom>
            <a:solidFill>
              <a:srgbClr val="FFFFFF">
                <a:alpha val="5000"/>
              </a:srgbClr>
            </a:solidFill>
            <a:ln w="9525">
              <a:solidFill>
                <a:srgbClr val="FFFFFF">
                  <a:alpha val="10000"/>
                </a:srgbClr>
              </a:solidFill>
            </a:ln>
          </p:spPr>
          <p:txBody>
            <a:bodyPr rtlCol="0" anchor="ctr"/>
            <a:lstStyle/>
            <a:p/>
          </p:txBody>
        </p:sp>
        <p:sp>
          <p:nvSpPr>
            <p:cNvPr id="45" name="shape_332"/>
            <p:cNvSpPr/>
            <p:nvPr/>
          </p:nvSpPr>
          <p:spPr>
            <a:xfrm>
              <a:off x="6428232" y="5367528"/>
              <a:ext cx="493776" cy="493776"/>
            </a:xfrm>
            <a:prstGeom prst="ellipse">
              <a:avLst/>
            </a:prstGeom>
            <a:solidFill>
              <a:srgbClr val="F59E0B">
                <a:alpha val="18000"/>
              </a:srgbClr>
            </a:solidFill>
            <a:ln w="9525">
              <a:solidFill>
                <a:srgbClr val="F59E0B">
                  <a:alpha val="55000"/>
                </a:srgbClr>
              </a:solidFill>
            </a:ln>
          </p:spPr>
          <p:txBody>
            <a:bodyPr rtlCol="0" anchor="ctr"/>
            <a:lstStyle/>
            <a:p/>
          </p:txBody>
        </p:sp>
        <p:pic>
          <p:nvPicPr>
            <p:cNvPr id="46" name="pic_333" descr="icon_lock.png"/>
            <p:cNvPicPr>
              <a:picLocks noChangeAspect="1"/>
            </p:cNvPicPr>
            <p:nvPr/>
          </p:nvPicPr>
          <p:blipFill>
            <a:blip r:embed="rId12"/>
            <a:stretch>
              <a:fillRect/>
            </a:stretch>
          </p:blipFill>
          <p:spPr>
            <a:xfrm>
              <a:off x="6551676" y="5490972"/>
              <a:ext cx="246888" cy="246888"/>
            </a:xfrm>
            <a:prstGeom prst="rect">
              <a:avLst/>
            </a:prstGeom>
          </p:spPr>
        </p:pic>
        <p:sp>
          <p:nvSpPr>
            <p:cNvPr id="47" name="text_334"/>
            <p:cNvSpPr txBox="1"/>
            <p:nvPr/>
          </p:nvSpPr>
          <p:spPr>
            <a:xfrm>
              <a:off x="7114032" y="5330952"/>
              <a:ext cx="4389120" cy="274320"/>
            </a:xfrm>
            <a:prstGeom prst="rect">
              <a:avLst/>
            </a:prstGeom>
            <a:noFill/>
          </p:spPr>
          <p:txBody>
            <a:bodyPr wrap="square" lIns="0" rIns="0" tIns="0" bIns="0" anchor="t">
              <a:spAutoFit/>
            </a:bodyPr>
            <a:lstStyle/>
            <a:p>
              <a:pPr algn="l"/>
              <a:r>
                <a:rPr sz="1500" b="1" i="0">
                  <a:solidFill>
                    <a:srgbClr val="FFFFFF"/>
                  </a:solidFill>
                  <a:latin typeface="Arial"/>
                </a:rPr>
                <a:t>Secure supply chain</a:t>
              </a:r>
            </a:p>
          </p:txBody>
        </p:sp>
        <p:sp>
          <p:nvSpPr>
            <p:cNvPr id="48" name="text_335"/>
            <p:cNvSpPr txBox="1"/>
            <p:nvPr/>
          </p:nvSpPr>
          <p:spPr>
            <a:xfrm>
              <a:off x="7114032" y="5623560"/>
              <a:ext cx="4434840" cy="292608"/>
            </a:xfrm>
            <a:prstGeom prst="rect">
              <a:avLst/>
            </a:prstGeom>
            <a:noFill/>
          </p:spPr>
          <p:txBody>
            <a:bodyPr wrap="square" lIns="0" rIns="0" tIns="0" bIns="0" anchor="t">
              <a:spAutoFit/>
            </a:bodyPr>
            <a:lstStyle/>
            <a:p>
              <a:pPr algn="l"/>
              <a:r>
                <a:rPr sz="1200" b="0" i="0">
                  <a:solidFill>
                    <a:srgbClr val="8B90A0"/>
                  </a:solidFill>
                  <a:latin typeface="Arial"/>
                </a:rPr>
                <a:t>Snyk-gated CI on Tenki runners; bots audited before install.</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600"/>
                                        <p:tgtEl>
                                          <p:spTgt spid="10"/>
                                        </p:tgtEl>
                                      </p:cBhvr>
                                    </p:animEffect>
                                    <p:anim calcmode="lin" valueType="num">
                                      <p:cBhvr additive="base">
                                        <p:cTn id="11" dur="600" fill="hold"/>
                                        <p:tgtEl>
                                          <p:spTgt spid="10"/>
                                        </p:tgtEl>
                                        <p:attrNameLst>
                                          <p:attrName>ppt_x</p:attrName>
                                        </p:attrNameLst>
                                      </p:cBhvr>
                                      <p:tavLst>
                                        <p:tav tm="0">
                                          <p:val>
                                            <p:strVal val="#ppt_x"/>
                                          </p:val>
                                        </p:tav>
                                        <p:tav tm="100000">
                                          <p:val>
                                            <p:strVal val="#ppt_x"/>
                                          </p:val>
                                        </p:tav>
                                      </p:tavLst>
                                    </p:anim>
                                    <p:anim calcmode="lin" valueType="num">
                                      <p:cBhvr additive="base">
                                        <p:cTn id="12" dur="600" fill="hold"/>
                                        <p:tgtEl>
                                          <p:spTgt spid="10"/>
                                        </p:tgtEl>
                                        <p:attrNameLst>
                                          <p:attrName>ppt_y</p:attrName>
                                        </p:attrNameLst>
                                      </p:cBhvr>
                                      <p:tavLst>
                                        <p:tav tm="0">
                                          <p:val>
                                            <p:strVal val="#ppt_y+.06"/>
                                          </p:val>
                                        </p:tav>
                                        <p:tav tm="100000">
                                          <p:val>
                                            <p:strVal val="#ppt_y"/>
                                          </p:val>
                                        </p:tav>
                                      </p:tavLst>
                                    </p:anim>
                                  </p:childTnLst>
                                </p:cTn>
                              </p:par>
                              <p:par>
                                <p:cTn id="13" presetID="53" presetClass="entr" presetSubtype="16" fill="hold" grpId="0" nodeType="withEffect">
                                  <p:stCondLst>
                                    <p:cond delay="40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800" fill="hold"/>
                                        <p:tgtEl>
                                          <p:spTgt spid="11"/>
                                        </p:tgtEl>
                                        <p:attrNameLst>
                                          <p:attrName>ppt_w</p:attrName>
                                        </p:attrNameLst>
                                      </p:cBhvr>
                                      <p:tavLst>
                                        <p:tav tm="0">
                                          <p:val>
                                            <p:strVal val="0"/>
                                          </p:val>
                                        </p:tav>
                                        <p:tav tm="100000">
                                          <p:val>
                                            <p:strVal val="#ppt_w"/>
                                          </p:val>
                                        </p:tav>
                                      </p:tavLst>
                                    </p:anim>
                                    <p:anim calcmode="lin" valueType="num">
                                      <p:cBhvr additive="base">
                                        <p:cTn id="16" dur="800" fill="hold"/>
                                        <p:tgtEl>
                                          <p:spTgt spid="11"/>
                                        </p:tgtEl>
                                        <p:attrNameLst>
                                          <p:attrName>ppt_h</p:attrName>
                                        </p:attrNameLst>
                                      </p:cBhvr>
                                      <p:tavLst>
                                        <p:tav tm="0">
                                          <p:val>
                                            <p:strVal val="0"/>
                                          </p:val>
                                        </p:tav>
                                        <p:tav tm="100000">
                                          <p:val>
                                            <p:strVal val="#ppt_h"/>
                                          </p:val>
                                        </p:tav>
                                      </p:tavLst>
                                    </p:anim>
                                    <p:animEffect transition="in" filter="fade">
                                      <p:cBhvr>
                                        <p:cTn id="17" dur="800"/>
                                        <p:tgtEl>
                                          <p:spTgt spid="11"/>
                                        </p:tgtEl>
                                      </p:cBhvr>
                                    </p:animEffect>
                                  </p:childTnLst>
                                </p:cTn>
                              </p:par>
                              <p:par>
                                <p:cTn id="18" presetID="47" presetClass="entr" presetSubtype="0" fill="hold" grpId="0" nodeType="withEffect">
                                  <p:stCondLst>
                                    <p:cond delay="70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600"/>
                                        <p:tgtEl>
                                          <p:spTgt spid="19"/>
                                        </p:tgtEl>
                                      </p:cBhvr>
                                    </p:animEffect>
                                    <p:anim calcmode="lin" valueType="num">
                                      <p:cBhvr additive="base">
                                        <p:cTn id="21" dur="600" fill="hold"/>
                                        <p:tgtEl>
                                          <p:spTgt spid="19"/>
                                        </p:tgtEl>
                                        <p:attrNameLst>
                                          <p:attrName>ppt_x</p:attrName>
                                        </p:attrNameLst>
                                      </p:cBhvr>
                                      <p:tavLst>
                                        <p:tav tm="0">
                                          <p:val>
                                            <p:strVal val="#ppt_x-.06"/>
                                          </p:val>
                                        </p:tav>
                                        <p:tav tm="100000">
                                          <p:val>
                                            <p:strVal val="#ppt_x"/>
                                          </p:val>
                                        </p:tav>
                                      </p:tavLst>
                                    </p:anim>
                                    <p:anim calcmode="lin" valueType="num">
                                      <p:cBhvr additive="base">
                                        <p:cTn id="22" dur="600" fill="hold"/>
                                        <p:tgtEl>
                                          <p:spTgt spid="19"/>
                                        </p:tgtEl>
                                        <p:attrNameLst>
                                          <p:attrName>ppt_y</p:attrName>
                                        </p:attrNameLst>
                                      </p:cBhvr>
                                      <p:tavLst>
                                        <p:tav tm="0">
                                          <p:val>
                                            <p:strVal val="#ppt_y"/>
                                          </p:val>
                                        </p:tav>
                                        <p:tav tm="100000">
                                          <p:val>
                                            <p:strVal val="#ppt_y"/>
                                          </p:val>
                                        </p:tav>
                                      </p:tavLst>
                                    </p:anim>
                                  </p:childTnLst>
                                </p:cTn>
                              </p:par>
                              <p:par>
                                <p:cTn id="23" presetID="47" presetClass="entr" presetSubtype="0" fill="hold" grpId="0" nodeType="withEffect">
                                  <p:stCondLst>
                                    <p:cond delay="88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600"/>
                                        <p:tgtEl>
                                          <p:spTgt spid="25"/>
                                        </p:tgtEl>
                                      </p:cBhvr>
                                    </p:animEffect>
                                    <p:anim calcmode="lin" valueType="num">
                                      <p:cBhvr additive="base">
                                        <p:cTn id="26" dur="600" fill="hold"/>
                                        <p:tgtEl>
                                          <p:spTgt spid="25"/>
                                        </p:tgtEl>
                                        <p:attrNameLst>
                                          <p:attrName>ppt_x</p:attrName>
                                        </p:attrNameLst>
                                      </p:cBhvr>
                                      <p:tavLst>
                                        <p:tav tm="0">
                                          <p:val>
                                            <p:strVal val="#ppt_x-.06"/>
                                          </p:val>
                                        </p:tav>
                                        <p:tav tm="100000">
                                          <p:val>
                                            <p:strVal val="#ppt_x"/>
                                          </p:val>
                                        </p:tav>
                                      </p:tavLst>
                                    </p:anim>
                                    <p:anim calcmode="lin" valueType="num">
                                      <p:cBhvr additive="base">
                                        <p:cTn id="27" dur="600" fill="hold"/>
                                        <p:tgtEl>
                                          <p:spTgt spid="25"/>
                                        </p:tgtEl>
                                        <p:attrNameLst>
                                          <p:attrName>ppt_y</p:attrName>
                                        </p:attrNameLst>
                                      </p:cBhvr>
                                      <p:tavLst>
                                        <p:tav tm="0">
                                          <p:val>
                                            <p:strVal val="#ppt_y"/>
                                          </p:val>
                                        </p:tav>
                                        <p:tav tm="100000">
                                          <p:val>
                                            <p:strVal val="#ppt_y"/>
                                          </p:val>
                                        </p:tav>
                                      </p:tavLst>
                                    </p:anim>
                                  </p:childTnLst>
                                </p:cTn>
                              </p:par>
                              <p:par>
                                <p:cTn id="28" presetID="47" presetClass="entr" presetSubtype="0" fill="hold" grpId="0" nodeType="withEffect">
                                  <p:stCondLst>
                                    <p:cond delay="106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600"/>
                                        <p:tgtEl>
                                          <p:spTgt spid="31"/>
                                        </p:tgtEl>
                                      </p:cBhvr>
                                    </p:animEffect>
                                    <p:anim calcmode="lin" valueType="num">
                                      <p:cBhvr additive="base">
                                        <p:cTn id="31" dur="600" fill="hold"/>
                                        <p:tgtEl>
                                          <p:spTgt spid="31"/>
                                        </p:tgtEl>
                                        <p:attrNameLst>
                                          <p:attrName>ppt_x</p:attrName>
                                        </p:attrNameLst>
                                      </p:cBhvr>
                                      <p:tavLst>
                                        <p:tav tm="0">
                                          <p:val>
                                            <p:strVal val="#ppt_x-.06"/>
                                          </p:val>
                                        </p:tav>
                                        <p:tav tm="100000">
                                          <p:val>
                                            <p:strVal val="#ppt_x"/>
                                          </p:val>
                                        </p:tav>
                                      </p:tavLst>
                                    </p:anim>
                                    <p:anim calcmode="lin" valueType="num">
                                      <p:cBhvr additive="base">
                                        <p:cTn id="32" dur="600" fill="hold"/>
                                        <p:tgtEl>
                                          <p:spTgt spid="31"/>
                                        </p:tgtEl>
                                        <p:attrNameLst>
                                          <p:attrName>ppt_y</p:attrName>
                                        </p:attrNameLst>
                                      </p:cBhvr>
                                      <p:tavLst>
                                        <p:tav tm="0">
                                          <p:val>
                                            <p:strVal val="#ppt_y"/>
                                          </p:val>
                                        </p:tav>
                                        <p:tav tm="100000">
                                          <p:val>
                                            <p:strVal val="#ppt_y"/>
                                          </p:val>
                                        </p:tav>
                                      </p:tavLst>
                                    </p:anim>
                                  </p:childTnLst>
                                </p:cTn>
                              </p:par>
                              <p:par>
                                <p:cTn id="33" presetID="47" presetClass="entr" presetSubtype="0" fill="hold" grpId="0" nodeType="withEffect">
                                  <p:stCondLst>
                                    <p:cond delay="124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600"/>
                                        <p:tgtEl>
                                          <p:spTgt spid="37"/>
                                        </p:tgtEl>
                                      </p:cBhvr>
                                    </p:animEffect>
                                    <p:anim calcmode="lin" valueType="num">
                                      <p:cBhvr additive="base">
                                        <p:cTn id="36" dur="600" fill="hold"/>
                                        <p:tgtEl>
                                          <p:spTgt spid="37"/>
                                        </p:tgtEl>
                                        <p:attrNameLst>
                                          <p:attrName>ppt_x</p:attrName>
                                        </p:attrNameLst>
                                      </p:cBhvr>
                                      <p:tavLst>
                                        <p:tav tm="0">
                                          <p:val>
                                            <p:strVal val="#ppt_x-.06"/>
                                          </p:val>
                                        </p:tav>
                                        <p:tav tm="100000">
                                          <p:val>
                                            <p:strVal val="#ppt_x"/>
                                          </p:val>
                                        </p:tav>
                                      </p:tavLst>
                                    </p:anim>
                                    <p:anim calcmode="lin" valueType="num">
                                      <p:cBhvr additive="base">
                                        <p:cTn id="37" dur="600" fill="hold"/>
                                        <p:tgtEl>
                                          <p:spTgt spid="37"/>
                                        </p:tgtEl>
                                        <p:attrNameLst>
                                          <p:attrName>ppt_y</p:attrName>
                                        </p:attrNameLst>
                                      </p:cBhvr>
                                      <p:tavLst>
                                        <p:tav tm="0">
                                          <p:val>
                                            <p:strVal val="#ppt_y"/>
                                          </p:val>
                                        </p:tav>
                                        <p:tav tm="100000">
                                          <p:val>
                                            <p:strVal val="#ppt_y"/>
                                          </p:val>
                                        </p:tav>
                                      </p:tavLst>
                                    </p:anim>
                                  </p:childTnLst>
                                </p:cTn>
                              </p:par>
                              <p:par>
                                <p:cTn id="38" presetID="47" presetClass="entr" presetSubtype="0" fill="hold" grpId="0" nodeType="withEffect">
                                  <p:stCondLst>
                                    <p:cond delay="1420"/>
                                  </p:stCondLst>
                                  <p:childTnLst>
                                    <p:set>
                                      <p:cBhvr>
                                        <p:cTn id="39" dur="1" fill="hold">
                                          <p:stCondLst>
                                            <p:cond delay="0"/>
                                          </p:stCondLst>
                                        </p:cTn>
                                        <p:tgtEl>
                                          <p:spTgt spid="43"/>
                                        </p:tgtEl>
                                        <p:attrNameLst>
                                          <p:attrName>style.visibility</p:attrName>
                                        </p:attrNameLst>
                                      </p:cBhvr>
                                      <p:to>
                                        <p:strVal val="visible"/>
                                      </p:to>
                                    </p:set>
                                    <p:animEffect transition="in" filter="fade">
                                      <p:cBhvr>
                                        <p:cTn id="40" dur="600"/>
                                        <p:tgtEl>
                                          <p:spTgt spid="43"/>
                                        </p:tgtEl>
                                      </p:cBhvr>
                                    </p:animEffect>
                                    <p:anim calcmode="lin" valueType="num">
                                      <p:cBhvr additive="base">
                                        <p:cTn id="41" dur="600" fill="hold"/>
                                        <p:tgtEl>
                                          <p:spTgt spid="43"/>
                                        </p:tgtEl>
                                        <p:attrNameLst>
                                          <p:attrName>ppt_x</p:attrName>
                                        </p:attrNameLst>
                                      </p:cBhvr>
                                      <p:tavLst>
                                        <p:tav tm="0">
                                          <p:val>
                                            <p:strVal val="#ppt_x-.06"/>
                                          </p:val>
                                        </p:tav>
                                        <p:tav tm="100000">
                                          <p:val>
                                            <p:strVal val="#ppt_x"/>
                                          </p:val>
                                        </p:tav>
                                      </p:tavLst>
                                    </p:anim>
                                    <p:anim calcmode="lin" valueType="num">
                                      <p:cBhvr additive="base">
                                        <p:cTn id="42" dur="600" fill="hold"/>
                                        <p:tgtEl>
                                          <p:spTgt spid="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060A"/>
        </a:solidFill>
        <a:effectLst/>
      </p:bgPr>
    </p:bg>
    <p:spTree>
      <p:nvGrpSpPr>
        <p:cNvPr id="1" name=""/>
        <p:cNvGrpSpPr/>
        <p:nvPr/>
      </p:nvGrpSpPr>
      <p:grpSpPr/>
      <p:pic>
        <p:nvPicPr>
          <p:cNvPr id="2" name="!!bg" descr="bg.png"/>
          <p:cNvPicPr>
            <a:picLocks noChangeAspect="1"/>
          </p:cNvPicPr>
          <p:nvPr/>
        </p:nvPicPr>
        <p:blipFill>
          <a:blip r:embed="rId2"/>
          <a:stretch>
            <a:fillRect/>
          </a:stretch>
        </p:blipFill>
        <p:spPr>
          <a:xfrm>
            <a:off x="0" y="0"/>
            <a:ext cx="12191695" cy="6858000"/>
          </a:xfrm>
          <a:prstGeom prst="rect">
            <a:avLst/>
          </a:prstGeom>
        </p:spPr>
      </p:pic>
      <p:pic>
        <p:nvPicPr>
          <p:cNvPr id="3" name="!!orb_violet" descr="orb_violet.png"/>
          <p:cNvPicPr>
            <a:picLocks noChangeAspect="1"/>
          </p:cNvPicPr>
          <p:nvPr/>
        </p:nvPicPr>
        <p:blipFill>
          <a:blip r:embed="rId3"/>
          <a:stretch>
            <a:fillRect/>
          </a:stretch>
        </p:blipFill>
        <p:spPr>
          <a:xfrm>
            <a:off x="3657600" y="-3657600"/>
            <a:ext cx="6400800" cy="6400800"/>
          </a:xfrm>
          <a:prstGeom prst="rect">
            <a:avLst/>
          </a:prstGeom>
        </p:spPr>
      </p:pic>
      <p:pic>
        <p:nvPicPr>
          <p:cNvPr id="4" name="!!orb_cyan" descr="orb_cyan.png"/>
          <p:cNvPicPr>
            <a:picLocks noChangeAspect="1"/>
          </p:cNvPicPr>
          <p:nvPr/>
        </p:nvPicPr>
        <p:blipFill>
          <a:blip r:embed="rId4"/>
          <a:stretch>
            <a:fillRect/>
          </a:stretch>
        </p:blipFill>
        <p:spPr>
          <a:xfrm>
            <a:off x="-3200400" y="2743200"/>
            <a:ext cx="6400800" cy="6400800"/>
          </a:xfrm>
          <a:prstGeom prst="rect">
            <a:avLst/>
          </a:prstGeom>
        </p:spPr>
      </p:pic>
      <p:pic>
        <p:nvPicPr>
          <p:cNvPr id="5" name="!!orb_rose" descr="orb_rose.png"/>
          <p:cNvPicPr>
            <a:picLocks noChangeAspect="1"/>
          </p:cNvPicPr>
          <p:nvPr/>
        </p:nvPicPr>
        <p:blipFill>
          <a:blip r:embed="rId5"/>
          <a:stretch>
            <a:fillRect/>
          </a:stretch>
        </p:blipFill>
        <p:spPr>
          <a:xfrm>
            <a:off x="9144000" y="3200400"/>
            <a:ext cx="4572000" cy="4572000"/>
          </a:xfrm>
          <a:prstGeom prst="rect">
            <a:avLst/>
          </a:prstGeom>
        </p:spPr>
      </p:pic>
      <p:pic>
        <p:nvPicPr>
          <p:cNvPr id="6" name="!!footlogo" descr="logo.png"/>
          <p:cNvPicPr>
            <a:picLocks noChangeAspect="1"/>
          </p:cNvPicPr>
          <p:nvPr/>
        </p:nvPicPr>
        <p:blipFill>
          <a:blip r:embed="rId6"/>
          <a:stretch>
            <a:fillRect/>
          </a:stretch>
        </p:blipFill>
        <p:spPr>
          <a:xfrm>
            <a:off x="548640" y="6327648"/>
            <a:ext cx="237744" cy="237744"/>
          </a:xfrm>
          <a:prstGeom prst="rect">
            <a:avLst/>
          </a:prstGeom>
        </p:spPr>
      </p:pic>
      <p:sp>
        <p:nvSpPr>
          <p:cNvPr id="7" name="!!footname"/>
          <p:cNvSpPr txBox="1"/>
          <p:nvPr/>
        </p:nvSpPr>
        <p:spPr>
          <a:xfrm>
            <a:off x="868680" y="6327648"/>
            <a:ext cx="2743200" cy="237744"/>
          </a:xfrm>
          <a:prstGeom prst="rect">
            <a:avLst/>
          </a:prstGeom>
          <a:noFill/>
        </p:spPr>
        <p:txBody>
          <a:bodyPr wrap="square" lIns="0" rIns="0" tIns="0" bIns="0" anchor="ctr">
            <a:spAutoFit/>
          </a:bodyPr>
          <a:lstStyle/>
          <a:p>
            <a:pPr algn="l"/>
            <a:r>
              <a:rPr sz="1100" b="1" i="0">
                <a:solidFill>
                  <a:srgbClr val="8B90A0"/>
                </a:solidFill>
                <a:latin typeface="Arial"/>
              </a:rPr>
              <a:t>Haven</a:t>
            </a:r>
          </a:p>
        </p:txBody>
      </p:sp>
      <p:sp>
        <p:nvSpPr>
          <p:cNvPr id="8" name="!!pageno"/>
          <p:cNvSpPr txBox="1"/>
          <p:nvPr/>
        </p:nvSpPr>
        <p:spPr>
          <a:xfrm>
            <a:off x="9814255" y="6327648"/>
            <a:ext cx="1828800" cy="237744"/>
          </a:xfrm>
          <a:prstGeom prst="rect">
            <a:avLst/>
          </a:prstGeom>
          <a:noFill/>
        </p:spPr>
        <p:txBody>
          <a:bodyPr wrap="square" lIns="0" rIns="0" tIns="0" bIns="0" anchor="ctr">
            <a:spAutoFit/>
          </a:bodyPr>
          <a:lstStyle/>
          <a:p>
            <a:pPr algn="r"/>
            <a:r>
              <a:rPr sz="1100" b="0" i="0">
                <a:solidFill>
                  <a:srgbClr val="8B90A0"/>
                </a:solidFill>
                <a:latin typeface="Arial"/>
              </a:rPr>
              <a:t>08 / 10</a:t>
            </a:r>
          </a:p>
        </p:txBody>
      </p:sp>
      <p:sp>
        <p:nvSpPr>
          <p:cNvPr id="9" name="text_336"/>
          <p:cNvSpPr txBox="1"/>
          <p:nvPr/>
        </p:nvSpPr>
        <p:spPr>
          <a:xfrm>
            <a:off x="548640" y="457200"/>
            <a:ext cx="7315200" cy="274320"/>
          </a:xfrm>
          <a:prstGeom prst="rect">
            <a:avLst/>
          </a:prstGeom>
          <a:noFill/>
        </p:spPr>
        <p:txBody>
          <a:bodyPr wrap="square" lIns="0" rIns="0" tIns="0" bIns="0" anchor="t">
            <a:spAutoFit/>
          </a:bodyPr>
          <a:lstStyle/>
          <a:p>
            <a:pPr algn="l"/>
            <a:r>
              <a:rPr sz="1200" b="1" i="0" spc="300">
                <a:solidFill>
                  <a:srgbClr val="22D3EE"/>
                </a:solidFill>
                <a:latin typeface="Arial"/>
              </a:rPr>
              <a:t>SPONSOR STACK</a:t>
            </a:r>
          </a:p>
        </p:txBody>
      </p:sp>
      <p:sp>
        <p:nvSpPr>
          <p:cNvPr id="10" name="text_337"/>
          <p:cNvSpPr txBox="1"/>
          <p:nvPr/>
        </p:nvSpPr>
        <p:spPr>
          <a:xfrm>
            <a:off x="548640" y="749808"/>
            <a:ext cx="11064240" cy="685800"/>
          </a:xfrm>
          <a:prstGeom prst="rect">
            <a:avLst/>
          </a:prstGeom>
          <a:noFill/>
        </p:spPr>
        <p:txBody>
          <a:bodyPr wrap="square" lIns="0" rIns="0" tIns="0" bIns="0" anchor="t">
            <a:spAutoFit/>
          </a:bodyPr>
          <a:lstStyle/>
          <a:p>
            <a:pPr algn="l"/>
            <a:r>
              <a:rPr sz="3400" b="1" i="0">
                <a:solidFill>
                  <a:srgbClr val="FFFFFF"/>
                </a:solidFill>
                <a:latin typeface="Arial"/>
              </a:rPr>
              <a:t>14 sponsor tools, one AI-native company</a:t>
            </a:r>
          </a:p>
        </p:txBody>
      </p:sp>
      <p:grpSp>
        <p:nvGrpSpPr>
          <p:cNvPr id="11" name="group_338"/>
          <p:cNvGrpSpPr/>
          <p:nvPr/>
        </p:nvGrpSpPr>
        <p:grpSpPr>
          <a:xfrm>
            <a:off x="548640" y="1691640"/>
            <a:ext cx="2072030" cy="1325880"/>
            <a:chOff x="548640" y="1691640"/>
            <a:chExt cx="2072030" cy="1325880"/>
          </a:xfrm>
        </p:grpSpPr>
        <p:sp>
          <p:nvSpPr>
            <p:cNvPr id="12" name="shape_339"/>
            <p:cNvSpPr/>
            <p:nvPr/>
          </p:nvSpPr>
          <p:spPr>
            <a:xfrm>
              <a:off x="548640" y="1691640"/>
              <a:ext cx="2072030" cy="1325880"/>
            </a:xfrm>
            <a:prstGeom prst="roundRect">
              <a:avLst>
                <a:gd name="adj" fmla="val 11034"/>
              </a:avLst>
            </a:prstGeom>
            <a:solidFill>
              <a:srgbClr val="FFFFFF">
                <a:alpha val="5000"/>
              </a:srgbClr>
            </a:solidFill>
            <a:ln w="9525">
              <a:solidFill>
                <a:srgbClr val="FFFFFF">
                  <a:alpha val="10000"/>
                </a:srgbClr>
              </a:solidFill>
            </a:ln>
          </p:spPr>
          <p:txBody>
            <a:bodyPr rtlCol="0" anchor="ctr"/>
            <a:lstStyle/>
            <a:p/>
          </p:txBody>
        </p:sp>
        <p:sp>
          <p:nvSpPr>
            <p:cNvPr id="13" name="shape_340"/>
            <p:cNvSpPr/>
            <p:nvPr/>
          </p:nvSpPr>
          <p:spPr>
            <a:xfrm>
              <a:off x="749808" y="1947672"/>
              <a:ext cx="128016" cy="128016"/>
            </a:xfrm>
            <a:prstGeom prst="ellipse">
              <a:avLst/>
            </a:prstGeom>
            <a:solidFill>
              <a:srgbClr val="A78BFA"/>
            </a:solidFill>
            <a:ln>
              <a:noFill/>
            </a:ln>
            <a:effectLst>
              <a:glow rad="76200">
                <a:srgbClr val="A78BFA">
                  <a:alpha val="50000"/>
                </a:srgbClr>
              </a:glow>
            </a:effectLst>
          </p:spPr>
          <p:txBody>
            <a:bodyPr rtlCol="0" anchor="ctr"/>
            <a:lstStyle/>
            <a:p/>
          </p:txBody>
        </p:sp>
        <p:sp>
          <p:nvSpPr>
            <p:cNvPr id="14" name="text_341"/>
            <p:cNvSpPr txBox="1"/>
            <p:nvPr/>
          </p:nvSpPr>
          <p:spPr>
            <a:xfrm>
              <a:off x="987552" y="1856232"/>
              <a:ext cx="1523390" cy="310896"/>
            </a:xfrm>
            <a:prstGeom prst="rect">
              <a:avLst/>
            </a:prstGeom>
            <a:noFill/>
          </p:spPr>
          <p:txBody>
            <a:bodyPr wrap="square" lIns="0" rIns="0" tIns="0" bIns="0" anchor="ctr">
              <a:spAutoFit/>
            </a:bodyPr>
            <a:lstStyle/>
            <a:p>
              <a:pPr algn="l"/>
              <a:r>
                <a:rPr sz="1600" b="1" i="0">
                  <a:solidFill>
                    <a:srgbClr val="FFFFFF"/>
                  </a:solidFill>
                  <a:latin typeface="Arial"/>
                </a:rPr>
                <a:t>Kylon</a:t>
              </a:r>
            </a:p>
          </p:txBody>
        </p:sp>
        <p:sp>
          <p:nvSpPr>
            <p:cNvPr id="15" name="text_342"/>
            <p:cNvSpPr txBox="1"/>
            <p:nvPr/>
          </p:nvSpPr>
          <p:spPr>
            <a:xfrm>
              <a:off x="749808" y="2258568"/>
              <a:ext cx="1706270" cy="685800"/>
            </a:xfrm>
            <a:prstGeom prst="rect">
              <a:avLst/>
            </a:prstGeom>
            <a:noFill/>
          </p:spPr>
          <p:txBody>
            <a:bodyPr wrap="square" lIns="0" rIns="0" tIns="0" bIns="0" anchor="t">
              <a:spAutoFit/>
            </a:bodyPr>
            <a:lstStyle/>
            <a:p>
              <a:pPr algn="l"/>
              <a:r>
                <a:rPr sz="1200" b="0" i="0">
                  <a:solidFill>
                    <a:srgbClr val="8B90A0"/>
                  </a:solidFill>
                  <a:latin typeface="Arial"/>
                </a:rPr>
                <a:t>Workforce manifest for the 8 AI employees</a:t>
              </a:r>
            </a:p>
          </p:txBody>
        </p:sp>
      </p:grpSp>
      <p:grpSp>
        <p:nvGrpSpPr>
          <p:cNvPr id="16" name="group_343"/>
          <p:cNvGrpSpPr/>
          <p:nvPr/>
        </p:nvGrpSpPr>
        <p:grpSpPr>
          <a:xfrm>
            <a:off x="2803550" y="1691640"/>
            <a:ext cx="2072030" cy="1325880"/>
            <a:chOff x="2803550" y="1691640"/>
            <a:chExt cx="2072030" cy="1325880"/>
          </a:xfrm>
        </p:grpSpPr>
        <p:sp>
          <p:nvSpPr>
            <p:cNvPr id="17" name="shape_344"/>
            <p:cNvSpPr/>
            <p:nvPr/>
          </p:nvSpPr>
          <p:spPr>
            <a:xfrm>
              <a:off x="2803550" y="1691640"/>
              <a:ext cx="2072030" cy="1325880"/>
            </a:xfrm>
            <a:prstGeom prst="roundRect">
              <a:avLst>
                <a:gd name="adj" fmla="val 11034"/>
              </a:avLst>
            </a:prstGeom>
            <a:solidFill>
              <a:srgbClr val="FFFFFF">
                <a:alpha val="5000"/>
              </a:srgbClr>
            </a:solidFill>
            <a:ln w="9525">
              <a:solidFill>
                <a:srgbClr val="FFFFFF">
                  <a:alpha val="10000"/>
                </a:srgbClr>
              </a:solidFill>
            </a:ln>
          </p:spPr>
          <p:txBody>
            <a:bodyPr rtlCol="0" anchor="ctr"/>
            <a:lstStyle/>
            <a:p/>
          </p:txBody>
        </p:sp>
        <p:sp>
          <p:nvSpPr>
            <p:cNvPr id="18" name="shape_345"/>
            <p:cNvSpPr/>
            <p:nvPr/>
          </p:nvSpPr>
          <p:spPr>
            <a:xfrm>
              <a:off x="3004718" y="1947672"/>
              <a:ext cx="128016" cy="128016"/>
            </a:xfrm>
            <a:prstGeom prst="ellipse">
              <a:avLst/>
            </a:prstGeom>
            <a:solidFill>
              <a:srgbClr val="EC4899"/>
            </a:solidFill>
            <a:ln>
              <a:noFill/>
            </a:ln>
            <a:effectLst>
              <a:glow rad="76200">
                <a:srgbClr val="EC4899">
                  <a:alpha val="50000"/>
                </a:srgbClr>
              </a:glow>
            </a:effectLst>
          </p:spPr>
          <p:txBody>
            <a:bodyPr rtlCol="0" anchor="ctr"/>
            <a:lstStyle/>
            <a:p/>
          </p:txBody>
        </p:sp>
        <p:sp>
          <p:nvSpPr>
            <p:cNvPr id="19" name="text_346"/>
            <p:cNvSpPr txBox="1"/>
            <p:nvPr/>
          </p:nvSpPr>
          <p:spPr>
            <a:xfrm>
              <a:off x="3242462" y="1856232"/>
              <a:ext cx="1523390" cy="310896"/>
            </a:xfrm>
            <a:prstGeom prst="rect">
              <a:avLst/>
            </a:prstGeom>
            <a:noFill/>
          </p:spPr>
          <p:txBody>
            <a:bodyPr wrap="square" lIns="0" rIns="0" tIns="0" bIns="0" anchor="ctr">
              <a:spAutoFit/>
            </a:bodyPr>
            <a:lstStyle/>
            <a:p>
              <a:pPr algn="l"/>
              <a:r>
                <a:rPr sz="1600" b="1" i="0">
                  <a:solidFill>
                    <a:srgbClr val="FFFFFF"/>
                  </a:solidFill>
                  <a:latin typeface="Arial"/>
                </a:rPr>
                <a:t>Masky.AI</a:t>
              </a:r>
            </a:p>
          </p:txBody>
        </p:sp>
        <p:sp>
          <p:nvSpPr>
            <p:cNvPr id="20" name="text_347"/>
            <p:cNvSpPr txBox="1"/>
            <p:nvPr/>
          </p:nvSpPr>
          <p:spPr>
            <a:xfrm>
              <a:off x="3004718" y="2258568"/>
              <a:ext cx="1706270" cy="685800"/>
            </a:xfrm>
            <a:prstGeom prst="rect">
              <a:avLst/>
            </a:prstGeom>
            <a:noFill/>
          </p:spPr>
          <p:txBody>
            <a:bodyPr wrap="square" lIns="0" rIns="0" tIns="0" bIns="0" anchor="t">
              <a:spAutoFit/>
            </a:bodyPr>
            <a:lstStyle/>
            <a:p>
              <a:pPr algn="l"/>
              <a:r>
                <a:rPr sz="1200" b="0" i="0">
                  <a:solidFill>
                    <a:srgbClr val="8B90A0"/>
                  </a:solidFill>
                  <a:latin typeface="Arial"/>
                </a:rPr>
                <a:t>Real faces and voices for Mira, Rex and Aria (+Maskord)</a:t>
              </a:r>
            </a:p>
          </p:txBody>
        </p:sp>
      </p:grpSp>
      <p:grpSp>
        <p:nvGrpSpPr>
          <p:cNvPr id="21" name="group_348"/>
          <p:cNvGrpSpPr/>
          <p:nvPr/>
        </p:nvGrpSpPr>
        <p:grpSpPr>
          <a:xfrm>
            <a:off x="5058460" y="1691640"/>
            <a:ext cx="2072030" cy="1325880"/>
            <a:chOff x="5058460" y="1691640"/>
            <a:chExt cx="2072030" cy="1325880"/>
          </a:xfrm>
        </p:grpSpPr>
        <p:sp>
          <p:nvSpPr>
            <p:cNvPr id="22" name="shape_349"/>
            <p:cNvSpPr/>
            <p:nvPr/>
          </p:nvSpPr>
          <p:spPr>
            <a:xfrm>
              <a:off x="5058460" y="1691640"/>
              <a:ext cx="2072030" cy="1325880"/>
            </a:xfrm>
            <a:prstGeom prst="roundRect">
              <a:avLst>
                <a:gd name="adj" fmla="val 11034"/>
              </a:avLst>
            </a:prstGeom>
            <a:solidFill>
              <a:srgbClr val="FFFFFF">
                <a:alpha val="5000"/>
              </a:srgbClr>
            </a:solidFill>
            <a:ln w="9525">
              <a:solidFill>
                <a:srgbClr val="FFFFFF">
                  <a:alpha val="10000"/>
                </a:srgbClr>
              </a:solidFill>
            </a:ln>
          </p:spPr>
          <p:txBody>
            <a:bodyPr rtlCol="0" anchor="ctr"/>
            <a:lstStyle/>
            <a:p/>
          </p:txBody>
        </p:sp>
        <p:sp>
          <p:nvSpPr>
            <p:cNvPr id="23" name="shape_350"/>
            <p:cNvSpPr/>
            <p:nvPr/>
          </p:nvSpPr>
          <p:spPr>
            <a:xfrm>
              <a:off x="5259628" y="1947672"/>
              <a:ext cx="128016" cy="128016"/>
            </a:xfrm>
            <a:prstGeom prst="ellipse">
              <a:avLst/>
            </a:prstGeom>
            <a:solidFill>
              <a:srgbClr val="A78BFA"/>
            </a:solidFill>
            <a:ln>
              <a:noFill/>
            </a:ln>
            <a:effectLst>
              <a:glow rad="76200">
                <a:srgbClr val="A78BFA">
                  <a:alpha val="50000"/>
                </a:srgbClr>
              </a:glow>
            </a:effectLst>
          </p:spPr>
          <p:txBody>
            <a:bodyPr rtlCol="0" anchor="ctr"/>
            <a:lstStyle/>
            <a:p/>
          </p:txBody>
        </p:sp>
        <p:sp>
          <p:nvSpPr>
            <p:cNvPr id="24" name="text_351"/>
            <p:cNvSpPr txBox="1"/>
            <p:nvPr/>
          </p:nvSpPr>
          <p:spPr>
            <a:xfrm>
              <a:off x="5497372" y="1856232"/>
              <a:ext cx="1523390" cy="310896"/>
            </a:xfrm>
            <a:prstGeom prst="rect">
              <a:avLst/>
            </a:prstGeom>
            <a:noFill/>
          </p:spPr>
          <p:txBody>
            <a:bodyPr wrap="square" lIns="0" rIns="0" tIns="0" bIns="0" anchor="ctr">
              <a:spAutoFit/>
            </a:bodyPr>
            <a:lstStyle/>
            <a:p>
              <a:pPr algn="l"/>
              <a:r>
                <a:rPr sz="1600" b="1" i="0">
                  <a:solidFill>
                    <a:srgbClr val="FFFFFF"/>
                  </a:solidFill>
                  <a:latin typeface="Arial"/>
                </a:rPr>
                <a:t>BAND</a:t>
              </a:r>
            </a:p>
          </p:txBody>
        </p:sp>
        <p:sp>
          <p:nvSpPr>
            <p:cNvPr id="25" name="text_352"/>
            <p:cNvSpPr txBox="1"/>
            <p:nvPr/>
          </p:nvSpPr>
          <p:spPr>
            <a:xfrm>
              <a:off x="5259628" y="2258568"/>
              <a:ext cx="1706270" cy="685800"/>
            </a:xfrm>
            <a:prstGeom prst="rect">
              <a:avLst/>
            </a:prstGeom>
            <a:noFill/>
          </p:spPr>
          <p:txBody>
            <a:bodyPr wrap="square" lIns="0" rIns="0" tIns="0" bIns="0" anchor="t">
              <a:spAutoFit/>
            </a:bodyPr>
            <a:lstStyle/>
            <a:p>
              <a:pPr algn="l"/>
              <a:r>
                <a:rPr sz="1200" b="0" i="0">
                  <a:solidFill>
                    <a:srgbClr val="8B90A0"/>
                  </a:solidFill>
                  <a:latin typeface="Arial"/>
                </a:rPr>
                <a:t>Agent-to-agent message bus; Aria routes over it</a:t>
              </a:r>
            </a:p>
          </p:txBody>
        </p:sp>
      </p:grpSp>
      <p:grpSp>
        <p:nvGrpSpPr>
          <p:cNvPr id="26" name="group_353"/>
          <p:cNvGrpSpPr/>
          <p:nvPr/>
        </p:nvGrpSpPr>
        <p:grpSpPr>
          <a:xfrm>
            <a:off x="7313371" y="1691640"/>
            <a:ext cx="2072030" cy="1325880"/>
            <a:chOff x="7313371" y="1691640"/>
            <a:chExt cx="2072030" cy="1325880"/>
          </a:xfrm>
        </p:grpSpPr>
        <p:sp>
          <p:nvSpPr>
            <p:cNvPr id="27" name="shape_354"/>
            <p:cNvSpPr/>
            <p:nvPr/>
          </p:nvSpPr>
          <p:spPr>
            <a:xfrm>
              <a:off x="7313371" y="1691640"/>
              <a:ext cx="2072030" cy="1325880"/>
            </a:xfrm>
            <a:prstGeom prst="roundRect">
              <a:avLst>
                <a:gd name="adj" fmla="val 11034"/>
              </a:avLst>
            </a:prstGeom>
            <a:solidFill>
              <a:srgbClr val="FFFFFF">
                <a:alpha val="5000"/>
              </a:srgbClr>
            </a:solidFill>
            <a:ln w="9525">
              <a:solidFill>
                <a:srgbClr val="FFFFFF">
                  <a:alpha val="10000"/>
                </a:srgbClr>
              </a:solidFill>
            </a:ln>
          </p:spPr>
          <p:txBody>
            <a:bodyPr rtlCol="0" anchor="ctr"/>
            <a:lstStyle/>
            <a:p/>
          </p:txBody>
        </p:sp>
        <p:sp>
          <p:nvSpPr>
            <p:cNvPr id="28" name="shape_355"/>
            <p:cNvSpPr/>
            <p:nvPr/>
          </p:nvSpPr>
          <p:spPr>
            <a:xfrm>
              <a:off x="7514539" y="1947672"/>
              <a:ext cx="128016" cy="128016"/>
            </a:xfrm>
            <a:prstGeom prst="ellipse">
              <a:avLst/>
            </a:prstGeom>
            <a:solidFill>
              <a:srgbClr val="F59E0B"/>
            </a:solidFill>
            <a:ln>
              <a:noFill/>
            </a:ln>
            <a:effectLst>
              <a:glow rad="76200">
                <a:srgbClr val="F59E0B">
                  <a:alpha val="50000"/>
                </a:srgbClr>
              </a:glow>
            </a:effectLst>
          </p:spPr>
          <p:txBody>
            <a:bodyPr rtlCol="0" anchor="ctr"/>
            <a:lstStyle/>
            <a:p/>
          </p:txBody>
        </p:sp>
        <p:sp>
          <p:nvSpPr>
            <p:cNvPr id="29" name="text_356"/>
            <p:cNvSpPr txBox="1"/>
            <p:nvPr/>
          </p:nvSpPr>
          <p:spPr>
            <a:xfrm>
              <a:off x="7752283" y="1856232"/>
              <a:ext cx="1523390" cy="310896"/>
            </a:xfrm>
            <a:prstGeom prst="rect">
              <a:avLst/>
            </a:prstGeom>
            <a:noFill/>
          </p:spPr>
          <p:txBody>
            <a:bodyPr wrap="square" lIns="0" rIns="0" tIns="0" bIns="0" anchor="ctr">
              <a:spAutoFit/>
            </a:bodyPr>
            <a:lstStyle/>
            <a:p>
              <a:pPr algn="l"/>
              <a:r>
                <a:rPr sz="1600" b="1" i="0">
                  <a:solidFill>
                    <a:srgbClr val="FFFFFF"/>
                  </a:solidFill>
                  <a:latin typeface="Arial"/>
                </a:rPr>
                <a:t>n8n</a:t>
              </a:r>
            </a:p>
          </p:txBody>
        </p:sp>
        <p:sp>
          <p:nvSpPr>
            <p:cNvPr id="30" name="text_357"/>
            <p:cNvSpPr txBox="1"/>
            <p:nvPr/>
          </p:nvSpPr>
          <p:spPr>
            <a:xfrm>
              <a:off x="7514539" y="2258568"/>
              <a:ext cx="1706270" cy="685800"/>
            </a:xfrm>
            <a:prstGeom prst="rect">
              <a:avLst/>
            </a:prstGeom>
            <a:noFill/>
          </p:spPr>
          <p:txBody>
            <a:bodyPr wrap="square" lIns="0" rIns="0" tIns="0" bIns="0" anchor="t">
              <a:spAutoFit/>
            </a:bodyPr>
            <a:lstStyle/>
            <a:p>
              <a:pPr algn="l"/>
              <a:r>
                <a:rPr sz="1200" b="0" i="0">
                  <a:solidFill>
                    <a:srgbClr val="8B90A0"/>
                  </a:solidFill>
                  <a:latin typeface="Arial"/>
                </a:rPr>
                <a:t>Onboarding, human paging, enforcement logs, reports</a:t>
              </a:r>
            </a:p>
          </p:txBody>
        </p:sp>
      </p:grpSp>
      <p:grpSp>
        <p:nvGrpSpPr>
          <p:cNvPr id="31" name="group_358"/>
          <p:cNvGrpSpPr/>
          <p:nvPr/>
        </p:nvGrpSpPr>
        <p:grpSpPr>
          <a:xfrm>
            <a:off x="9568281" y="1691640"/>
            <a:ext cx="2072030" cy="1325880"/>
            <a:chOff x="9568281" y="1691640"/>
            <a:chExt cx="2072030" cy="1325880"/>
          </a:xfrm>
        </p:grpSpPr>
        <p:sp>
          <p:nvSpPr>
            <p:cNvPr id="32" name="shape_359"/>
            <p:cNvSpPr/>
            <p:nvPr/>
          </p:nvSpPr>
          <p:spPr>
            <a:xfrm>
              <a:off x="9568281" y="1691640"/>
              <a:ext cx="2072030" cy="1325880"/>
            </a:xfrm>
            <a:prstGeom prst="roundRect">
              <a:avLst>
                <a:gd name="adj" fmla="val 11034"/>
              </a:avLst>
            </a:prstGeom>
            <a:solidFill>
              <a:srgbClr val="FFFFFF">
                <a:alpha val="5000"/>
              </a:srgbClr>
            </a:solidFill>
            <a:ln w="9525">
              <a:solidFill>
                <a:srgbClr val="FFFFFF">
                  <a:alpha val="10000"/>
                </a:srgbClr>
              </a:solidFill>
            </a:ln>
          </p:spPr>
          <p:txBody>
            <a:bodyPr rtlCol="0" anchor="ctr"/>
            <a:lstStyle/>
            <a:p/>
          </p:txBody>
        </p:sp>
        <p:sp>
          <p:nvSpPr>
            <p:cNvPr id="33" name="shape_360"/>
            <p:cNvSpPr/>
            <p:nvPr/>
          </p:nvSpPr>
          <p:spPr>
            <a:xfrm>
              <a:off x="9769449" y="1947672"/>
              <a:ext cx="128016" cy="128016"/>
            </a:xfrm>
            <a:prstGeom prst="ellipse">
              <a:avLst/>
            </a:prstGeom>
            <a:solidFill>
              <a:srgbClr val="22D3EE"/>
            </a:solidFill>
            <a:ln>
              <a:noFill/>
            </a:ln>
            <a:effectLst>
              <a:glow rad="76200">
                <a:srgbClr val="22D3EE">
                  <a:alpha val="50000"/>
                </a:srgbClr>
              </a:glow>
            </a:effectLst>
          </p:spPr>
          <p:txBody>
            <a:bodyPr rtlCol="0" anchor="ctr"/>
            <a:lstStyle/>
            <a:p/>
          </p:txBody>
        </p:sp>
        <p:sp>
          <p:nvSpPr>
            <p:cNvPr id="34" name="text_361"/>
            <p:cNvSpPr txBox="1"/>
            <p:nvPr/>
          </p:nvSpPr>
          <p:spPr>
            <a:xfrm>
              <a:off x="10007193" y="1856232"/>
              <a:ext cx="1523390" cy="310896"/>
            </a:xfrm>
            <a:prstGeom prst="rect">
              <a:avLst/>
            </a:prstGeom>
            <a:noFill/>
          </p:spPr>
          <p:txBody>
            <a:bodyPr wrap="square" lIns="0" rIns="0" tIns="0" bIns="0" anchor="ctr">
              <a:spAutoFit/>
            </a:bodyPr>
            <a:lstStyle/>
            <a:p>
              <a:pPr algn="l"/>
              <a:r>
                <a:rPr sz="1600" b="1" i="0">
                  <a:solidFill>
                    <a:srgbClr val="FFFFFF"/>
                  </a:solidFill>
                  <a:latin typeface="Arial"/>
                </a:rPr>
                <a:t>RocketRide</a:t>
              </a:r>
            </a:p>
          </p:txBody>
        </p:sp>
        <p:sp>
          <p:nvSpPr>
            <p:cNvPr id="35" name="text_362"/>
            <p:cNvSpPr txBox="1"/>
            <p:nvPr/>
          </p:nvSpPr>
          <p:spPr>
            <a:xfrm>
              <a:off x="9769449" y="2258568"/>
              <a:ext cx="1706270" cy="685800"/>
            </a:xfrm>
            <a:prstGeom prst="rect">
              <a:avLst/>
            </a:prstGeom>
            <a:noFill/>
          </p:spPr>
          <p:txBody>
            <a:bodyPr wrap="square" lIns="0" rIns="0" tIns="0" bIns="0" anchor="t">
              <a:spAutoFit/>
            </a:bodyPr>
            <a:lstStyle/>
            <a:p>
              <a:pPr algn="l"/>
              <a:r>
                <a:rPr sz="1200" b="0" i="0">
                  <a:solidFill>
                    <a:srgbClr val="8B90A0"/>
                  </a:solidFill>
                  <a:latin typeface="Arial"/>
                </a:rPr>
                <a:t>Triage pipeline with a sub-millisecond fast path</a:t>
              </a:r>
            </a:p>
          </p:txBody>
        </p:sp>
      </p:grpSp>
      <p:grpSp>
        <p:nvGrpSpPr>
          <p:cNvPr id="36" name="group_363"/>
          <p:cNvGrpSpPr/>
          <p:nvPr/>
        </p:nvGrpSpPr>
        <p:grpSpPr>
          <a:xfrm>
            <a:off x="548640" y="3200400"/>
            <a:ext cx="2072030" cy="1325880"/>
            <a:chOff x="548640" y="3200400"/>
            <a:chExt cx="2072030" cy="1325880"/>
          </a:xfrm>
        </p:grpSpPr>
        <p:sp>
          <p:nvSpPr>
            <p:cNvPr id="37" name="shape_364"/>
            <p:cNvSpPr/>
            <p:nvPr/>
          </p:nvSpPr>
          <p:spPr>
            <a:xfrm>
              <a:off x="548640" y="3200400"/>
              <a:ext cx="2072030" cy="1325880"/>
            </a:xfrm>
            <a:prstGeom prst="roundRect">
              <a:avLst>
                <a:gd name="adj" fmla="val 11034"/>
              </a:avLst>
            </a:prstGeom>
            <a:solidFill>
              <a:srgbClr val="FFFFFF">
                <a:alpha val="5000"/>
              </a:srgbClr>
            </a:solidFill>
            <a:ln w="9525">
              <a:solidFill>
                <a:srgbClr val="FFFFFF">
                  <a:alpha val="10000"/>
                </a:srgbClr>
              </a:solidFill>
            </a:ln>
          </p:spPr>
          <p:txBody>
            <a:bodyPr rtlCol="0" anchor="ctr"/>
            <a:lstStyle/>
            <a:p/>
          </p:txBody>
        </p:sp>
        <p:sp>
          <p:nvSpPr>
            <p:cNvPr id="38" name="shape_365"/>
            <p:cNvSpPr/>
            <p:nvPr/>
          </p:nvSpPr>
          <p:spPr>
            <a:xfrm>
              <a:off x="749808" y="3456432"/>
              <a:ext cx="128016" cy="128016"/>
            </a:xfrm>
            <a:prstGeom prst="ellipse">
              <a:avLst/>
            </a:prstGeom>
            <a:solidFill>
              <a:srgbClr val="F43F5E"/>
            </a:solidFill>
            <a:ln>
              <a:noFill/>
            </a:ln>
            <a:effectLst>
              <a:glow rad="76200">
                <a:srgbClr val="F43F5E">
                  <a:alpha val="50000"/>
                </a:srgbClr>
              </a:glow>
            </a:effectLst>
          </p:spPr>
          <p:txBody>
            <a:bodyPr rtlCol="0" anchor="ctr"/>
            <a:lstStyle/>
            <a:p/>
          </p:txBody>
        </p:sp>
        <p:sp>
          <p:nvSpPr>
            <p:cNvPr id="39" name="text_366"/>
            <p:cNvSpPr txBox="1"/>
            <p:nvPr/>
          </p:nvSpPr>
          <p:spPr>
            <a:xfrm>
              <a:off x="987552" y="3364992"/>
              <a:ext cx="1523390" cy="310896"/>
            </a:xfrm>
            <a:prstGeom prst="rect">
              <a:avLst/>
            </a:prstGeom>
            <a:noFill/>
          </p:spPr>
          <p:txBody>
            <a:bodyPr wrap="square" lIns="0" rIns="0" tIns="0" bIns="0" anchor="ctr">
              <a:spAutoFit/>
            </a:bodyPr>
            <a:lstStyle/>
            <a:p>
              <a:pPr algn="l"/>
              <a:r>
                <a:rPr sz="1600" b="1" i="0">
                  <a:solidFill>
                    <a:srgbClr val="FFFFFF"/>
                  </a:solidFill>
                  <a:latin typeface="Arial"/>
                </a:rPr>
                <a:t>AdaL</a:t>
              </a:r>
            </a:p>
          </p:txBody>
        </p:sp>
        <p:sp>
          <p:nvSpPr>
            <p:cNvPr id="40" name="text_367"/>
            <p:cNvSpPr txBox="1"/>
            <p:nvPr/>
          </p:nvSpPr>
          <p:spPr>
            <a:xfrm>
              <a:off x="749808" y="3767328"/>
              <a:ext cx="1706270" cy="685800"/>
            </a:xfrm>
            <a:prstGeom prst="rect">
              <a:avLst/>
            </a:prstGeom>
            <a:noFill/>
          </p:spPr>
          <p:txBody>
            <a:bodyPr wrap="square" lIns="0" rIns="0" tIns="0" bIns="0" anchor="t">
              <a:spAutoFit/>
            </a:bodyPr>
            <a:lstStyle/>
            <a:p>
              <a:pPr algn="l"/>
              <a:r>
                <a:rPr sz="1200" b="0" i="0">
                  <a:solidFill>
                    <a:srgbClr val="8B90A0"/>
                  </a:solidFill>
                  <a:latin typeface="Arial"/>
                </a:rPr>
                <a:t>Browser workflow that drives link detonation</a:t>
              </a:r>
            </a:p>
          </p:txBody>
        </p:sp>
      </p:grpSp>
      <p:grpSp>
        <p:nvGrpSpPr>
          <p:cNvPr id="41" name="group_368"/>
          <p:cNvGrpSpPr/>
          <p:nvPr/>
        </p:nvGrpSpPr>
        <p:grpSpPr>
          <a:xfrm>
            <a:off x="2803550" y="3200400"/>
            <a:ext cx="2072030" cy="1325880"/>
            <a:chOff x="2803550" y="3200400"/>
            <a:chExt cx="2072030" cy="1325880"/>
          </a:xfrm>
        </p:grpSpPr>
        <p:sp>
          <p:nvSpPr>
            <p:cNvPr id="42" name="shape_369"/>
            <p:cNvSpPr/>
            <p:nvPr/>
          </p:nvSpPr>
          <p:spPr>
            <a:xfrm>
              <a:off x="2803550" y="3200400"/>
              <a:ext cx="2072030" cy="1325880"/>
            </a:xfrm>
            <a:prstGeom prst="roundRect">
              <a:avLst>
                <a:gd name="adj" fmla="val 11034"/>
              </a:avLst>
            </a:prstGeom>
            <a:solidFill>
              <a:srgbClr val="FFFFFF">
                <a:alpha val="5000"/>
              </a:srgbClr>
            </a:solidFill>
            <a:ln w="9525">
              <a:solidFill>
                <a:srgbClr val="FFFFFF">
                  <a:alpha val="10000"/>
                </a:srgbClr>
              </a:solidFill>
            </a:ln>
          </p:spPr>
          <p:txBody>
            <a:bodyPr rtlCol="0" anchor="ctr"/>
            <a:lstStyle/>
            <a:p/>
          </p:txBody>
        </p:sp>
        <p:sp>
          <p:nvSpPr>
            <p:cNvPr id="43" name="shape_370"/>
            <p:cNvSpPr/>
            <p:nvPr/>
          </p:nvSpPr>
          <p:spPr>
            <a:xfrm>
              <a:off x="3004718" y="3456432"/>
              <a:ext cx="128016" cy="128016"/>
            </a:xfrm>
            <a:prstGeom prst="ellipse">
              <a:avLst/>
            </a:prstGeom>
            <a:solidFill>
              <a:srgbClr val="F43F5E"/>
            </a:solidFill>
            <a:ln>
              <a:noFill/>
            </a:ln>
            <a:effectLst>
              <a:glow rad="76200">
                <a:srgbClr val="F43F5E">
                  <a:alpha val="50000"/>
                </a:srgbClr>
              </a:glow>
            </a:effectLst>
          </p:spPr>
          <p:txBody>
            <a:bodyPr rtlCol="0" anchor="ctr"/>
            <a:lstStyle/>
            <a:p/>
          </p:txBody>
        </p:sp>
        <p:sp>
          <p:nvSpPr>
            <p:cNvPr id="44" name="text_371"/>
            <p:cNvSpPr txBox="1"/>
            <p:nvPr/>
          </p:nvSpPr>
          <p:spPr>
            <a:xfrm>
              <a:off x="3242462" y="3364992"/>
              <a:ext cx="1523390" cy="310896"/>
            </a:xfrm>
            <a:prstGeom prst="rect">
              <a:avLst/>
            </a:prstGeom>
            <a:noFill/>
          </p:spPr>
          <p:txBody>
            <a:bodyPr wrap="square" lIns="0" rIns="0" tIns="0" bIns="0" anchor="ctr">
              <a:spAutoFit/>
            </a:bodyPr>
            <a:lstStyle/>
            <a:p>
              <a:pPr algn="l"/>
              <a:r>
                <a:rPr sz="1600" b="1" i="0">
                  <a:solidFill>
                    <a:srgbClr val="FFFFFF"/>
                  </a:solidFill>
                  <a:latin typeface="Arial"/>
                </a:rPr>
                <a:t>Celesto</a:t>
              </a:r>
            </a:p>
          </p:txBody>
        </p:sp>
        <p:sp>
          <p:nvSpPr>
            <p:cNvPr id="45" name="text_372"/>
            <p:cNvSpPr txBox="1"/>
            <p:nvPr/>
          </p:nvSpPr>
          <p:spPr>
            <a:xfrm>
              <a:off x="3004718" y="3767328"/>
              <a:ext cx="1706270" cy="685800"/>
            </a:xfrm>
            <a:prstGeom prst="rect">
              <a:avLst/>
            </a:prstGeom>
            <a:noFill/>
          </p:spPr>
          <p:txBody>
            <a:bodyPr wrap="square" lIns="0" rIns="0" tIns="0" bIns="0" anchor="t">
              <a:spAutoFit/>
            </a:bodyPr>
            <a:lstStyle/>
            <a:p>
              <a:pPr algn="l"/>
              <a:r>
                <a:rPr sz="1200" b="0" i="0">
                  <a:solidFill>
                    <a:srgbClr val="8B90A0"/>
                  </a:solidFill>
                  <a:latin typeface="Arial"/>
                </a:rPr>
                <a:t>Isolated computer where links are detonated</a:t>
              </a:r>
            </a:p>
          </p:txBody>
        </p:sp>
      </p:grpSp>
      <p:grpSp>
        <p:nvGrpSpPr>
          <p:cNvPr id="46" name="group_373"/>
          <p:cNvGrpSpPr/>
          <p:nvPr/>
        </p:nvGrpSpPr>
        <p:grpSpPr>
          <a:xfrm>
            <a:off x="5058460" y="3200400"/>
            <a:ext cx="2072030" cy="1325880"/>
            <a:chOff x="5058460" y="3200400"/>
            <a:chExt cx="2072030" cy="1325880"/>
          </a:xfrm>
        </p:grpSpPr>
        <p:sp>
          <p:nvSpPr>
            <p:cNvPr id="47" name="shape_374"/>
            <p:cNvSpPr/>
            <p:nvPr/>
          </p:nvSpPr>
          <p:spPr>
            <a:xfrm>
              <a:off x="5058460" y="3200400"/>
              <a:ext cx="2072030" cy="1325880"/>
            </a:xfrm>
            <a:prstGeom prst="roundRect">
              <a:avLst>
                <a:gd name="adj" fmla="val 11034"/>
              </a:avLst>
            </a:prstGeom>
            <a:solidFill>
              <a:srgbClr val="FFFFFF">
                <a:alpha val="5000"/>
              </a:srgbClr>
            </a:solidFill>
            <a:ln w="9525">
              <a:solidFill>
                <a:srgbClr val="FFFFFF">
                  <a:alpha val="10000"/>
                </a:srgbClr>
              </a:solidFill>
            </a:ln>
          </p:spPr>
          <p:txBody>
            <a:bodyPr rtlCol="0" anchor="ctr"/>
            <a:lstStyle/>
            <a:p/>
          </p:txBody>
        </p:sp>
        <p:sp>
          <p:nvSpPr>
            <p:cNvPr id="48" name="shape_375"/>
            <p:cNvSpPr/>
            <p:nvPr/>
          </p:nvSpPr>
          <p:spPr>
            <a:xfrm>
              <a:off x="5259628" y="3456432"/>
              <a:ext cx="128016" cy="128016"/>
            </a:xfrm>
            <a:prstGeom prst="ellipse">
              <a:avLst/>
            </a:prstGeom>
            <a:solidFill>
              <a:srgbClr val="22D3EE"/>
            </a:solidFill>
            <a:ln>
              <a:noFill/>
            </a:ln>
            <a:effectLst>
              <a:glow rad="76200">
                <a:srgbClr val="22D3EE">
                  <a:alpha val="50000"/>
                </a:srgbClr>
              </a:glow>
            </a:effectLst>
          </p:spPr>
          <p:txBody>
            <a:bodyPr rtlCol="0" anchor="ctr"/>
            <a:lstStyle/>
            <a:p/>
          </p:txBody>
        </p:sp>
        <p:sp>
          <p:nvSpPr>
            <p:cNvPr id="49" name="text_376"/>
            <p:cNvSpPr txBox="1"/>
            <p:nvPr/>
          </p:nvSpPr>
          <p:spPr>
            <a:xfrm>
              <a:off x="5497372" y="3364992"/>
              <a:ext cx="1523390" cy="310896"/>
            </a:xfrm>
            <a:prstGeom prst="rect">
              <a:avLst/>
            </a:prstGeom>
            <a:noFill/>
          </p:spPr>
          <p:txBody>
            <a:bodyPr wrap="square" lIns="0" rIns="0" tIns="0" bIns="0" anchor="ctr">
              <a:spAutoFit/>
            </a:bodyPr>
            <a:lstStyle/>
            <a:p>
              <a:pPr algn="l"/>
              <a:r>
                <a:rPr sz="1600" b="1" i="0">
                  <a:solidFill>
                    <a:srgbClr val="FFFFFF"/>
                  </a:solidFill>
                  <a:latin typeface="Arial"/>
                </a:rPr>
                <a:t>Flatkey</a:t>
              </a:r>
            </a:p>
          </p:txBody>
        </p:sp>
        <p:sp>
          <p:nvSpPr>
            <p:cNvPr id="50" name="text_377"/>
            <p:cNvSpPr txBox="1"/>
            <p:nvPr/>
          </p:nvSpPr>
          <p:spPr>
            <a:xfrm>
              <a:off x="5259628" y="3767328"/>
              <a:ext cx="1706270" cy="685800"/>
            </a:xfrm>
            <a:prstGeom prst="rect">
              <a:avLst/>
            </a:prstGeom>
            <a:noFill/>
          </p:spPr>
          <p:txBody>
            <a:bodyPr wrap="square" lIns="0" rIns="0" tIns="0" bIns="0" anchor="t">
              <a:spAutoFit/>
            </a:bodyPr>
            <a:lstStyle/>
            <a:p>
              <a:pPr algn="l"/>
              <a:r>
                <a:rPr sz="1200" b="0" i="0">
                  <a:solidFill>
                    <a:srgbClr val="8B90A0"/>
                  </a:solidFill>
                  <a:latin typeface="Arial"/>
                </a:rPr>
                <a:t>Tiered model gateway, failover, per-call cost</a:t>
              </a:r>
            </a:p>
          </p:txBody>
        </p:sp>
      </p:grpSp>
      <p:grpSp>
        <p:nvGrpSpPr>
          <p:cNvPr id="51" name="group_378"/>
          <p:cNvGrpSpPr/>
          <p:nvPr/>
        </p:nvGrpSpPr>
        <p:grpSpPr>
          <a:xfrm>
            <a:off x="7313371" y="3200400"/>
            <a:ext cx="2072030" cy="1325880"/>
            <a:chOff x="7313371" y="3200400"/>
            <a:chExt cx="2072030" cy="1325880"/>
          </a:xfrm>
        </p:grpSpPr>
        <p:sp>
          <p:nvSpPr>
            <p:cNvPr id="52" name="shape_379"/>
            <p:cNvSpPr/>
            <p:nvPr/>
          </p:nvSpPr>
          <p:spPr>
            <a:xfrm>
              <a:off x="7313371" y="3200400"/>
              <a:ext cx="2072030" cy="1325880"/>
            </a:xfrm>
            <a:prstGeom prst="roundRect">
              <a:avLst>
                <a:gd name="adj" fmla="val 11034"/>
              </a:avLst>
            </a:prstGeom>
            <a:solidFill>
              <a:srgbClr val="FFFFFF">
                <a:alpha val="5000"/>
              </a:srgbClr>
            </a:solidFill>
            <a:ln w="9525">
              <a:solidFill>
                <a:srgbClr val="FFFFFF">
                  <a:alpha val="10000"/>
                </a:srgbClr>
              </a:solidFill>
            </a:ln>
          </p:spPr>
          <p:txBody>
            <a:bodyPr rtlCol="0" anchor="ctr"/>
            <a:lstStyle/>
            <a:p/>
          </p:txBody>
        </p:sp>
        <p:sp>
          <p:nvSpPr>
            <p:cNvPr id="53" name="shape_380"/>
            <p:cNvSpPr/>
            <p:nvPr/>
          </p:nvSpPr>
          <p:spPr>
            <a:xfrm>
              <a:off x="7514539" y="3456432"/>
              <a:ext cx="128016" cy="128016"/>
            </a:xfrm>
            <a:prstGeom prst="ellipse">
              <a:avLst/>
            </a:prstGeom>
            <a:solidFill>
              <a:srgbClr val="3B82F6"/>
            </a:solidFill>
            <a:ln>
              <a:noFill/>
            </a:ln>
            <a:effectLst>
              <a:glow rad="76200">
                <a:srgbClr val="3B82F6">
                  <a:alpha val="50000"/>
                </a:srgbClr>
              </a:glow>
            </a:effectLst>
          </p:spPr>
          <p:txBody>
            <a:bodyPr rtlCol="0" anchor="ctr"/>
            <a:lstStyle/>
            <a:p/>
          </p:txBody>
        </p:sp>
        <p:sp>
          <p:nvSpPr>
            <p:cNvPr id="54" name="text_381"/>
            <p:cNvSpPr txBox="1"/>
            <p:nvPr/>
          </p:nvSpPr>
          <p:spPr>
            <a:xfrm>
              <a:off x="7752283" y="3364992"/>
              <a:ext cx="1523390" cy="310896"/>
            </a:xfrm>
            <a:prstGeom prst="rect">
              <a:avLst/>
            </a:prstGeom>
            <a:noFill/>
          </p:spPr>
          <p:txBody>
            <a:bodyPr wrap="square" lIns="0" rIns="0" tIns="0" bIns="0" anchor="ctr">
              <a:spAutoFit/>
            </a:bodyPr>
            <a:lstStyle/>
            <a:p>
              <a:pPr algn="l"/>
              <a:r>
                <a:rPr sz="1600" b="1" i="0">
                  <a:solidFill>
                    <a:srgbClr val="FFFFFF"/>
                  </a:solidFill>
                  <a:latin typeface="Arial"/>
                </a:rPr>
                <a:t>PromptQL</a:t>
              </a:r>
            </a:p>
          </p:txBody>
        </p:sp>
        <p:sp>
          <p:nvSpPr>
            <p:cNvPr id="55" name="text_382"/>
            <p:cNvSpPr txBox="1"/>
            <p:nvPr/>
          </p:nvSpPr>
          <p:spPr>
            <a:xfrm>
              <a:off x="7514539" y="3767328"/>
              <a:ext cx="1706270" cy="685800"/>
            </a:xfrm>
            <a:prstGeom prst="rect">
              <a:avLst/>
            </a:prstGeom>
            <a:noFill/>
          </p:spPr>
          <p:txBody>
            <a:bodyPr wrap="square" lIns="0" rIns="0" tIns="0" bIns="0" anchor="t">
              <a:spAutoFit/>
            </a:bodyPr>
            <a:lstStyle/>
            <a:p>
              <a:pPr algn="l"/>
              <a:r>
                <a:rPr sz="1200" b="0" i="0">
                  <a:solidFill>
                    <a:srgbClr val="8B90A0"/>
                  </a:solidFill>
                  <a:latin typeface="Arial"/>
                </a:rPr>
                <a:t>Natural-language questions over live safety data</a:t>
              </a:r>
            </a:p>
          </p:txBody>
        </p:sp>
      </p:grpSp>
      <p:grpSp>
        <p:nvGrpSpPr>
          <p:cNvPr id="56" name="group_383"/>
          <p:cNvGrpSpPr/>
          <p:nvPr/>
        </p:nvGrpSpPr>
        <p:grpSpPr>
          <a:xfrm>
            <a:off x="9568281" y="3200400"/>
            <a:ext cx="2072030" cy="1325880"/>
            <a:chOff x="9568281" y="3200400"/>
            <a:chExt cx="2072030" cy="1325880"/>
          </a:xfrm>
        </p:grpSpPr>
        <p:sp>
          <p:nvSpPr>
            <p:cNvPr id="57" name="shape_384"/>
            <p:cNvSpPr/>
            <p:nvPr/>
          </p:nvSpPr>
          <p:spPr>
            <a:xfrm>
              <a:off x="9568281" y="3200400"/>
              <a:ext cx="2072030" cy="1325880"/>
            </a:xfrm>
            <a:prstGeom prst="roundRect">
              <a:avLst>
                <a:gd name="adj" fmla="val 11034"/>
              </a:avLst>
            </a:prstGeom>
            <a:solidFill>
              <a:srgbClr val="FFFFFF">
                <a:alpha val="5000"/>
              </a:srgbClr>
            </a:solidFill>
            <a:ln w="9525">
              <a:solidFill>
                <a:srgbClr val="FFFFFF">
                  <a:alpha val="10000"/>
                </a:srgbClr>
              </a:solidFill>
            </a:ln>
          </p:spPr>
          <p:txBody>
            <a:bodyPr rtlCol="0" anchor="ctr"/>
            <a:lstStyle/>
            <a:p/>
          </p:txBody>
        </p:sp>
        <p:sp>
          <p:nvSpPr>
            <p:cNvPr id="58" name="shape_385"/>
            <p:cNvSpPr/>
            <p:nvPr/>
          </p:nvSpPr>
          <p:spPr>
            <a:xfrm>
              <a:off x="9769449" y="3456432"/>
              <a:ext cx="128016" cy="128016"/>
            </a:xfrm>
            <a:prstGeom prst="ellipse">
              <a:avLst/>
            </a:prstGeom>
            <a:solidFill>
              <a:srgbClr val="3B82F6"/>
            </a:solidFill>
            <a:ln>
              <a:noFill/>
            </a:ln>
            <a:effectLst>
              <a:glow rad="76200">
                <a:srgbClr val="3B82F6">
                  <a:alpha val="50000"/>
                </a:srgbClr>
              </a:glow>
            </a:effectLst>
          </p:spPr>
          <p:txBody>
            <a:bodyPr rtlCol="0" anchor="ctr"/>
            <a:lstStyle/>
            <a:p/>
          </p:txBody>
        </p:sp>
        <p:sp>
          <p:nvSpPr>
            <p:cNvPr id="59" name="text_386"/>
            <p:cNvSpPr txBox="1"/>
            <p:nvPr/>
          </p:nvSpPr>
          <p:spPr>
            <a:xfrm>
              <a:off x="10007193" y="3364992"/>
              <a:ext cx="1523390" cy="310896"/>
            </a:xfrm>
            <a:prstGeom prst="rect">
              <a:avLst/>
            </a:prstGeom>
            <a:noFill/>
          </p:spPr>
          <p:txBody>
            <a:bodyPr wrap="square" lIns="0" rIns="0" tIns="0" bIns="0" anchor="ctr">
              <a:spAutoFit/>
            </a:bodyPr>
            <a:lstStyle/>
            <a:p>
              <a:pPr algn="l"/>
              <a:r>
                <a:rPr sz="1600" b="1" i="0">
                  <a:solidFill>
                    <a:srgbClr val="FFFFFF"/>
                  </a:solidFill>
                  <a:latin typeface="Arial"/>
                </a:rPr>
                <a:t>Paritok</a:t>
              </a:r>
            </a:p>
          </p:txBody>
        </p:sp>
        <p:sp>
          <p:nvSpPr>
            <p:cNvPr id="60" name="text_387"/>
            <p:cNvSpPr txBox="1"/>
            <p:nvPr/>
          </p:nvSpPr>
          <p:spPr>
            <a:xfrm>
              <a:off x="9769449" y="3767328"/>
              <a:ext cx="1706270" cy="685800"/>
            </a:xfrm>
            <a:prstGeom prst="rect">
              <a:avLst/>
            </a:prstGeom>
            <a:noFill/>
          </p:spPr>
          <p:txBody>
            <a:bodyPr wrap="square" lIns="0" rIns="0" tIns="0" bIns="0" anchor="t">
              <a:spAutoFit/>
            </a:bodyPr>
            <a:lstStyle/>
            <a:p>
              <a:pPr algn="l"/>
              <a:r>
                <a:rPr sz="1200" b="0" i="0">
                  <a:solidFill>
                    <a:srgbClr val="8B90A0"/>
                  </a:solidFill>
                  <a:latin typeface="Arial"/>
                </a:rPr>
                <a:t>Context compression for long incident threads</a:t>
              </a:r>
            </a:p>
          </p:txBody>
        </p:sp>
      </p:grpSp>
      <p:grpSp>
        <p:nvGrpSpPr>
          <p:cNvPr id="61" name="group_388"/>
          <p:cNvGrpSpPr/>
          <p:nvPr/>
        </p:nvGrpSpPr>
        <p:grpSpPr>
          <a:xfrm>
            <a:off x="548640" y="4709160"/>
            <a:ext cx="2072030" cy="1325880"/>
            <a:chOff x="548640" y="4709160"/>
            <a:chExt cx="2072030" cy="1325880"/>
          </a:xfrm>
        </p:grpSpPr>
        <p:sp>
          <p:nvSpPr>
            <p:cNvPr id="62" name="shape_389"/>
            <p:cNvSpPr/>
            <p:nvPr/>
          </p:nvSpPr>
          <p:spPr>
            <a:xfrm>
              <a:off x="548640" y="4709160"/>
              <a:ext cx="2072030" cy="1325880"/>
            </a:xfrm>
            <a:prstGeom prst="roundRect">
              <a:avLst>
                <a:gd name="adj" fmla="val 11034"/>
              </a:avLst>
            </a:prstGeom>
            <a:solidFill>
              <a:srgbClr val="FFFFFF">
                <a:alpha val="5000"/>
              </a:srgbClr>
            </a:solidFill>
            <a:ln w="9525">
              <a:solidFill>
                <a:srgbClr val="FFFFFF">
                  <a:alpha val="10000"/>
                </a:srgbClr>
              </a:solidFill>
            </a:ln>
          </p:spPr>
          <p:txBody>
            <a:bodyPr rtlCol="0" anchor="ctr"/>
            <a:lstStyle/>
            <a:p/>
          </p:txBody>
        </p:sp>
        <p:sp>
          <p:nvSpPr>
            <p:cNvPr id="63" name="shape_390"/>
            <p:cNvSpPr/>
            <p:nvPr/>
          </p:nvSpPr>
          <p:spPr>
            <a:xfrm>
              <a:off x="749808" y="4965192"/>
              <a:ext cx="128016" cy="128016"/>
            </a:xfrm>
            <a:prstGeom prst="ellipse">
              <a:avLst/>
            </a:prstGeom>
            <a:solidFill>
              <a:srgbClr val="10B981"/>
            </a:solidFill>
            <a:ln>
              <a:noFill/>
            </a:ln>
            <a:effectLst>
              <a:glow rad="76200">
                <a:srgbClr val="10B981">
                  <a:alpha val="50000"/>
                </a:srgbClr>
              </a:glow>
            </a:effectLst>
          </p:spPr>
          <p:txBody>
            <a:bodyPr rtlCol="0" anchor="ctr"/>
            <a:lstStyle/>
            <a:p/>
          </p:txBody>
        </p:sp>
        <p:sp>
          <p:nvSpPr>
            <p:cNvPr id="64" name="text_391"/>
            <p:cNvSpPr txBox="1"/>
            <p:nvPr/>
          </p:nvSpPr>
          <p:spPr>
            <a:xfrm>
              <a:off x="987552" y="4873752"/>
              <a:ext cx="1523390" cy="310896"/>
            </a:xfrm>
            <a:prstGeom prst="rect">
              <a:avLst/>
            </a:prstGeom>
            <a:noFill/>
          </p:spPr>
          <p:txBody>
            <a:bodyPr wrap="square" lIns="0" rIns="0" tIns="0" bIns="0" anchor="ctr">
              <a:spAutoFit/>
            </a:bodyPr>
            <a:lstStyle/>
            <a:p>
              <a:pPr algn="l"/>
              <a:r>
                <a:rPr sz="1600" b="1" i="0">
                  <a:solidFill>
                    <a:srgbClr val="FFFFFF"/>
                  </a:solidFill>
                  <a:latin typeface="Arial"/>
                </a:rPr>
                <a:t>Finch</a:t>
              </a:r>
            </a:p>
          </p:txBody>
        </p:sp>
        <p:sp>
          <p:nvSpPr>
            <p:cNvPr id="65" name="text_392"/>
            <p:cNvSpPr txBox="1"/>
            <p:nvPr/>
          </p:nvSpPr>
          <p:spPr>
            <a:xfrm>
              <a:off x="749808" y="5276088"/>
              <a:ext cx="1706270" cy="685800"/>
            </a:xfrm>
            <a:prstGeom prst="rect">
              <a:avLst/>
            </a:prstGeom>
            <a:noFill/>
          </p:spPr>
          <p:txBody>
            <a:bodyPr wrap="square" lIns="0" rIns="0" tIns="0" bIns="0" anchor="t">
              <a:spAutoFit/>
            </a:bodyPr>
            <a:lstStyle/>
            <a:p>
              <a:pPr algn="l"/>
              <a:r>
                <a:rPr sz="1200" b="0" i="0">
                  <a:solidFill>
                    <a:srgbClr val="8B90A0"/>
                  </a:solidFill>
                  <a:latin typeface="Arial"/>
                </a:rPr>
                <a:t>Reusable skills as SKILL.md files</a:t>
              </a:r>
            </a:p>
          </p:txBody>
        </p:sp>
      </p:grpSp>
      <p:grpSp>
        <p:nvGrpSpPr>
          <p:cNvPr id="66" name="group_393"/>
          <p:cNvGrpSpPr/>
          <p:nvPr/>
        </p:nvGrpSpPr>
        <p:grpSpPr>
          <a:xfrm>
            <a:off x="2803550" y="4709160"/>
            <a:ext cx="2072030" cy="1325880"/>
            <a:chOff x="2803550" y="4709160"/>
            <a:chExt cx="2072030" cy="1325880"/>
          </a:xfrm>
        </p:grpSpPr>
        <p:sp>
          <p:nvSpPr>
            <p:cNvPr id="67" name="shape_394"/>
            <p:cNvSpPr/>
            <p:nvPr/>
          </p:nvSpPr>
          <p:spPr>
            <a:xfrm>
              <a:off x="2803550" y="4709160"/>
              <a:ext cx="2072030" cy="1325880"/>
            </a:xfrm>
            <a:prstGeom prst="roundRect">
              <a:avLst>
                <a:gd name="adj" fmla="val 11034"/>
              </a:avLst>
            </a:prstGeom>
            <a:solidFill>
              <a:srgbClr val="FFFFFF">
                <a:alpha val="5000"/>
              </a:srgbClr>
            </a:solidFill>
            <a:ln w="9525">
              <a:solidFill>
                <a:srgbClr val="FFFFFF">
                  <a:alpha val="10000"/>
                </a:srgbClr>
              </a:solidFill>
            </a:ln>
          </p:spPr>
          <p:txBody>
            <a:bodyPr rtlCol="0" anchor="ctr"/>
            <a:lstStyle/>
            <a:p/>
          </p:txBody>
        </p:sp>
        <p:sp>
          <p:nvSpPr>
            <p:cNvPr id="68" name="shape_395"/>
            <p:cNvSpPr/>
            <p:nvPr/>
          </p:nvSpPr>
          <p:spPr>
            <a:xfrm>
              <a:off x="3004718" y="4965192"/>
              <a:ext cx="128016" cy="128016"/>
            </a:xfrm>
            <a:prstGeom prst="ellipse">
              <a:avLst/>
            </a:prstGeom>
            <a:solidFill>
              <a:srgbClr val="F59E0B"/>
            </a:solidFill>
            <a:ln>
              <a:noFill/>
            </a:ln>
            <a:effectLst>
              <a:glow rad="76200">
                <a:srgbClr val="F59E0B">
                  <a:alpha val="50000"/>
                </a:srgbClr>
              </a:glow>
            </a:effectLst>
          </p:spPr>
          <p:txBody>
            <a:bodyPr rtlCol="0" anchor="ctr"/>
            <a:lstStyle/>
            <a:p/>
          </p:txBody>
        </p:sp>
        <p:sp>
          <p:nvSpPr>
            <p:cNvPr id="69" name="text_396"/>
            <p:cNvSpPr txBox="1"/>
            <p:nvPr/>
          </p:nvSpPr>
          <p:spPr>
            <a:xfrm>
              <a:off x="3242462" y="4873752"/>
              <a:ext cx="1523390" cy="310896"/>
            </a:xfrm>
            <a:prstGeom prst="rect">
              <a:avLst/>
            </a:prstGeom>
            <a:noFill/>
          </p:spPr>
          <p:txBody>
            <a:bodyPr wrap="square" lIns="0" rIns="0" tIns="0" bIns="0" anchor="ctr">
              <a:spAutoFit/>
            </a:bodyPr>
            <a:lstStyle/>
            <a:p>
              <a:pPr algn="l"/>
              <a:r>
                <a:rPr sz="1600" b="1" i="0">
                  <a:solidFill>
                    <a:srgbClr val="FFFFFF"/>
                  </a:solidFill>
                  <a:latin typeface="Arial"/>
                </a:rPr>
                <a:t>Tenki</a:t>
              </a:r>
            </a:p>
          </p:txBody>
        </p:sp>
        <p:sp>
          <p:nvSpPr>
            <p:cNvPr id="70" name="text_397"/>
            <p:cNvSpPr txBox="1"/>
            <p:nvPr/>
          </p:nvSpPr>
          <p:spPr>
            <a:xfrm>
              <a:off x="3004718" y="5276088"/>
              <a:ext cx="1706270" cy="685800"/>
            </a:xfrm>
            <a:prstGeom prst="rect">
              <a:avLst/>
            </a:prstGeom>
            <a:noFill/>
          </p:spPr>
          <p:txBody>
            <a:bodyPr wrap="square" lIns="0" rIns="0" tIns="0" bIns="0" anchor="t">
              <a:spAutoFit/>
            </a:bodyPr>
            <a:lstStyle/>
            <a:p>
              <a:pPr algn="l"/>
              <a:r>
                <a:rPr sz="1200" b="0" i="0">
                  <a:solidFill>
                    <a:srgbClr val="8B90A0"/>
                  </a:solidFill>
                  <a:latin typeface="Arial"/>
                </a:rPr>
                <a:t>Sandbox test runs and CI runners</a:t>
              </a:r>
            </a:p>
          </p:txBody>
        </p:sp>
      </p:grpSp>
      <p:grpSp>
        <p:nvGrpSpPr>
          <p:cNvPr id="71" name="group_398"/>
          <p:cNvGrpSpPr/>
          <p:nvPr/>
        </p:nvGrpSpPr>
        <p:grpSpPr>
          <a:xfrm>
            <a:off x="5058460" y="4709160"/>
            <a:ext cx="2072030" cy="1325880"/>
            <a:chOff x="5058460" y="4709160"/>
            <a:chExt cx="2072030" cy="1325880"/>
          </a:xfrm>
        </p:grpSpPr>
        <p:sp>
          <p:nvSpPr>
            <p:cNvPr id="72" name="shape_399"/>
            <p:cNvSpPr/>
            <p:nvPr/>
          </p:nvSpPr>
          <p:spPr>
            <a:xfrm>
              <a:off x="5058460" y="4709160"/>
              <a:ext cx="2072030" cy="1325880"/>
            </a:xfrm>
            <a:prstGeom prst="roundRect">
              <a:avLst>
                <a:gd name="adj" fmla="val 11034"/>
              </a:avLst>
            </a:prstGeom>
            <a:solidFill>
              <a:srgbClr val="FFFFFF">
                <a:alpha val="5000"/>
              </a:srgbClr>
            </a:solidFill>
            <a:ln w="9525">
              <a:solidFill>
                <a:srgbClr val="FFFFFF">
                  <a:alpha val="10000"/>
                </a:srgbClr>
              </a:solidFill>
            </a:ln>
          </p:spPr>
          <p:txBody>
            <a:bodyPr rtlCol="0" anchor="ctr"/>
            <a:lstStyle/>
            <a:p/>
          </p:txBody>
        </p:sp>
        <p:sp>
          <p:nvSpPr>
            <p:cNvPr id="73" name="shape_400"/>
            <p:cNvSpPr/>
            <p:nvPr/>
          </p:nvSpPr>
          <p:spPr>
            <a:xfrm>
              <a:off x="5259628" y="4965192"/>
              <a:ext cx="128016" cy="128016"/>
            </a:xfrm>
            <a:prstGeom prst="ellipse">
              <a:avLst/>
            </a:prstGeom>
            <a:solidFill>
              <a:srgbClr val="10B981"/>
            </a:solidFill>
            <a:ln>
              <a:noFill/>
            </a:ln>
            <a:effectLst>
              <a:glow rad="76200">
                <a:srgbClr val="10B981">
                  <a:alpha val="50000"/>
                </a:srgbClr>
              </a:glow>
            </a:effectLst>
          </p:spPr>
          <p:txBody>
            <a:bodyPr rtlCol="0" anchor="ctr"/>
            <a:lstStyle/>
            <a:p/>
          </p:txBody>
        </p:sp>
        <p:sp>
          <p:nvSpPr>
            <p:cNvPr id="74" name="text_401"/>
            <p:cNvSpPr txBox="1"/>
            <p:nvPr/>
          </p:nvSpPr>
          <p:spPr>
            <a:xfrm>
              <a:off x="5497372" y="4873752"/>
              <a:ext cx="1523390" cy="310896"/>
            </a:xfrm>
            <a:prstGeom prst="rect">
              <a:avLst/>
            </a:prstGeom>
            <a:noFill/>
          </p:spPr>
          <p:txBody>
            <a:bodyPr wrap="square" lIns="0" rIns="0" tIns="0" bIns="0" anchor="ctr">
              <a:spAutoFit/>
            </a:bodyPr>
            <a:lstStyle/>
            <a:p>
              <a:pPr algn="l"/>
              <a:r>
                <a:rPr sz="1600" b="1" i="0">
                  <a:solidFill>
                    <a:srgbClr val="FFFFFF"/>
                  </a:solidFill>
                  <a:latin typeface="Arial"/>
                </a:rPr>
                <a:t>Prelint</a:t>
              </a:r>
            </a:p>
          </p:txBody>
        </p:sp>
        <p:sp>
          <p:nvSpPr>
            <p:cNvPr id="75" name="text_402"/>
            <p:cNvSpPr txBox="1"/>
            <p:nvPr/>
          </p:nvSpPr>
          <p:spPr>
            <a:xfrm>
              <a:off x="5259628" y="5276088"/>
              <a:ext cx="1706270" cy="685800"/>
            </a:xfrm>
            <a:prstGeom prst="rect">
              <a:avLst/>
            </a:prstGeom>
            <a:noFill/>
          </p:spPr>
          <p:txBody>
            <a:bodyPr wrap="square" lIns="0" rIns="0" tIns="0" bIns="0" anchor="t">
              <a:spAutoFit/>
            </a:bodyPr>
            <a:lstStyle/>
            <a:p>
              <a:pPr algn="l"/>
              <a:r>
                <a:rPr sz="1200" b="0" i="0">
                  <a:solidFill>
                    <a:srgbClr val="8B90A0"/>
                  </a:solidFill>
                  <a:latin typeface="Arial"/>
                </a:rPr>
                <a:t>Checks policies and specs before they ship</a:t>
              </a:r>
            </a:p>
          </p:txBody>
        </p:sp>
      </p:grpSp>
      <p:grpSp>
        <p:nvGrpSpPr>
          <p:cNvPr id="76" name="group_403"/>
          <p:cNvGrpSpPr/>
          <p:nvPr/>
        </p:nvGrpSpPr>
        <p:grpSpPr>
          <a:xfrm>
            <a:off x="7313371" y="4709160"/>
            <a:ext cx="2072030" cy="1325880"/>
            <a:chOff x="7313371" y="4709160"/>
            <a:chExt cx="2072030" cy="1325880"/>
          </a:xfrm>
        </p:grpSpPr>
        <p:sp>
          <p:nvSpPr>
            <p:cNvPr id="77" name="shape_404"/>
            <p:cNvSpPr/>
            <p:nvPr/>
          </p:nvSpPr>
          <p:spPr>
            <a:xfrm>
              <a:off x="7313371" y="4709160"/>
              <a:ext cx="2072030" cy="1325880"/>
            </a:xfrm>
            <a:prstGeom prst="roundRect">
              <a:avLst>
                <a:gd name="adj" fmla="val 11034"/>
              </a:avLst>
            </a:prstGeom>
            <a:solidFill>
              <a:srgbClr val="FFFFFF">
                <a:alpha val="5000"/>
              </a:srgbClr>
            </a:solidFill>
            <a:ln w="9525">
              <a:solidFill>
                <a:srgbClr val="FFFFFF">
                  <a:alpha val="10000"/>
                </a:srgbClr>
              </a:solidFill>
            </a:ln>
          </p:spPr>
          <p:txBody>
            <a:bodyPr rtlCol="0" anchor="ctr"/>
            <a:lstStyle/>
            <a:p/>
          </p:txBody>
        </p:sp>
        <p:sp>
          <p:nvSpPr>
            <p:cNvPr id="78" name="shape_405"/>
            <p:cNvSpPr/>
            <p:nvPr/>
          </p:nvSpPr>
          <p:spPr>
            <a:xfrm>
              <a:off x="7514539" y="4965192"/>
              <a:ext cx="128016" cy="128016"/>
            </a:xfrm>
            <a:prstGeom prst="ellipse">
              <a:avLst/>
            </a:prstGeom>
            <a:solidFill>
              <a:srgbClr val="A78BFA"/>
            </a:solidFill>
            <a:ln>
              <a:noFill/>
            </a:ln>
            <a:effectLst>
              <a:glow rad="76200">
                <a:srgbClr val="A78BFA">
                  <a:alpha val="50000"/>
                </a:srgbClr>
              </a:glow>
            </a:effectLst>
          </p:spPr>
          <p:txBody>
            <a:bodyPr rtlCol="0" anchor="ctr"/>
            <a:lstStyle/>
            <a:p/>
          </p:txBody>
        </p:sp>
        <p:sp>
          <p:nvSpPr>
            <p:cNvPr id="79" name="text_406"/>
            <p:cNvSpPr txBox="1"/>
            <p:nvPr/>
          </p:nvSpPr>
          <p:spPr>
            <a:xfrm>
              <a:off x="7752283" y="4873752"/>
              <a:ext cx="1523390" cy="310896"/>
            </a:xfrm>
            <a:prstGeom prst="rect">
              <a:avLst/>
            </a:prstGeom>
            <a:noFill/>
          </p:spPr>
          <p:txBody>
            <a:bodyPr wrap="square" lIns="0" rIns="0" tIns="0" bIns="0" anchor="ctr">
              <a:spAutoFit/>
            </a:bodyPr>
            <a:lstStyle/>
            <a:p>
              <a:pPr algn="l"/>
              <a:r>
                <a:rPr sz="1600" b="1" i="0">
                  <a:solidFill>
                    <a:srgbClr val="FFFFFF"/>
                  </a:solidFill>
                  <a:latin typeface="Arial"/>
                </a:rPr>
                <a:t>Snyk</a:t>
              </a:r>
            </a:p>
          </p:txBody>
        </p:sp>
        <p:sp>
          <p:nvSpPr>
            <p:cNvPr id="80" name="text_407"/>
            <p:cNvSpPr txBox="1"/>
            <p:nvPr/>
          </p:nvSpPr>
          <p:spPr>
            <a:xfrm>
              <a:off x="7514539" y="5276088"/>
              <a:ext cx="1706270" cy="685800"/>
            </a:xfrm>
            <a:prstGeom prst="rect">
              <a:avLst/>
            </a:prstGeom>
            <a:noFill/>
          </p:spPr>
          <p:txBody>
            <a:bodyPr wrap="square" lIns="0" rIns="0" tIns="0" bIns="0" anchor="t">
              <a:spAutoFit/>
            </a:bodyPr>
            <a:lstStyle/>
            <a:p>
              <a:pPr algn="l"/>
              <a:r>
                <a:rPr sz="1200" b="0" i="0">
                  <a:solidFill>
                    <a:srgbClr val="8B90A0"/>
                  </a:solidFill>
                  <a:latin typeface="Arial"/>
                </a:rPr>
                <a:t>Dependency vulnerability scans for bots and CI</a:t>
              </a:r>
            </a:p>
          </p:txBody>
        </p:sp>
      </p:grpSp>
      <p:grpSp>
        <p:nvGrpSpPr>
          <p:cNvPr id="81" name="group_408"/>
          <p:cNvGrpSpPr/>
          <p:nvPr/>
        </p:nvGrpSpPr>
        <p:grpSpPr>
          <a:xfrm>
            <a:off x="9568281" y="4709160"/>
            <a:ext cx="2072030" cy="1325880"/>
            <a:chOff x="9568281" y="4709160"/>
            <a:chExt cx="2072030" cy="1325880"/>
          </a:xfrm>
        </p:grpSpPr>
        <p:sp>
          <p:nvSpPr>
            <p:cNvPr id="82" name="shape_409"/>
            <p:cNvSpPr/>
            <p:nvPr/>
          </p:nvSpPr>
          <p:spPr>
            <a:xfrm>
              <a:off x="9568281" y="4709160"/>
              <a:ext cx="2072030" cy="1325880"/>
            </a:xfrm>
            <a:prstGeom prst="roundRect">
              <a:avLst>
                <a:gd name="adj" fmla="val 11034"/>
              </a:avLst>
            </a:prstGeom>
            <a:gradFill rotWithShape="1">
              <a:gsLst>
                <a:gs pos="0">
                  <a:srgbClr val="5B21B6"/>
                </a:gs>
                <a:gs pos="100000">
                  <a:srgbClr val="0E7490"/>
                </a:gs>
              </a:gsLst>
              <a:lin scaled="0" ang="0"/>
            </a:gradFill>
            <a:ln w="9525">
              <a:solidFill>
                <a:srgbClr val="A78BFA">
                  <a:alpha val="60000"/>
                </a:srgbClr>
              </a:solidFill>
            </a:ln>
            <a:effectLst>
              <a:glow rad="152400">
                <a:srgbClr val="8B5CF6">
                  <a:alpha val="35000"/>
                </a:srgbClr>
              </a:glow>
            </a:effectLst>
          </p:spPr>
          <p:txBody>
            <a:bodyPr rtlCol="0" anchor="ctr"/>
            <a:lstStyle/>
            <a:p/>
          </p:txBody>
        </p:sp>
        <p:sp>
          <p:nvSpPr>
            <p:cNvPr id="83" name="text_410"/>
            <p:cNvSpPr txBox="1"/>
            <p:nvPr/>
          </p:nvSpPr>
          <p:spPr>
            <a:xfrm>
              <a:off x="9769449" y="4892040"/>
              <a:ext cx="1669694" cy="502920"/>
            </a:xfrm>
            <a:prstGeom prst="rect">
              <a:avLst/>
            </a:prstGeom>
            <a:noFill/>
          </p:spPr>
          <p:txBody>
            <a:bodyPr wrap="square" lIns="0" rIns="0" tIns="0" bIns="0" anchor="t">
              <a:spAutoFit/>
            </a:bodyPr>
            <a:lstStyle/>
            <a:p>
              <a:pPr algn="l"/>
              <a:r>
                <a:rPr sz="2800" b="1" i="0">
                  <a:solidFill>
                    <a:srgbClr val="FFFFFF"/>
                  </a:solidFill>
                  <a:latin typeface="Arial"/>
                </a:rPr>
                <a:t>14 → 1</a:t>
              </a:r>
            </a:p>
          </p:txBody>
        </p:sp>
        <p:sp>
          <p:nvSpPr>
            <p:cNvPr id="84" name="text_411"/>
            <p:cNvSpPr txBox="1"/>
            <p:nvPr/>
          </p:nvSpPr>
          <p:spPr>
            <a:xfrm>
              <a:off x="9769449" y="5440680"/>
              <a:ext cx="1669694" cy="502920"/>
            </a:xfrm>
            <a:prstGeom prst="rect">
              <a:avLst/>
            </a:prstGeom>
            <a:noFill/>
          </p:spPr>
          <p:txBody>
            <a:bodyPr wrap="square" lIns="0" rIns="0" tIns="0" bIns="0" anchor="t">
              <a:spAutoFit/>
            </a:bodyPr>
            <a:lstStyle/>
            <a:p>
              <a:pPr algn="l"/>
              <a:r>
                <a:rPr sz="1200" b="0" i="0">
                  <a:solidFill>
                    <a:srgbClr val="E0E7FF"/>
                  </a:solidFill>
                  <a:latin typeface="Arial"/>
                </a:rPr>
                <a:t>tools composed into one working company</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600"/>
                                        <p:tgtEl>
                                          <p:spTgt spid="10"/>
                                        </p:tgtEl>
                                      </p:cBhvr>
                                    </p:animEffect>
                                    <p:anim calcmode="lin" valueType="num">
                                      <p:cBhvr additive="base">
                                        <p:cTn id="11" dur="600" fill="hold"/>
                                        <p:tgtEl>
                                          <p:spTgt spid="10"/>
                                        </p:tgtEl>
                                        <p:attrNameLst>
                                          <p:attrName>ppt_x</p:attrName>
                                        </p:attrNameLst>
                                      </p:cBhvr>
                                      <p:tavLst>
                                        <p:tav tm="0">
                                          <p:val>
                                            <p:strVal val="#ppt_x"/>
                                          </p:val>
                                        </p:tav>
                                        <p:tav tm="100000">
                                          <p:val>
                                            <p:strVal val="#ppt_x"/>
                                          </p:val>
                                        </p:tav>
                                      </p:tavLst>
                                    </p:anim>
                                    <p:anim calcmode="lin" valueType="num">
                                      <p:cBhvr additive="base">
                                        <p:cTn id="12" dur="600" fill="hold"/>
                                        <p:tgtEl>
                                          <p:spTgt spid="10"/>
                                        </p:tgtEl>
                                        <p:attrNameLst>
                                          <p:attrName>ppt_y</p:attrName>
                                        </p:attrNameLst>
                                      </p:cBhvr>
                                      <p:tavLst>
                                        <p:tav tm="0">
                                          <p:val>
                                            <p:strVal val="#ppt_y+.06"/>
                                          </p:val>
                                        </p:tav>
                                        <p:tav tm="100000">
                                          <p:val>
                                            <p:strVal val="#ppt_y"/>
                                          </p:val>
                                        </p:tav>
                                      </p:tavLst>
                                    </p:anim>
                                  </p:childTnLst>
                                </p:cTn>
                              </p:par>
                              <p:par>
                                <p:cTn id="13" presetID="53" presetClass="entr" presetSubtype="16" fill="hold" grpId="0" nodeType="withEffect">
                                  <p:stCondLst>
                                    <p:cond delay="30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450" fill="hold"/>
                                        <p:tgtEl>
                                          <p:spTgt spid="11"/>
                                        </p:tgtEl>
                                        <p:attrNameLst>
                                          <p:attrName>ppt_w</p:attrName>
                                        </p:attrNameLst>
                                      </p:cBhvr>
                                      <p:tavLst>
                                        <p:tav tm="0">
                                          <p:val>
                                            <p:strVal val="0"/>
                                          </p:val>
                                        </p:tav>
                                        <p:tav tm="100000">
                                          <p:val>
                                            <p:strVal val="#ppt_w"/>
                                          </p:val>
                                        </p:tav>
                                      </p:tavLst>
                                    </p:anim>
                                    <p:anim calcmode="lin" valueType="num">
                                      <p:cBhvr additive="base">
                                        <p:cTn id="16" dur="450" fill="hold"/>
                                        <p:tgtEl>
                                          <p:spTgt spid="11"/>
                                        </p:tgtEl>
                                        <p:attrNameLst>
                                          <p:attrName>ppt_h</p:attrName>
                                        </p:attrNameLst>
                                      </p:cBhvr>
                                      <p:tavLst>
                                        <p:tav tm="0">
                                          <p:val>
                                            <p:strVal val="0"/>
                                          </p:val>
                                        </p:tav>
                                        <p:tav tm="100000">
                                          <p:val>
                                            <p:strVal val="#ppt_h"/>
                                          </p:val>
                                        </p:tav>
                                      </p:tavLst>
                                    </p:anim>
                                    <p:animEffect transition="in" filter="fade">
                                      <p:cBhvr>
                                        <p:cTn id="17" dur="450"/>
                                        <p:tgtEl>
                                          <p:spTgt spid="11"/>
                                        </p:tgtEl>
                                      </p:cBhvr>
                                    </p:animEffect>
                                  </p:childTnLst>
                                </p:cTn>
                              </p:par>
                              <p:par>
                                <p:cTn id="18" presetID="53" presetClass="entr" presetSubtype="16" fill="hold" grpId="0" nodeType="withEffect">
                                  <p:stCondLst>
                                    <p:cond delay="390"/>
                                  </p:stCondLst>
                                  <p:childTnLst>
                                    <p:set>
                                      <p:cBhvr>
                                        <p:cTn id="19" dur="1" fill="hold">
                                          <p:stCondLst>
                                            <p:cond delay="0"/>
                                          </p:stCondLst>
                                        </p:cTn>
                                        <p:tgtEl>
                                          <p:spTgt spid="16"/>
                                        </p:tgtEl>
                                        <p:attrNameLst>
                                          <p:attrName>style.visibility</p:attrName>
                                        </p:attrNameLst>
                                      </p:cBhvr>
                                      <p:to>
                                        <p:strVal val="visible"/>
                                      </p:to>
                                    </p:set>
                                    <p:anim calcmode="lin" valueType="num">
                                      <p:cBhvr additive="base">
                                        <p:cTn id="20" dur="450" fill="hold"/>
                                        <p:tgtEl>
                                          <p:spTgt spid="16"/>
                                        </p:tgtEl>
                                        <p:attrNameLst>
                                          <p:attrName>ppt_w</p:attrName>
                                        </p:attrNameLst>
                                      </p:cBhvr>
                                      <p:tavLst>
                                        <p:tav tm="0">
                                          <p:val>
                                            <p:strVal val="0"/>
                                          </p:val>
                                        </p:tav>
                                        <p:tav tm="100000">
                                          <p:val>
                                            <p:strVal val="#ppt_w"/>
                                          </p:val>
                                        </p:tav>
                                      </p:tavLst>
                                    </p:anim>
                                    <p:anim calcmode="lin" valueType="num">
                                      <p:cBhvr additive="base">
                                        <p:cTn id="21" dur="450" fill="hold"/>
                                        <p:tgtEl>
                                          <p:spTgt spid="16"/>
                                        </p:tgtEl>
                                        <p:attrNameLst>
                                          <p:attrName>ppt_h</p:attrName>
                                        </p:attrNameLst>
                                      </p:cBhvr>
                                      <p:tavLst>
                                        <p:tav tm="0">
                                          <p:val>
                                            <p:strVal val="0"/>
                                          </p:val>
                                        </p:tav>
                                        <p:tav tm="100000">
                                          <p:val>
                                            <p:strVal val="#ppt_h"/>
                                          </p:val>
                                        </p:tav>
                                      </p:tavLst>
                                    </p:anim>
                                    <p:animEffect transition="in" filter="fade">
                                      <p:cBhvr>
                                        <p:cTn id="22" dur="450"/>
                                        <p:tgtEl>
                                          <p:spTgt spid="16"/>
                                        </p:tgtEl>
                                      </p:cBhvr>
                                    </p:animEffect>
                                  </p:childTnLst>
                                </p:cTn>
                              </p:par>
                              <p:par>
                                <p:cTn id="23" presetID="53" presetClass="entr" presetSubtype="16" fill="hold" grpId="0" nodeType="withEffect">
                                  <p:stCondLst>
                                    <p:cond delay="480"/>
                                  </p:stCondLst>
                                  <p:childTnLst>
                                    <p:set>
                                      <p:cBhvr>
                                        <p:cTn id="24" dur="1" fill="hold">
                                          <p:stCondLst>
                                            <p:cond delay="0"/>
                                          </p:stCondLst>
                                        </p:cTn>
                                        <p:tgtEl>
                                          <p:spTgt spid="21"/>
                                        </p:tgtEl>
                                        <p:attrNameLst>
                                          <p:attrName>style.visibility</p:attrName>
                                        </p:attrNameLst>
                                      </p:cBhvr>
                                      <p:to>
                                        <p:strVal val="visible"/>
                                      </p:to>
                                    </p:set>
                                    <p:anim calcmode="lin" valueType="num">
                                      <p:cBhvr additive="base">
                                        <p:cTn id="25" dur="450" fill="hold"/>
                                        <p:tgtEl>
                                          <p:spTgt spid="21"/>
                                        </p:tgtEl>
                                        <p:attrNameLst>
                                          <p:attrName>ppt_w</p:attrName>
                                        </p:attrNameLst>
                                      </p:cBhvr>
                                      <p:tavLst>
                                        <p:tav tm="0">
                                          <p:val>
                                            <p:strVal val="0"/>
                                          </p:val>
                                        </p:tav>
                                        <p:tav tm="100000">
                                          <p:val>
                                            <p:strVal val="#ppt_w"/>
                                          </p:val>
                                        </p:tav>
                                      </p:tavLst>
                                    </p:anim>
                                    <p:anim calcmode="lin" valueType="num">
                                      <p:cBhvr additive="base">
                                        <p:cTn id="26" dur="450" fill="hold"/>
                                        <p:tgtEl>
                                          <p:spTgt spid="21"/>
                                        </p:tgtEl>
                                        <p:attrNameLst>
                                          <p:attrName>ppt_h</p:attrName>
                                        </p:attrNameLst>
                                      </p:cBhvr>
                                      <p:tavLst>
                                        <p:tav tm="0">
                                          <p:val>
                                            <p:strVal val="0"/>
                                          </p:val>
                                        </p:tav>
                                        <p:tav tm="100000">
                                          <p:val>
                                            <p:strVal val="#ppt_h"/>
                                          </p:val>
                                        </p:tav>
                                      </p:tavLst>
                                    </p:anim>
                                    <p:animEffect transition="in" filter="fade">
                                      <p:cBhvr>
                                        <p:cTn id="27" dur="450"/>
                                        <p:tgtEl>
                                          <p:spTgt spid="21"/>
                                        </p:tgtEl>
                                      </p:cBhvr>
                                    </p:animEffect>
                                  </p:childTnLst>
                                </p:cTn>
                              </p:par>
                              <p:par>
                                <p:cTn id="28" presetID="53" presetClass="entr" presetSubtype="16" fill="hold" grpId="0" nodeType="withEffect">
                                  <p:stCondLst>
                                    <p:cond delay="570"/>
                                  </p:stCondLst>
                                  <p:childTnLst>
                                    <p:set>
                                      <p:cBhvr>
                                        <p:cTn id="29" dur="1" fill="hold">
                                          <p:stCondLst>
                                            <p:cond delay="0"/>
                                          </p:stCondLst>
                                        </p:cTn>
                                        <p:tgtEl>
                                          <p:spTgt spid="26"/>
                                        </p:tgtEl>
                                        <p:attrNameLst>
                                          <p:attrName>style.visibility</p:attrName>
                                        </p:attrNameLst>
                                      </p:cBhvr>
                                      <p:to>
                                        <p:strVal val="visible"/>
                                      </p:to>
                                    </p:set>
                                    <p:anim calcmode="lin" valueType="num">
                                      <p:cBhvr additive="base">
                                        <p:cTn id="30" dur="450" fill="hold"/>
                                        <p:tgtEl>
                                          <p:spTgt spid="26"/>
                                        </p:tgtEl>
                                        <p:attrNameLst>
                                          <p:attrName>ppt_w</p:attrName>
                                        </p:attrNameLst>
                                      </p:cBhvr>
                                      <p:tavLst>
                                        <p:tav tm="0">
                                          <p:val>
                                            <p:strVal val="0"/>
                                          </p:val>
                                        </p:tav>
                                        <p:tav tm="100000">
                                          <p:val>
                                            <p:strVal val="#ppt_w"/>
                                          </p:val>
                                        </p:tav>
                                      </p:tavLst>
                                    </p:anim>
                                    <p:anim calcmode="lin" valueType="num">
                                      <p:cBhvr additive="base">
                                        <p:cTn id="31" dur="450" fill="hold"/>
                                        <p:tgtEl>
                                          <p:spTgt spid="26"/>
                                        </p:tgtEl>
                                        <p:attrNameLst>
                                          <p:attrName>ppt_h</p:attrName>
                                        </p:attrNameLst>
                                      </p:cBhvr>
                                      <p:tavLst>
                                        <p:tav tm="0">
                                          <p:val>
                                            <p:strVal val="0"/>
                                          </p:val>
                                        </p:tav>
                                        <p:tav tm="100000">
                                          <p:val>
                                            <p:strVal val="#ppt_h"/>
                                          </p:val>
                                        </p:tav>
                                      </p:tavLst>
                                    </p:anim>
                                    <p:animEffect transition="in" filter="fade">
                                      <p:cBhvr>
                                        <p:cTn id="32" dur="450"/>
                                        <p:tgtEl>
                                          <p:spTgt spid="26"/>
                                        </p:tgtEl>
                                      </p:cBhvr>
                                    </p:animEffect>
                                  </p:childTnLst>
                                </p:cTn>
                              </p:par>
                              <p:par>
                                <p:cTn id="33" presetID="53" presetClass="entr" presetSubtype="16" fill="hold" grpId="0" nodeType="withEffect">
                                  <p:stCondLst>
                                    <p:cond delay="660"/>
                                  </p:stCondLst>
                                  <p:childTnLst>
                                    <p:set>
                                      <p:cBhvr>
                                        <p:cTn id="34" dur="1" fill="hold">
                                          <p:stCondLst>
                                            <p:cond delay="0"/>
                                          </p:stCondLst>
                                        </p:cTn>
                                        <p:tgtEl>
                                          <p:spTgt spid="31"/>
                                        </p:tgtEl>
                                        <p:attrNameLst>
                                          <p:attrName>style.visibility</p:attrName>
                                        </p:attrNameLst>
                                      </p:cBhvr>
                                      <p:to>
                                        <p:strVal val="visible"/>
                                      </p:to>
                                    </p:set>
                                    <p:anim calcmode="lin" valueType="num">
                                      <p:cBhvr additive="base">
                                        <p:cTn id="35" dur="450" fill="hold"/>
                                        <p:tgtEl>
                                          <p:spTgt spid="31"/>
                                        </p:tgtEl>
                                        <p:attrNameLst>
                                          <p:attrName>ppt_w</p:attrName>
                                        </p:attrNameLst>
                                      </p:cBhvr>
                                      <p:tavLst>
                                        <p:tav tm="0">
                                          <p:val>
                                            <p:strVal val="0"/>
                                          </p:val>
                                        </p:tav>
                                        <p:tav tm="100000">
                                          <p:val>
                                            <p:strVal val="#ppt_w"/>
                                          </p:val>
                                        </p:tav>
                                      </p:tavLst>
                                    </p:anim>
                                    <p:anim calcmode="lin" valueType="num">
                                      <p:cBhvr additive="base">
                                        <p:cTn id="36" dur="450" fill="hold"/>
                                        <p:tgtEl>
                                          <p:spTgt spid="31"/>
                                        </p:tgtEl>
                                        <p:attrNameLst>
                                          <p:attrName>ppt_h</p:attrName>
                                        </p:attrNameLst>
                                      </p:cBhvr>
                                      <p:tavLst>
                                        <p:tav tm="0">
                                          <p:val>
                                            <p:strVal val="0"/>
                                          </p:val>
                                        </p:tav>
                                        <p:tav tm="100000">
                                          <p:val>
                                            <p:strVal val="#ppt_h"/>
                                          </p:val>
                                        </p:tav>
                                      </p:tavLst>
                                    </p:anim>
                                    <p:animEffect transition="in" filter="fade">
                                      <p:cBhvr>
                                        <p:cTn id="37" dur="450"/>
                                        <p:tgtEl>
                                          <p:spTgt spid="31"/>
                                        </p:tgtEl>
                                      </p:cBhvr>
                                    </p:animEffect>
                                  </p:childTnLst>
                                </p:cTn>
                              </p:par>
                              <p:par>
                                <p:cTn id="38" presetID="53" presetClass="entr" presetSubtype="16" fill="hold" grpId="0" nodeType="withEffect">
                                  <p:stCondLst>
                                    <p:cond delay="750"/>
                                  </p:stCondLst>
                                  <p:childTnLst>
                                    <p:set>
                                      <p:cBhvr>
                                        <p:cTn id="39" dur="1" fill="hold">
                                          <p:stCondLst>
                                            <p:cond delay="0"/>
                                          </p:stCondLst>
                                        </p:cTn>
                                        <p:tgtEl>
                                          <p:spTgt spid="36"/>
                                        </p:tgtEl>
                                        <p:attrNameLst>
                                          <p:attrName>style.visibility</p:attrName>
                                        </p:attrNameLst>
                                      </p:cBhvr>
                                      <p:to>
                                        <p:strVal val="visible"/>
                                      </p:to>
                                    </p:set>
                                    <p:anim calcmode="lin" valueType="num">
                                      <p:cBhvr additive="base">
                                        <p:cTn id="40" dur="450" fill="hold"/>
                                        <p:tgtEl>
                                          <p:spTgt spid="36"/>
                                        </p:tgtEl>
                                        <p:attrNameLst>
                                          <p:attrName>ppt_w</p:attrName>
                                        </p:attrNameLst>
                                      </p:cBhvr>
                                      <p:tavLst>
                                        <p:tav tm="0">
                                          <p:val>
                                            <p:strVal val="0"/>
                                          </p:val>
                                        </p:tav>
                                        <p:tav tm="100000">
                                          <p:val>
                                            <p:strVal val="#ppt_w"/>
                                          </p:val>
                                        </p:tav>
                                      </p:tavLst>
                                    </p:anim>
                                    <p:anim calcmode="lin" valueType="num">
                                      <p:cBhvr additive="base">
                                        <p:cTn id="41" dur="450" fill="hold"/>
                                        <p:tgtEl>
                                          <p:spTgt spid="36"/>
                                        </p:tgtEl>
                                        <p:attrNameLst>
                                          <p:attrName>ppt_h</p:attrName>
                                        </p:attrNameLst>
                                      </p:cBhvr>
                                      <p:tavLst>
                                        <p:tav tm="0">
                                          <p:val>
                                            <p:strVal val="0"/>
                                          </p:val>
                                        </p:tav>
                                        <p:tav tm="100000">
                                          <p:val>
                                            <p:strVal val="#ppt_h"/>
                                          </p:val>
                                        </p:tav>
                                      </p:tavLst>
                                    </p:anim>
                                    <p:animEffect transition="in" filter="fade">
                                      <p:cBhvr>
                                        <p:cTn id="42" dur="450"/>
                                        <p:tgtEl>
                                          <p:spTgt spid="36"/>
                                        </p:tgtEl>
                                      </p:cBhvr>
                                    </p:animEffect>
                                  </p:childTnLst>
                                </p:cTn>
                              </p:par>
                              <p:par>
                                <p:cTn id="43" presetID="53" presetClass="entr" presetSubtype="16" fill="hold" grpId="0" nodeType="withEffect">
                                  <p:stCondLst>
                                    <p:cond delay="840"/>
                                  </p:stCondLst>
                                  <p:childTnLst>
                                    <p:set>
                                      <p:cBhvr>
                                        <p:cTn id="44" dur="1" fill="hold">
                                          <p:stCondLst>
                                            <p:cond delay="0"/>
                                          </p:stCondLst>
                                        </p:cTn>
                                        <p:tgtEl>
                                          <p:spTgt spid="41"/>
                                        </p:tgtEl>
                                        <p:attrNameLst>
                                          <p:attrName>style.visibility</p:attrName>
                                        </p:attrNameLst>
                                      </p:cBhvr>
                                      <p:to>
                                        <p:strVal val="visible"/>
                                      </p:to>
                                    </p:set>
                                    <p:anim calcmode="lin" valueType="num">
                                      <p:cBhvr additive="base">
                                        <p:cTn id="45" dur="450" fill="hold"/>
                                        <p:tgtEl>
                                          <p:spTgt spid="41"/>
                                        </p:tgtEl>
                                        <p:attrNameLst>
                                          <p:attrName>ppt_w</p:attrName>
                                        </p:attrNameLst>
                                      </p:cBhvr>
                                      <p:tavLst>
                                        <p:tav tm="0">
                                          <p:val>
                                            <p:strVal val="0"/>
                                          </p:val>
                                        </p:tav>
                                        <p:tav tm="100000">
                                          <p:val>
                                            <p:strVal val="#ppt_w"/>
                                          </p:val>
                                        </p:tav>
                                      </p:tavLst>
                                    </p:anim>
                                    <p:anim calcmode="lin" valueType="num">
                                      <p:cBhvr additive="base">
                                        <p:cTn id="46" dur="450" fill="hold"/>
                                        <p:tgtEl>
                                          <p:spTgt spid="41"/>
                                        </p:tgtEl>
                                        <p:attrNameLst>
                                          <p:attrName>ppt_h</p:attrName>
                                        </p:attrNameLst>
                                      </p:cBhvr>
                                      <p:tavLst>
                                        <p:tav tm="0">
                                          <p:val>
                                            <p:strVal val="0"/>
                                          </p:val>
                                        </p:tav>
                                        <p:tav tm="100000">
                                          <p:val>
                                            <p:strVal val="#ppt_h"/>
                                          </p:val>
                                        </p:tav>
                                      </p:tavLst>
                                    </p:anim>
                                    <p:animEffect transition="in" filter="fade">
                                      <p:cBhvr>
                                        <p:cTn id="47" dur="450"/>
                                        <p:tgtEl>
                                          <p:spTgt spid="41"/>
                                        </p:tgtEl>
                                      </p:cBhvr>
                                    </p:animEffect>
                                  </p:childTnLst>
                                </p:cTn>
                              </p:par>
                              <p:par>
                                <p:cTn id="48" presetID="53" presetClass="entr" presetSubtype="16" fill="hold" grpId="0" nodeType="withEffect">
                                  <p:stCondLst>
                                    <p:cond delay="930"/>
                                  </p:stCondLst>
                                  <p:childTnLst>
                                    <p:set>
                                      <p:cBhvr>
                                        <p:cTn id="49" dur="1" fill="hold">
                                          <p:stCondLst>
                                            <p:cond delay="0"/>
                                          </p:stCondLst>
                                        </p:cTn>
                                        <p:tgtEl>
                                          <p:spTgt spid="46"/>
                                        </p:tgtEl>
                                        <p:attrNameLst>
                                          <p:attrName>style.visibility</p:attrName>
                                        </p:attrNameLst>
                                      </p:cBhvr>
                                      <p:to>
                                        <p:strVal val="visible"/>
                                      </p:to>
                                    </p:set>
                                    <p:anim calcmode="lin" valueType="num">
                                      <p:cBhvr additive="base">
                                        <p:cTn id="50" dur="450" fill="hold"/>
                                        <p:tgtEl>
                                          <p:spTgt spid="46"/>
                                        </p:tgtEl>
                                        <p:attrNameLst>
                                          <p:attrName>ppt_w</p:attrName>
                                        </p:attrNameLst>
                                      </p:cBhvr>
                                      <p:tavLst>
                                        <p:tav tm="0">
                                          <p:val>
                                            <p:strVal val="0"/>
                                          </p:val>
                                        </p:tav>
                                        <p:tav tm="100000">
                                          <p:val>
                                            <p:strVal val="#ppt_w"/>
                                          </p:val>
                                        </p:tav>
                                      </p:tavLst>
                                    </p:anim>
                                    <p:anim calcmode="lin" valueType="num">
                                      <p:cBhvr additive="base">
                                        <p:cTn id="51" dur="450" fill="hold"/>
                                        <p:tgtEl>
                                          <p:spTgt spid="46"/>
                                        </p:tgtEl>
                                        <p:attrNameLst>
                                          <p:attrName>ppt_h</p:attrName>
                                        </p:attrNameLst>
                                      </p:cBhvr>
                                      <p:tavLst>
                                        <p:tav tm="0">
                                          <p:val>
                                            <p:strVal val="0"/>
                                          </p:val>
                                        </p:tav>
                                        <p:tav tm="100000">
                                          <p:val>
                                            <p:strVal val="#ppt_h"/>
                                          </p:val>
                                        </p:tav>
                                      </p:tavLst>
                                    </p:anim>
                                    <p:animEffect transition="in" filter="fade">
                                      <p:cBhvr>
                                        <p:cTn id="52" dur="450"/>
                                        <p:tgtEl>
                                          <p:spTgt spid="46"/>
                                        </p:tgtEl>
                                      </p:cBhvr>
                                    </p:animEffect>
                                  </p:childTnLst>
                                </p:cTn>
                              </p:par>
                              <p:par>
                                <p:cTn id="53" presetID="53" presetClass="entr" presetSubtype="16" fill="hold" grpId="0" nodeType="withEffect">
                                  <p:stCondLst>
                                    <p:cond delay="1020"/>
                                  </p:stCondLst>
                                  <p:childTnLst>
                                    <p:set>
                                      <p:cBhvr>
                                        <p:cTn id="54" dur="1" fill="hold">
                                          <p:stCondLst>
                                            <p:cond delay="0"/>
                                          </p:stCondLst>
                                        </p:cTn>
                                        <p:tgtEl>
                                          <p:spTgt spid="51"/>
                                        </p:tgtEl>
                                        <p:attrNameLst>
                                          <p:attrName>style.visibility</p:attrName>
                                        </p:attrNameLst>
                                      </p:cBhvr>
                                      <p:to>
                                        <p:strVal val="visible"/>
                                      </p:to>
                                    </p:set>
                                    <p:anim calcmode="lin" valueType="num">
                                      <p:cBhvr additive="base">
                                        <p:cTn id="55" dur="450" fill="hold"/>
                                        <p:tgtEl>
                                          <p:spTgt spid="51"/>
                                        </p:tgtEl>
                                        <p:attrNameLst>
                                          <p:attrName>ppt_w</p:attrName>
                                        </p:attrNameLst>
                                      </p:cBhvr>
                                      <p:tavLst>
                                        <p:tav tm="0">
                                          <p:val>
                                            <p:strVal val="0"/>
                                          </p:val>
                                        </p:tav>
                                        <p:tav tm="100000">
                                          <p:val>
                                            <p:strVal val="#ppt_w"/>
                                          </p:val>
                                        </p:tav>
                                      </p:tavLst>
                                    </p:anim>
                                    <p:anim calcmode="lin" valueType="num">
                                      <p:cBhvr additive="base">
                                        <p:cTn id="56" dur="450" fill="hold"/>
                                        <p:tgtEl>
                                          <p:spTgt spid="51"/>
                                        </p:tgtEl>
                                        <p:attrNameLst>
                                          <p:attrName>ppt_h</p:attrName>
                                        </p:attrNameLst>
                                      </p:cBhvr>
                                      <p:tavLst>
                                        <p:tav tm="0">
                                          <p:val>
                                            <p:strVal val="0"/>
                                          </p:val>
                                        </p:tav>
                                        <p:tav tm="100000">
                                          <p:val>
                                            <p:strVal val="#ppt_h"/>
                                          </p:val>
                                        </p:tav>
                                      </p:tavLst>
                                    </p:anim>
                                    <p:animEffect transition="in" filter="fade">
                                      <p:cBhvr>
                                        <p:cTn id="57" dur="450"/>
                                        <p:tgtEl>
                                          <p:spTgt spid="51"/>
                                        </p:tgtEl>
                                      </p:cBhvr>
                                    </p:animEffect>
                                  </p:childTnLst>
                                </p:cTn>
                              </p:par>
                              <p:par>
                                <p:cTn id="58" presetID="53" presetClass="entr" presetSubtype="16" fill="hold" grpId="0" nodeType="withEffect">
                                  <p:stCondLst>
                                    <p:cond delay="1110"/>
                                  </p:stCondLst>
                                  <p:childTnLst>
                                    <p:set>
                                      <p:cBhvr>
                                        <p:cTn id="59" dur="1" fill="hold">
                                          <p:stCondLst>
                                            <p:cond delay="0"/>
                                          </p:stCondLst>
                                        </p:cTn>
                                        <p:tgtEl>
                                          <p:spTgt spid="56"/>
                                        </p:tgtEl>
                                        <p:attrNameLst>
                                          <p:attrName>style.visibility</p:attrName>
                                        </p:attrNameLst>
                                      </p:cBhvr>
                                      <p:to>
                                        <p:strVal val="visible"/>
                                      </p:to>
                                    </p:set>
                                    <p:anim calcmode="lin" valueType="num">
                                      <p:cBhvr additive="base">
                                        <p:cTn id="60" dur="450" fill="hold"/>
                                        <p:tgtEl>
                                          <p:spTgt spid="56"/>
                                        </p:tgtEl>
                                        <p:attrNameLst>
                                          <p:attrName>ppt_w</p:attrName>
                                        </p:attrNameLst>
                                      </p:cBhvr>
                                      <p:tavLst>
                                        <p:tav tm="0">
                                          <p:val>
                                            <p:strVal val="0"/>
                                          </p:val>
                                        </p:tav>
                                        <p:tav tm="100000">
                                          <p:val>
                                            <p:strVal val="#ppt_w"/>
                                          </p:val>
                                        </p:tav>
                                      </p:tavLst>
                                    </p:anim>
                                    <p:anim calcmode="lin" valueType="num">
                                      <p:cBhvr additive="base">
                                        <p:cTn id="61" dur="450" fill="hold"/>
                                        <p:tgtEl>
                                          <p:spTgt spid="56"/>
                                        </p:tgtEl>
                                        <p:attrNameLst>
                                          <p:attrName>ppt_h</p:attrName>
                                        </p:attrNameLst>
                                      </p:cBhvr>
                                      <p:tavLst>
                                        <p:tav tm="0">
                                          <p:val>
                                            <p:strVal val="0"/>
                                          </p:val>
                                        </p:tav>
                                        <p:tav tm="100000">
                                          <p:val>
                                            <p:strVal val="#ppt_h"/>
                                          </p:val>
                                        </p:tav>
                                      </p:tavLst>
                                    </p:anim>
                                    <p:animEffect transition="in" filter="fade">
                                      <p:cBhvr>
                                        <p:cTn id="62" dur="450"/>
                                        <p:tgtEl>
                                          <p:spTgt spid="56"/>
                                        </p:tgtEl>
                                      </p:cBhvr>
                                    </p:animEffect>
                                  </p:childTnLst>
                                </p:cTn>
                              </p:par>
                              <p:par>
                                <p:cTn id="63" presetID="53" presetClass="entr" presetSubtype="16" fill="hold" grpId="0" nodeType="withEffect">
                                  <p:stCondLst>
                                    <p:cond delay="1200"/>
                                  </p:stCondLst>
                                  <p:childTnLst>
                                    <p:set>
                                      <p:cBhvr>
                                        <p:cTn id="64" dur="1" fill="hold">
                                          <p:stCondLst>
                                            <p:cond delay="0"/>
                                          </p:stCondLst>
                                        </p:cTn>
                                        <p:tgtEl>
                                          <p:spTgt spid="61"/>
                                        </p:tgtEl>
                                        <p:attrNameLst>
                                          <p:attrName>style.visibility</p:attrName>
                                        </p:attrNameLst>
                                      </p:cBhvr>
                                      <p:to>
                                        <p:strVal val="visible"/>
                                      </p:to>
                                    </p:set>
                                    <p:anim calcmode="lin" valueType="num">
                                      <p:cBhvr additive="base">
                                        <p:cTn id="65" dur="450" fill="hold"/>
                                        <p:tgtEl>
                                          <p:spTgt spid="61"/>
                                        </p:tgtEl>
                                        <p:attrNameLst>
                                          <p:attrName>ppt_w</p:attrName>
                                        </p:attrNameLst>
                                      </p:cBhvr>
                                      <p:tavLst>
                                        <p:tav tm="0">
                                          <p:val>
                                            <p:strVal val="0"/>
                                          </p:val>
                                        </p:tav>
                                        <p:tav tm="100000">
                                          <p:val>
                                            <p:strVal val="#ppt_w"/>
                                          </p:val>
                                        </p:tav>
                                      </p:tavLst>
                                    </p:anim>
                                    <p:anim calcmode="lin" valueType="num">
                                      <p:cBhvr additive="base">
                                        <p:cTn id="66" dur="450" fill="hold"/>
                                        <p:tgtEl>
                                          <p:spTgt spid="61"/>
                                        </p:tgtEl>
                                        <p:attrNameLst>
                                          <p:attrName>ppt_h</p:attrName>
                                        </p:attrNameLst>
                                      </p:cBhvr>
                                      <p:tavLst>
                                        <p:tav tm="0">
                                          <p:val>
                                            <p:strVal val="0"/>
                                          </p:val>
                                        </p:tav>
                                        <p:tav tm="100000">
                                          <p:val>
                                            <p:strVal val="#ppt_h"/>
                                          </p:val>
                                        </p:tav>
                                      </p:tavLst>
                                    </p:anim>
                                    <p:animEffect transition="in" filter="fade">
                                      <p:cBhvr>
                                        <p:cTn id="67" dur="450"/>
                                        <p:tgtEl>
                                          <p:spTgt spid="61"/>
                                        </p:tgtEl>
                                      </p:cBhvr>
                                    </p:animEffect>
                                  </p:childTnLst>
                                </p:cTn>
                              </p:par>
                              <p:par>
                                <p:cTn id="68" presetID="53" presetClass="entr" presetSubtype="16" fill="hold" grpId="0" nodeType="withEffect">
                                  <p:stCondLst>
                                    <p:cond delay="1290"/>
                                  </p:stCondLst>
                                  <p:childTnLst>
                                    <p:set>
                                      <p:cBhvr>
                                        <p:cTn id="69" dur="1" fill="hold">
                                          <p:stCondLst>
                                            <p:cond delay="0"/>
                                          </p:stCondLst>
                                        </p:cTn>
                                        <p:tgtEl>
                                          <p:spTgt spid="66"/>
                                        </p:tgtEl>
                                        <p:attrNameLst>
                                          <p:attrName>style.visibility</p:attrName>
                                        </p:attrNameLst>
                                      </p:cBhvr>
                                      <p:to>
                                        <p:strVal val="visible"/>
                                      </p:to>
                                    </p:set>
                                    <p:anim calcmode="lin" valueType="num">
                                      <p:cBhvr additive="base">
                                        <p:cTn id="70" dur="450" fill="hold"/>
                                        <p:tgtEl>
                                          <p:spTgt spid="66"/>
                                        </p:tgtEl>
                                        <p:attrNameLst>
                                          <p:attrName>ppt_w</p:attrName>
                                        </p:attrNameLst>
                                      </p:cBhvr>
                                      <p:tavLst>
                                        <p:tav tm="0">
                                          <p:val>
                                            <p:strVal val="0"/>
                                          </p:val>
                                        </p:tav>
                                        <p:tav tm="100000">
                                          <p:val>
                                            <p:strVal val="#ppt_w"/>
                                          </p:val>
                                        </p:tav>
                                      </p:tavLst>
                                    </p:anim>
                                    <p:anim calcmode="lin" valueType="num">
                                      <p:cBhvr additive="base">
                                        <p:cTn id="71" dur="450" fill="hold"/>
                                        <p:tgtEl>
                                          <p:spTgt spid="66"/>
                                        </p:tgtEl>
                                        <p:attrNameLst>
                                          <p:attrName>ppt_h</p:attrName>
                                        </p:attrNameLst>
                                      </p:cBhvr>
                                      <p:tavLst>
                                        <p:tav tm="0">
                                          <p:val>
                                            <p:strVal val="0"/>
                                          </p:val>
                                        </p:tav>
                                        <p:tav tm="100000">
                                          <p:val>
                                            <p:strVal val="#ppt_h"/>
                                          </p:val>
                                        </p:tav>
                                      </p:tavLst>
                                    </p:anim>
                                    <p:animEffect transition="in" filter="fade">
                                      <p:cBhvr>
                                        <p:cTn id="72" dur="450"/>
                                        <p:tgtEl>
                                          <p:spTgt spid="66"/>
                                        </p:tgtEl>
                                      </p:cBhvr>
                                    </p:animEffect>
                                  </p:childTnLst>
                                </p:cTn>
                              </p:par>
                              <p:par>
                                <p:cTn id="73" presetID="53" presetClass="entr" presetSubtype="16" fill="hold" grpId="0" nodeType="withEffect">
                                  <p:stCondLst>
                                    <p:cond delay="1380"/>
                                  </p:stCondLst>
                                  <p:childTnLst>
                                    <p:set>
                                      <p:cBhvr>
                                        <p:cTn id="74" dur="1" fill="hold">
                                          <p:stCondLst>
                                            <p:cond delay="0"/>
                                          </p:stCondLst>
                                        </p:cTn>
                                        <p:tgtEl>
                                          <p:spTgt spid="71"/>
                                        </p:tgtEl>
                                        <p:attrNameLst>
                                          <p:attrName>style.visibility</p:attrName>
                                        </p:attrNameLst>
                                      </p:cBhvr>
                                      <p:to>
                                        <p:strVal val="visible"/>
                                      </p:to>
                                    </p:set>
                                    <p:anim calcmode="lin" valueType="num">
                                      <p:cBhvr additive="base">
                                        <p:cTn id="75" dur="450" fill="hold"/>
                                        <p:tgtEl>
                                          <p:spTgt spid="71"/>
                                        </p:tgtEl>
                                        <p:attrNameLst>
                                          <p:attrName>ppt_w</p:attrName>
                                        </p:attrNameLst>
                                      </p:cBhvr>
                                      <p:tavLst>
                                        <p:tav tm="0">
                                          <p:val>
                                            <p:strVal val="0"/>
                                          </p:val>
                                        </p:tav>
                                        <p:tav tm="100000">
                                          <p:val>
                                            <p:strVal val="#ppt_w"/>
                                          </p:val>
                                        </p:tav>
                                      </p:tavLst>
                                    </p:anim>
                                    <p:anim calcmode="lin" valueType="num">
                                      <p:cBhvr additive="base">
                                        <p:cTn id="76" dur="450" fill="hold"/>
                                        <p:tgtEl>
                                          <p:spTgt spid="71"/>
                                        </p:tgtEl>
                                        <p:attrNameLst>
                                          <p:attrName>ppt_h</p:attrName>
                                        </p:attrNameLst>
                                      </p:cBhvr>
                                      <p:tavLst>
                                        <p:tav tm="0">
                                          <p:val>
                                            <p:strVal val="0"/>
                                          </p:val>
                                        </p:tav>
                                        <p:tav tm="100000">
                                          <p:val>
                                            <p:strVal val="#ppt_h"/>
                                          </p:val>
                                        </p:tav>
                                      </p:tavLst>
                                    </p:anim>
                                    <p:animEffect transition="in" filter="fade">
                                      <p:cBhvr>
                                        <p:cTn id="77" dur="450"/>
                                        <p:tgtEl>
                                          <p:spTgt spid="71"/>
                                        </p:tgtEl>
                                      </p:cBhvr>
                                    </p:animEffect>
                                  </p:childTnLst>
                                </p:cTn>
                              </p:par>
                              <p:par>
                                <p:cTn id="78" presetID="53" presetClass="entr" presetSubtype="16" fill="hold" grpId="0" nodeType="withEffect">
                                  <p:stCondLst>
                                    <p:cond delay="1470"/>
                                  </p:stCondLst>
                                  <p:childTnLst>
                                    <p:set>
                                      <p:cBhvr>
                                        <p:cTn id="79" dur="1" fill="hold">
                                          <p:stCondLst>
                                            <p:cond delay="0"/>
                                          </p:stCondLst>
                                        </p:cTn>
                                        <p:tgtEl>
                                          <p:spTgt spid="76"/>
                                        </p:tgtEl>
                                        <p:attrNameLst>
                                          <p:attrName>style.visibility</p:attrName>
                                        </p:attrNameLst>
                                      </p:cBhvr>
                                      <p:to>
                                        <p:strVal val="visible"/>
                                      </p:to>
                                    </p:set>
                                    <p:anim calcmode="lin" valueType="num">
                                      <p:cBhvr additive="base">
                                        <p:cTn id="80" dur="450" fill="hold"/>
                                        <p:tgtEl>
                                          <p:spTgt spid="76"/>
                                        </p:tgtEl>
                                        <p:attrNameLst>
                                          <p:attrName>ppt_w</p:attrName>
                                        </p:attrNameLst>
                                      </p:cBhvr>
                                      <p:tavLst>
                                        <p:tav tm="0">
                                          <p:val>
                                            <p:strVal val="0"/>
                                          </p:val>
                                        </p:tav>
                                        <p:tav tm="100000">
                                          <p:val>
                                            <p:strVal val="#ppt_w"/>
                                          </p:val>
                                        </p:tav>
                                      </p:tavLst>
                                    </p:anim>
                                    <p:anim calcmode="lin" valueType="num">
                                      <p:cBhvr additive="base">
                                        <p:cTn id="81" dur="450" fill="hold"/>
                                        <p:tgtEl>
                                          <p:spTgt spid="76"/>
                                        </p:tgtEl>
                                        <p:attrNameLst>
                                          <p:attrName>ppt_h</p:attrName>
                                        </p:attrNameLst>
                                      </p:cBhvr>
                                      <p:tavLst>
                                        <p:tav tm="0">
                                          <p:val>
                                            <p:strVal val="0"/>
                                          </p:val>
                                        </p:tav>
                                        <p:tav tm="100000">
                                          <p:val>
                                            <p:strVal val="#ppt_h"/>
                                          </p:val>
                                        </p:tav>
                                      </p:tavLst>
                                    </p:anim>
                                    <p:animEffect transition="in" filter="fade">
                                      <p:cBhvr>
                                        <p:cTn id="82" dur="450"/>
                                        <p:tgtEl>
                                          <p:spTgt spid="76"/>
                                        </p:tgtEl>
                                      </p:cBhvr>
                                    </p:animEffect>
                                  </p:childTnLst>
                                </p:cTn>
                              </p:par>
                              <p:par>
                                <p:cTn id="83" presetID="53" presetClass="entr" presetSubtype="16" fill="hold" grpId="0" nodeType="withEffect">
                                  <p:stCondLst>
                                    <p:cond delay="1660"/>
                                  </p:stCondLst>
                                  <p:childTnLst>
                                    <p:set>
                                      <p:cBhvr>
                                        <p:cTn id="84" dur="1" fill="hold">
                                          <p:stCondLst>
                                            <p:cond delay="0"/>
                                          </p:stCondLst>
                                        </p:cTn>
                                        <p:tgtEl>
                                          <p:spTgt spid="81"/>
                                        </p:tgtEl>
                                        <p:attrNameLst>
                                          <p:attrName>style.visibility</p:attrName>
                                        </p:attrNameLst>
                                      </p:cBhvr>
                                      <p:to>
                                        <p:strVal val="visible"/>
                                      </p:to>
                                    </p:set>
                                    <p:anim calcmode="lin" valueType="num">
                                      <p:cBhvr additive="base">
                                        <p:cTn id="85" dur="600" fill="hold"/>
                                        <p:tgtEl>
                                          <p:spTgt spid="81"/>
                                        </p:tgtEl>
                                        <p:attrNameLst>
                                          <p:attrName>ppt_w</p:attrName>
                                        </p:attrNameLst>
                                      </p:cBhvr>
                                      <p:tavLst>
                                        <p:tav tm="0">
                                          <p:val>
                                            <p:strVal val="0"/>
                                          </p:val>
                                        </p:tav>
                                        <p:tav tm="100000">
                                          <p:val>
                                            <p:strVal val="#ppt_w"/>
                                          </p:val>
                                        </p:tav>
                                      </p:tavLst>
                                    </p:anim>
                                    <p:anim calcmode="lin" valueType="num">
                                      <p:cBhvr additive="base">
                                        <p:cTn id="86" dur="600" fill="hold"/>
                                        <p:tgtEl>
                                          <p:spTgt spid="81"/>
                                        </p:tgtEl>
                                        <p:attrNameLst>
                                          <p:attrName>ppt_h</p:attrName>
                                        </p:attrNameLst>
                                      </p:cBhvr>
                                      <p:tavLst>
                                        <p:tav tm="0">
                                          <p:val>
                                            <p:strVal val="0"/>
                                          </p:val>
                                        </p:tav>
                                        <p:tav tm="100000">
                                          <p:val>
                                            <p:strVal val="#ppt_h"/>
                                          </p:val>
                                        </p:tav>
                                      </p:tavLst>
                                    </p:anim>
                                    <p:animEffect transition="in" filter="fade">
                                      <p:cBhvr>
                                        <p:cTn id="87" dur="6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60A"/>
        </a:solidFill>
        <a:effectLst/>
      </p:bgPr>
    </p:bg>
    <p:spTree>
      <p:nvGrpSpPr>
        <p:cNvPr id="1" name=""/>
        <p:cNvGrpSpPr/>
        <p:nvPr/>
      </p:nvGrpSpPr>
      <p:grpSpPr/>
      <p:pic>
        <p:nvPicPr>
          <p:cNvPr id="2" name="!!bg" descr="bg.png"/>
          <p:cNvPicPr>
            <a:picLocks noChangeAspect="1"/>
          </p:cNvPicPr>
          <p:nvPr/>
        </p:nvPicPr>
        <p:blipFill>
          <a:blip r:embed="rId2"/>
          <a:stretch>
            <a:fillRect/>
          </a:stretch>
        </p:blipFill>
        <p:spPr>
          <a:xfrm>
            <a:off x="0" y="0"/>
            <a:ext cx="12191695" cy="6858000"/>
          </a:xfrm>
          <a:prstGeom prst="rect">
            <a:avLst/>
          </a:prstGeom>
        </p:spPr>
      </p:pic>
      <p:pic>
        <p:nvPicPr>
          <p:cNvPr id="3" name="!!orb_violet" descr="orb_violet.png"/>
          <p:cNvPicPr>
            <a:picLocks noChangeAspect="1"/>
          </p:cNvPicPr>
          <p:nvPr/>
        </p:nvPicPr>
        <p:blipFill>
          <a:blip r:embed="rId3"/>
          <a:stretch>
            <a:fillRect/>
          </a:stretch>
        </p:blipFill>
        <p:spPr>
          <a:xfrm>
            <a:off x="8229600" y="-2743200"/>
            <a:ext cx="6400800" cy="6400800"/>
          </a:xfrm>
          <a:prstGeom prst="rect">
            <a:avLst/>
          </a:prstGeom>
        </p:spPr>
      </p:pic>
      <p:pic>
        <p:nvPicPr>
          <p:cNvPr id="4" name="!!orb_cyan" descr="orb_cyan.png"/>
          <p:cNvPicPr>
            <a:picLocks noChangeAspect="1"/>
          </p:cNvPicPr>
          <p:nvPr/>
        </p:nvPicPr>
        <p:blipFill>
          <a:blip r:embed="rId4"/>
          <a:stretch>
            <a:fillRect/>
          </a:stretch>
        </p:blipFill>
        <p:spPr>
          <a:xfrm>
            <a:off x="-2286000" y="3200400"/>
            <a:ext cx="5943600" cy="5943600"/>
          </a:xfrm>
          <a:prstGeom prst="rect">
            <a:avLst/>
          </a:prstGeom>
        </p:spPr>
      </p:pic>
      <p:pic>
        <p:nvPicPr>
          <p:cNvPr id="5" name="!!orb_rose" descr="orb_rose.png"/>
          <p:cNvPicPr>
            <a:picLocks noChangeAspect="1"/>
          </p:cNvPicPr>
          <p:nvPr/>
        </p:nvPicPr>
        <p:blipFill>
          <a:blip r:embed="rId5"/>
          <a:stretch>
            <a:fillRect/>
          </a:stretch>
        </p:blipFill>
        <p:spPr>
          <a:xfrm>
            <a:off x="4114800" y="4572000"/>
            <a:ext cx="3657600" cy="3657600"/>
          </a:xfrm>
          <a:prstGeom prst="rect">
            <a:avLst/>
          </a:prstGeom>
        </p:spPr>
      </p:pic>
      <p:pic>
        <p:nvPicPr>
          <p:cNvPr id="6" name="!!footlogo" descr="logo.png"/>
          <p:cNvPicPr>
            <a:picLocks noChangeAspect="1"/>
          </p:cNvPicPr>
          <p:nvPr/>
        </p:nvPicPr>
        <p:blipFill>
          <a:blip r:embed="rId6"/>
          <a:stretch>
            <a:fillRect/>
          </a:stretch>
        </p:blipFill>
        <p:spPr>
          <a:xfrm>
            <a:off x="548640" y="6327648"/>
            <a:ext cx="237744" cy="237744"/>
          </a:xfrm>
          <a:prstGeom prst="rect">
            <a:avLst/>
          </a:prstGeom>
        </p:spPr>
      </p:pic>
      <p:sp>
        <p:nvSpPr>
          <p:cNvPr id="7" name="!!footname"/>
          <p:cNvSpPr txBox="1"/>
          <p:nvPr/>
        </p:nvSpPr>
        <p:spPr>
          <a:xfrm>
            <a:off x="868680" y="6327648"/>
            <a:ext cx="2743200" cy="237744"/>
          </a:xfrm>
          <a:prstGeom prst="rect">
            <a:avLst/>
          </a:prstGeom>
          <a:noFill/>
        </p:spPr>
        <p:txBody>
          <a:bodyPr wrap="square" lIns="0" rIns="0" tIns="0" bIns="0" anchor="ctr">
            <a:spAutoFit/>
          </a:bodyPr>
          <a:lstStyle/>
          <a:p>
            <a:pPr algn="l"/>
            <a:r>
              <a:rPr sz="1100" b="1" i="0">
                <a:solidFill>
                  <a:srgbClr val="8B90A0"/>
                </a:solidFill>
                <a:latin typeface="Arial"/>
              </a:rPr>
              <a:t>Haven</a:t>
            </a:r>
          </a:p>
        </p:txBody>
      </p:sp>
      <p:sp>
        <p:nvSpPr>
          <p:cNvPr id="8" name="!!pageno"/>
          <p:cNvSpPr txBox="1"/>
          <p:nvPr/>
        </p:nvSpPr>
        <p:spPr>
          <a:xfrm>
            <a:off x="9814255" y="6327648"/>
            <a:ext cx="1828800" cy="237744"/>
          </a:xfrm>
          <a:prstGeom prst="rect">
            <a:avLst/>
          </a:prstGeom>
          <a:noFill/>
        </p:spPr>
        <p:txBody>
          <a:bodyPr wrap="square" lIns="0" rIns="0" tIns="0" bIns="0" anchor="ctr">
            <a:spAutoFit/>
          </a:bodyPr>
          <a:lstStyle/>
          <a:p>
            <a:pPr algn="r"/>
            <a:r>
              <a:rPr sz="1100" b="0" i="0">
                <a:solidFill>
                  <a:srgbClr val="8B90A0"/>
                </a:solidFill>
                <a:latin typeface="Arial"/>
              </a:rPr>
              <a:t>09 / 10</a:t>
            </a:r>
          </a:p>
        </p:txBody>
      </p:sp>
      <p:sp>
        <p:nvSpPr>
          <p:cNvPr id="9" name="text_412"/>
          <p:cNvSpPr txBox="1"/>
          <p:nvPr/>
        </p:nvSpPr>
        <p:spPr>
          <a:xfrm>
            <a:off x="548640" y="457200"/>
            <a:ext cx="7315200" cy="274320"/>
          </a:xfrm>
          <a:prstGeom prst="rect">
            <a:avLst/>
          </a:prstGeom>
          <a:noFill/>
        </p:spPr>
        <p:txBody>
          <a:bodyPr wrap="square" lIns="0" rIns="0" tIns="0" bIns="0" anchor="t">
            <a:spAutoFit/>
          </a:bodyPr>
          <a:lstStyle/>
          <a:p>
            <a:pPr algn="l"/>
            <a:r>
              <a:rPr sz="1200" b="1" i="0" spc="300">
                <a:solidFill>
                  <a:srgbClr val="22D3EE"/>
                </a:solidFill>
                <a:latin typeface="Arial"/>
              </a:rPr>
              <a:t>BUSINESS</a:t>
            </a:r>
          </a:p>
        </p:txBody>
      </p:sp>
      <p:sp>
        <p:nvSpPr>
          <p:cNvPr id="10" name="text_413"/>
          <p:cNvSpPr txBox="1"/>
          <p:nvPr/>
        </p:nvSpPr>
        <p:spPr>
          <a:xfrm>
            <a:off x="548640" y="749808"/>
            <a:ext cx="11064240" cy="685800"/>
          </a:xfrm>
          <a:prstGeom prst="rect">
            <a:avLst/>
          </a:prstGeom>
          <a:noFill/>
        </p:spPr>
        <p:txBody>
          <a:bodyPr wrap="square" lIns="0" rIns="0" tIns="0" bIns="0" anchor="t">
            <a:spAutoFit/>
          </a:bodyPr>
          <a:lstStyle/>
          <a:p>
            <a:pPr algn="l"/>
            <a:r>
              <a:rPr sz="3400" b="1" i="0">
                <a:solidFill>
                  <a:srgbClr val="FFFFFF"/>
                </a:solidFill>
                <a:latin typeface="Arial"/>
              </a:rPr>
              <a:t>Business model and traction</a:t>
            </a:r>
          </a:p>
        </p:txBody>
      </p:sp>
      <p:grpSp>
        <p:nvGrpSpPr>
          <p:cNvPr id="11" name="group_414"/>
          <p:cNvGrpSpPr/>
          <p:nvPr/>
        </p:nvGrpSpPr>
        <p:grpSpPr>
          <a:xfrm>
            <a:off x="548640" y="1691640"/>
            <a:ext cx="1901952" cy="2240280"/>
            <a:chOff x="548640" y="1691640"/>
            <a:chExt cx="1901952" cy="2240280"/>
          </a:xfrm>
        </p:grpSpPr>
        <p:sp>
          <p:nvSpPr>
            <p:cNvPr id="12" name="shape_415"/>
            <p:cNvSpPr/>
            <p:nvPr/>
          </p:nvSpPr>
          <p:spPr>
            <a:xfrm>
              <a:off x="548640" y="1691640"/>
              <a:ext cx="1901952" cy="2240280"/>
            </a:xfrm>
            <a:prstGeom prst="roundRect">
              <a:avLst>
                <a:gd name="adj" fmla="val 8653"/>
              </a:avLst>
            </a:prstGeom>
            <a:solidFill>
              <a:srgbClr val="FFFFFF">
                <a:alpha val="5000"/>
              </a:srgbClr>
            </a:solidFill>
            <a:ln w="9525">
              <a:solidFill>
                <a:srgbClr val="FFFFFF">
                  <a:alpha val="10000"/>
                </a:srgbClr>
              </a:solidFill>
            </a:ln>
          </p:spPr>
          <p:txBody>
            <a:bodyPr rtlCol="0" anchor="ctr"/>
            <a:lstStyle/>
            <a:p/>
          </p:txBody>
        </p:sp>
        <p:sp>
          <p:nvSpPr>
            <p:cNvPr id="13" name="text_416"/>
            <p:cNvSpPr txBox="1"/>
            <p:nvPr/>
          </p:nvSpPr>
          <p:spPr>
            <a:xfrm>
              <a:off x="749808" y="1892808"/>
              <a:ext cx="1499616" cy="274320"/>
            </a:xfrm>
            <a:prstGeom prst="rect">
              <a:avLst/>
            </a:prstGeom>
            <a:noFill/>
          </p:spPr>
          <p:txBody>
            <a:bodyPr wrap="square" lIns="0" rIns="0" tIns="0" bIns="0" anchor="t">
              <a:spAutoFit/>
            </a:bodyPr>
            <a:lstStyle/>
            <a:p>
              <a:pPr algn="l"/>
              <a:r>
                <a:rPr sz="1400" b="1" i="0">
                  <a:solidFill>
                    <a:srgbClr val="E6E8EF"/>
                  </a:solidFill>
                  <a:latin typeface="Arial"/>
                </a:rPr>
                <a:t>Starter</a:t>
              </a:r>
            </a:p>
          </p:txBody>
        </p:sp>
        <p:sp>
          <p:nvSpPr>
            <p:cNvPr id="14" name="text_417"/>
            <p:cNvSpPr txBox="1"/>
            <p:nvPr/>
          </p:nvSpPr>
          <p:spPr>
            <a:xfrm>
              <a:off x="749808" y="2331720"/>
              <a:ext cx="1627632" cy="640080"/>
            </a:xfrm>
            <a:prstGeom prst="rect">
              <a:avLst/>
            </a:prstGeom>
            <a:noFill/>
          </p:spPr>
          <p:txBody>
            <a:bodyPr wrap="square" lIns="0" rIns="0" tIns="0" bIns="0" anchor="ctr">
              <a:spAutoFit/>
            </a:bodyPr>
            <a:lstStyle/>
            <a:p>
              <a:pPr algn="l"/>
              <a:r>
                <a:rPr sz="3200" b="1" i="0">
                  <a:solidFill>
                    <a:srgbClr val="FFFFFF"/>
                  </a:solidFill>
                  <a:latin typeface="Arial"/>
                </a:rPr>
                <a:t>$49</a:t>
              </a:r>
              <a:r>
                <a:rPr sz="1300" b="0" i="0">
                  <a:solidFill>
                    <a:srgbClr val="8B90A0"/>
                  </a:solidFill>
                  <a:latin typeface="Arial"/>
                </a:rPr>
                <a:t>/mo</a:t>
              </a:r>
            </a:p>
          </p:txBody>
        </p:sp>
        <p:sp>
          <p:nvSpPr>
            <p:cNvPr id="15" name="text_418"/>
            <p:cNvSpPr txBox="1"/>
            <p:nvPr/>
          </p:nvSpPr>
          <p:spPr>
            <a:xfrm>
              <a:off x="749808" y="3108960"/>
              <a:ext cx="1499616" cy="640080"/>
            </a:xfrm>
            <a:prstGeom prst="rect">
              <a:avLst/>
            </a:prstGeom>
            <a:noFill/>
          </p:spPr>
          <p:txBody>
            <a:bodyPr wrap="square" lIns="0" rIns="0" tIns="0" bIns="0" anchor="t">
              <a:spAutoFit/>
            </a:bodyPr>
            <a:lstStyle/>
            <a:p>
              <a:pPr algn="l"/>
              <a:r>
                <a:rPr sz="1200" b="0" i="0">
                  <a:solidFill>
                    <a:srgbClr val="8B90A0"/>
                  </a:solidFill>
                  <a:latin typeface="Arial"/>
                </a:rPr>
                <a:t>Up to 1k members</a:t>
              </a:r>
            </a:p>
          </p:txBody>
        </p:sp>
      </p:grpSp>
      <p:grpSp>
        <p:nvGrpSpPr>
          <p:cNvPr id="16" name="group_419"/>
          <p:cNvGrpSpPr/>
          <p:nvPr/>
        </p:nvGrpSpPr>
        <p:grpSpPr>
          <a:xfrm>
            <a:off x="2633472" y="1691640"/>
            <a:ext cx="1901952" cy="2240280"/>
            <a:chOff x="2633472" y="1691640"/>
            <a:chExt cx="1901952" cy="2240280"/>
          </a:xfrm>
        </p:grpSpPr>
        <p:sp>
          <p:nvSpPr>
            <p:cNvPr id="17" name="shape_420"/>
            <p:cNvSpPr/>
            <p:nvPr/>
          </p:nvSpPr>
          <p:spPr>
            <a:xfrm>
              <a:off x="2633472" y="1691640"/>
              <a:ext cx="1901952" cy="2240280"/>
            </a:xfrm>
            <a:prstGeom prst="roundRect">
              <a:avLst>
                <a:gd name="adj" fmla="val 8653"/>
              </a:avLst>
            </a:prstGeom>
            <a:solidFill>
              <a:srgbClr val="22D3EE">
                <a:alpha val="8000"/>
              </a:srgbClr>
            </a:solidFill>
            <a:ln w="15875">
              <a:solidFill>
                <a:srgbClr val="22D3EE">
                  <a:alpha val="70000"/>
                </a:srgbClr>
              </a:solidFill>
            </a:ln>
            <a:effectLst>
              <a:glow rad="152400">
                <a:srgbClr val="22D3EE">
                  <a:alpha val="25000"/>
                </a:srgbClr>
              </a:glow>
            </a:effectLst>
          </p:spPr>
          <p:txBody>
            <a:bodyPr rtlCol="0" anchor="ctr"/>
            <a:lstStyle/>
            <a:p/>
          </p:txBody>
        </p:sp>
        <p:grpSp>
          <p:nvGrpSpPr>
            <p:cNvPr id="18" name="group_421"/>
            <p:cNvGrpSpPr/>
            <p:nvPr/>
          </p:nvGrpSpPr>
          <p:grpSpPr>
            <a:xfrm>
              <a:off x="3547872" y="1883664"/>
              <a:ext cx="804672" cy="256032"/>
              <a:chOff x="3547872" y="1883664"/>
              <a:chExt cx="804672" cy="256032"/>
            </a:xfrm>
          </p:grpSpPr>
          <p:sp>
            <p:nvSpPr>
              <p:cNvPr id="19" name="shape_422"/>
              <p:cNvSpPr/>
              <p:nvPr/>
            </p:nvSpPr>
            <p:spPr>
              <a:xfrm>
                <a:off x="3547872" y="1883664"/>
                <a:ext cx="804672" cy="256032"/>
              </a:xfrm>
              <a:prstGeom prst="roundRect">
                <a:avLst>
                  <a:gd name="adj" fmla="val 50000"/>
                </a:avLst>
              </a:prstGeom>
              <a:solidFill>
                <a:srgbClr val="22D3EE"/>
              </a:solidFill>
              <a:ln>
                <a:noFill/>
              </a:ln>
            </p:spPr>
            <p:txBody>
              <a:bodyPr rtlCol="0" anchor="ctr"/>
              <a:lstStyle/>
              <a:p/>
            </p:txBody>
          </p:sp>
          <p:sp>
            <p:nvSpPr>
              <p:cNvPr id="20" name="text_423"/>
              <p:cNvSpPr txBox="1"/>
              <p:nvPr/>
            </p:nvSpPr>
            <p:spPr>
              <a:xfrm>
                <a:off x="3547872" y="1883664"/>
                <a:ext cx="804672" cy="256032"/>
              </a:xfrm>
              <a:prstGeom prst="rect">
                <a:avLst/>
              </a:prstGeom>
              <a:noFill/>
            </p:spPr>
            <p:txBody>
              <a:bodyPr wrap="square" lIns="0" rIns="0" tIns="0" bIns="0" anchor="ctr">
                <a:spAutoFit/>
              </a:bodyPr>
              <a:lstStyle/>
              <a:p>
                <a:pPr algn="ctr"/>
                <a:r>
                  <a:rPr sz="900" b="1" i="0">
                    <a:solidFill>
                      <a:srgbClr val="0B0D14"/>
                    </a:solidFill>
                    <a:latin typeface="Arial"/>
                  </a:rPr>
                  <a:t>POPULAR</a:t>
                </a:r>
              </a:p>
            </p:txBody>
          </p:sp>
        </p:grpSp>
        <p:sp>
          <p:nvSpPr>
            <p:cNvPr id="21" name="text_424"/>
            <p:cNvSpPr txBox="1"/>
            <p:nvPr/>
          </p:nvSpPr>
          <p:spPr>
            <a:xfrm>
              <a:off x="2834640" y="1892808"/>
              <a:ext cx="1499616" cy="274320"/>
            </a:xfrm>
            <a:prstGeom prst="rect">
              <a:avLst/>
            </a:prstGeom>
            <a:noFill/>
          </p:spPr>
          <p:txBody>
            <a:bodyPr wrap="square" lIns="0" rIns="0" tIns="0" bIns="0" anchor="t">
              <a:spAutoFit/>
            </a:bodyPr>
            <a:lstStyle/>
            <a:p>
              <a:pPr algn="l"/>
              <a:r>
                <a:rPr sz="1400" b="1" i="0">
                  <a:solidFill>
                    <a:srgbClr val="22D3EE"/>
                  </a:solidFill>
                  <a:latin typeface="Arial"/>
                </a:rPr>
                <a:t>Growth</a:t>
              </a:r>
            </a:p>
          </p:txBody>
        </p:sp>
        <p:sp>
          <p:nvSpPr>
            <p:cNvPr id="22" name="text_425"/>
            <p:cNvSpPr txBox="1"/>
            <p:nvPr/>
          </p:nvSpPr>
          <p:spPr>
            <a:xfrm>
              <a:off x="2834640" y="2331720"/>
              <a:ext cx="1627632" cy="640080"/>
            </a:xfrm>
            <a:prstGeom prst="rect">
              <a:avLst/>
            </a:prstGeom>
            <a:noFill/>
          </p:spPr>
          <p:txBody>
            <a:bodyPr wrap="square" lIns="0" rIns="0" tIns="0" bIns="0" anchor="ctr">
              <a:spAutoFit/>
            </a:bodyPr>
            <a:lstStyle/>
            <a:p>
              <a:pPr algn="l"/>
              <a:r>
                <a:rPr sz="3200" b="1" i="0">
                  <a:solidFill>
                    <a:srgbClr val="FFFFFF"/>
                  </a:solidFill>
                  <a:latin typeface="Arial"/>
                </a:rPr>
                <a:t>$299</a:t>
              </a:r>
              <a:r>
                <a:rPr sz="1300" b="0" i="0">
                  <a:solidFill>
                    <a:srgbClr val="8B90A0"/>
                  </a:solidFill>
                  <a:latin typeface="Arial"/>
                </a:rPr>
                <a:t>/mo</a:t>
              </a:r>
            </a:p>
          </p:txBody>
        </p:sp>
        <p:sp>
          <p:nvSpPr>
            <p:cNvPr id="23" name="text_426"/>
            <p:cNvSpPr txBox="1"/>
            <p:nvPr/>
          </p:nvSpPr>
          <p:spPr>
            <a:xfrm>
              <a:off x="2834640" y="3108960"/>
              <a:ext cx="1499616" cy="640080"/>
            </a:xfrm>
            <a:prstGeom prst="rect">
              <a:avLst/>
            </a:prstGeom>
            <a:noFill/>
          </p:spPr>
          <p:txBody>
            <a:bodyPr wrap="square" lIns="0" rIns="0" tIns="0" bIns="0" anchor="t">
              <a:spAutoFit/>
            </a:bodyPr>
            <a:lstStyle/>
            <a:p>
              <a:pPr algn="l"/>
              <a:r>
                <a:rPr sz="1200" b="0" i="0">
                  <a:solidFill>
                    <a:srgbClr val="8B90A0"/>
                  </a:solidFill>
                  <a:latin typeface="Arial"/>
                </a:rPr>
                <a:t>Up to 25k members</a:t>
              </a:r>
            </a:p>
          </p:txBody>
        </p:sp>
      </p:grpSp>
      <p:grpSp>
        <p:nvGrpSpPr>
          <p:cNvPr id="24" name="group_427"/>
          <p:cNvGrpSpPr/>
          <p:nvPr/>
        </p:nvGrpSpPr>
        <p:grpSpPr>
          <a:xfrm>
            <a:off x="4718304" y="1691640"/>
            <a:ext cx="1901952" cy="2240280"/>
            <a:chOff x="4718304" y="1691640"/>
            <a:chExt cx="1901952" cy="2240280"/>
          </a:xfrm>
        </p:grpSpPr>
        <p:sp>
          <p:nvSpPr>
            <p:cNvPr id="25" name="shape_428"/>
            <p:cNvSpPr/>
            <p:nvPr/>
          </p:nvSpPr>
          <p:spPr>
            <a:xfrm>
              <a:off x="4718304" y="1691640"/>
              <a:ext cx="1901952" cy="2240280"/>
            </a:xfrm>
            <a:prstGeom prst="roundRect">
              <a:avLst>
                <a:gd name="adj" fmla="val 8653"/>
              </a:avLst>
            </a:prstGeom>
            <a:solidFill>
              <a:srgbClr val="FFFFFF">
                <a:alpha val="5000"/>
              </a:srgbClr>
            </a:solidFill>
            <a:ln w="9525">
              <a:solidFill>
                <a:srgbClr val="FFFFFF">
                  <a:alpha val="10000"/>
                </a:srgbClr>
              </a:solidFill>
            </a:ln>
          </p:spPr>
          <p:txBody>
            <a:bodyPr rtlCol="0" anchor="ctr"/>
            <a:lstStyle/>
            <a:p/>
          </p:txBody>
        </p:sp>
        <p:sp>
          <p:nvSpPr>
            <p:cNvPr id="26" name="text_429"/>
            <p:cNvSpPr txBox="1"/>
            <p:nvPr/>
          </p:nvSpPr>
          <p:spPr>
            <a:xfrm>
              <a:off x="4919472" y="1892808"/>
              <a:ext cx="1499616" cy="274320"/>
            </a:xfrm>
            <a:prstGeom prst="rect">
              <a:avLst/>
            </a:prstGeom>
            <a:noFill/>
          </p:spPr>
          <p:txBody>
            <a:bodyPr wrap="square" lIns="0" rIns="0" tIns="0" bIns="0" anchor="t">
              <a:spAutoFit/>
            </a:bodyPr>
            <a:lstStyle/>
            <a:p>
              <a:pPr algn="l"/>
              <a:r>
                <a:rPr sz="1400" b="1" i="0">
                  <a:solidFill>
                    <a:srgbClr val="A78BFA"/>
                  </a:solidFill>
                  <a:latin typeface="Arial"/>
                </a:rPr>
                <a:t>Enterprise</a:t>
              </a:r>
            </a:p>
          </p:txBody>
        </p:sp>
        <p:sp>
          <p:nvSpPr>
            <p:cNvPr id="27" name="text_430"/>
            <p:cNvSpPr txBox="1"/>
            <p:nvPr/>
          </p:nvSpPr>
          <p:spPr>
            <a:xfrm>
              <a:off x="4919472" y="2331720"/>
              <a:ext cx="1627632" cy="640080"/>
            </a:xfrm>
            <a:prstGeom prst="rect">
              <a:avLst/>
            </a:prstGeom>
            <a:noFill/>
          </p:spPr>
          <p:txBody>
            <a:bodyPr wrap="square" lIns="0" rIns="0" tIns="0" bIns="0" anchor="ctr">
              <a:spAutoFit/>
            </a:bodyPr>
            <a:lstStyle/>
            <a:p>
              <a:pPr algn="l"/>
              <a:r>
                <a:rPr sz="2600" b="1" i="0">
                  <a:solidFill>
                    <a:srgbClr val="FFFFFF"/>
                  </a:solidFill>
                  <a:latin typeface="Arial"/>
                </a:rPr>
                <a:t>Custom</a:t>
              </a:r>
              <a:r>
                <a:rPr sz="1300" b="0" i="0">
                  <a:solidFill>
                    <a:srgbClr val="8B90A0"/>
                  </a:solidFill>
                  <a:latin typeface="Arial"/>
                </a:rPr>
                <a:t/>
              </a:r>
            </a:p>
          </p:txBody>
        </p:sp>
        <p:sp>
          <p:nvSpPr>
            <p:cNvPr id="28" name="text_431"/>
            <p:cNvSpPr txBox="1"/>
            <p:nvPr/>
          </p:nvSpPr>
          <p:spPr>
            <a:xfrm>
              <a:off x="4919472" y="3108960"/>
              <a:ext cx="1499616" cy="640080"/>
            </a:xfrm>
            <a:prstGeom prst="rect">
              <a:avLst/>
            </a:prstGeom>
            <a:noFill/>
          </p:spPr>
          <p:txBody>
            <a:bodyPr wrap="square" lIns="0" rIns="0" tIns="0" bIns="0" anchor="t">
              <a:spAutoFit/>
            </a:bodyPr>
            <a:lstStyle/>
            <a:p>
              <a:pPr algn="l"/>
              <a:r>
                <a:rPr sz="1200" b="0" i="0">
                  <a:solidFill>
                    <a:srgbClr val="8B90A0"/>
                  </a:solidFill>
                  <a:latin typeface="Arial"/>
                </a:rPr>
                <a:t>Platforms &amp; networks</a:t>
              </a:r>
            </a:p>
          </p:txBody>
        </p:sp>
      </p:grpSp>
      <p:grpSp>
        <p:nvGrpSpPr>
          <p:cNvPr id="29" name="group_432"/>
          <p:cNvGrpSpPr/>
          <p:nvPr/>
        </p:nvGrpSpPr>
        <p:grpSpPr>
          <a:xfrm>
            <a:off x="6812280" y="1691640"/>
            <a:ext cx="4828032" cy="2240280"/>
            <a:chOff x="6812280" y="1691640"/>
            <a:chExt cx="4828032" cy="2240280"/>
          </a:xfrm>
        </p:grpSpPr>
        <p:sp>
          <p:nvSpPr>
            <p:cNvPr id="30" name="shape_433"/>
            <p:cNvSpPr/>
            <p:nvPr/>
          </p:nvSpPr>
          <p:spPr>
            <a:xfrm>
              <a:off x="6812280" y="1691640"/>
              <a:ext cx="4828032" cy="2240280"/>
            </a:xfrm>
            <a:prstGeom prst="roundRect">
              <a:avLst>
                <a:gd name="adj" fmla="val 7346"/>
              </a:avLst>
            </a:prstGeom>
            <a:solidFill>
              <a:srgbClr val="FFFFFF">
                <a:alpha val="5000"/>
              </a:srgbClr>
            </a:solidFill>
            <a:ln w="9525">
              <a:solidFill>
                <a:srgbClr val="FFFFFF">
                  <a:alpha val="10000"/>
                </a:srgbClr>
              </a:solidFill>
            </a:ln>
          </p:spPr>
          <p:txBody>
            <a:bodyPr rtlCol="0" anchor="ctr"/>
            <a:lstStyle/>
            <a:p/>
          </p:txBody>
        </p:sp>
        <p:sp>
          <p:nvSpPr>
            <p:cNvPr id="31" name="text_434"/>
            <p:cNvSpPr txBox="1"/>
            <p:nvPr/>
          </p:nvSpPr>
          <p:spPr>
            <a:xfrm>
              <a:off x="7086600" y="1892808"/>
              <a:ext cx="4279392" cy="274320"/>
            </a:xfrm>
            <a:prstGeom prst="rect">
              <a:avLst/>
            </a:prstGeom>
            <a:noFill/>
          </p:spPr>
          <p:txBody>
            <a:bodyPr wrap="square" lIns="0" rIns="0" tIns="0" bIns="0" anchor="t">
              <a:spAutoFit/>
            </a:bodyPr>
            <a:lstStyle/>
            <a:p>
              <a:pPr algn="l"/>
              <a:r>
                <a:rPr sz="1100" b="1" i="0" spc="200">
                  <a:solidFill>
                    <a:srgbClr val="22D3EE"/>
                  </a:solidFill>
                  <a:latin typeface="Arial"/>
                </a:rPr>
                <a:t>COST PER INCIDENT</a:t>
              </a:r>
            </a:p>
          </p:txBody>
        </p:sp>
        <p:sp>
          <p:nvSpPr>
            <p:cNvPr id="32" name="text_435"/>
            <p:cNvSpPr txBox="1"/>
            <p:nvPr/>
          </p:nvSpPr>
          <p:spPr>
            <a:xfrm>
              <a:off x="7086600" y="2258568"/>
              <a:ext cx="2011680" cy="274320"/>
            </a:xfrm>
            <a:prstGeom prst="rect">
              <a:avLst/>
            </a:prstGeom>
            <a:noFill/>
          </p:spPr>
          <p:txBody>
            <a:bodyPr wrap="square" lIns="0" rIns="0" tIns="0" bIns="0" anchor="t">
              <a:spAutoFit/>
            </a:bodyPr>
            <a:lstStyle/>
            <a:p>
              <a:pPr algn="l"/>
              <a:r>
                <a:rPr sz="1300" b="0" i="0">
                  <a:solidFill>
                    <a:srgbClr val="E6E8EF"/>
                  </a:solidFill>
                  <a:latin typeface="Arial"/>
                </a:rPr>
                <a:t>Human moderator</a:t>
              </a:r>
            </a:p>
          </p:txBody>
        </p:sp>
        <p:sp>
          <p:nvSpPr>
            <p:cNvPr id="33" name="text_436"/>
            <p:cNvSpPr txBox="1"/>
            <p:nvPr/>
          </p:nvSpPr>
          <p:spPr>
            <a:xfrm>
              <a:off x="10451592" y="2258568"/>
              <a:ext cx="914400" cy="274320"/>
            </a:xfrm>
            <a:prstGeom prst="rect">
              <a:avLst/>
            </a:prstGeom>
            <a:noFill/>
          </p:spPr>
          <p:txBody>
            <a:bodyPr wrap="square" lIns="0" rIns="0" tIns="0" bIns="0" anchor="t">
              <a:spAutoFit/>
            </a:bodyPr>
            <a:lstStyle/>
            <a:p>
              <a:pPr algn="r"/>
              <a:r>
                <a:rPr sz="1500" b="1" i="0">
                  <a:solidFill>
                    <a:srgbClr val="F43F5E"/>
                  </a:solidFill>
                  <a:latin typeface="Arial"/>
                </a:rPr>
                <a:t>$4.20</a:t>
              </a:r>
            </a:p>
          </p:txBody>
        </p:sp>
        <p:sp>
          <p:nvSpPr>
            <p:cNvPr id="34" name="shape_437"/>
            <p:cNvSpPr/>
            <p:nvPr/>
          </p:nvSpPr>
          <p:spPr>
            <a:xfrm>
              <a:off x="7086600" y="2587752"/>
              <a:ext cx="4279392" cy="237744"/>
            </a:xfrm>
            <a:prstGeom prst="roundRect">
              <a:avLst>
                <a:gd name="adj" fmla="val 50000"/>
              </a:avLst>
            </a:prstGeom>
            <a:solidFill>
              <a:srgbClr val="F43F5E">
                <a:alpha val="85000"/>
              </a:srgbClr>
            </a:solidFill>
            <a:ln>
              <a:noFill/>
            </a:ln>
          </p:spPr>
          <p:txBody>
            <a:bodyPr rtlCol="0" anchor="ctr"/>
            <a:lstStyle/>
            <a:p/>
          </p:txBody>
        </p:sp>
        <p:sp>
          <p:nvSpPr>
            <p:cNvPr id="35" name="text_438"/>
            <p:cNvSpPr txBox="1"/>
            <p:nvPr/>
          </p:nvSpPr>
          <p:spPr>
            <a:xfrm>
              <a:off x="7086600" y="2971800"/>
              <a:ext cx="2011680" cy="274320"/>
            </a:xfrm>
            <a:prstGeom prst="rect">
              <a:avLst/>
            </a:prstGeom>
            <a:noFill/>
          </p:spPr>
          <p:txBody>
            <a:bodyPr wrap="square" lIns="0" rIns="0" tIns="0" bIns="0" anchor="t">
              <a:spAutoFit/>
            </a:bodyPr>
            <a:lstStyle/>
            <a:p>
              <a:pPr algn="l"/>
              <a:r>
                <a:rPr sz="1300" b="0" i="0">
                  <a:solidFill>
                    <a:srgbClr val="E6E8EF"/>
                  </a:solidFill>
                  <a:latin typeface="Arial"/>
                </a:rPr>
                <a:t>Haven</a:t>
              </a:r>
            </a:p>
          </p:txBody>
        </p:sp>
        <p:sp>
          <p:nvSpPr>
            <p:cNvPr id="36" name="text_439"/>
            <p:cNvSpPr txBox="1"/>
            <p:nvPr/>
          </p:nvSpPr>
          <p:spPr>
            <a:xfrm>
              <a:off x="10451592" y="2971800"/>
              <a:ext cx="914400" cy="274320"/>
            </a:xfrm>
            <a:prstGeom prst="rect">
              <a:avLst/>
            </a:prstGeom>
            <a:noFill/>
          </p:spPr>
          <p:txBody>
            <a:bodyPr wrap="square" lIns="0" rIns="0" tIns="0" bIns="0" anchor="t">
              <a:spAutoFit/>
            </a:bodyPr>
            <a:lstStyle/>
            <a:p>
              <a:pPr algn="r"/>
              <a:r>
                <a:rPr sz="1500" b="1" i="0">
                  <a:solidFill>
                    <a:srgbClr val="10B981"/>
                  </a:solidFill>
                  <a:latin typeface="Arial"/>
                </a:rPr>
                <a:t>~$0.01</a:t>
              </a:r>
            </a:p>
          </p:txBody>
        </p:sp>
        <p:sp>
          <p:nvSpPr>
            <p:cNvPr id="37" name="shape_440"/>
            <p:cNvSpPr/>
            <p:nvPr/>
          </p:nvSpPr>
          <p:spPr>
            <a:xfrm>
              <a:off x="7086600" y="3300984"/>
              <a:ext cx="109728" cy="237744"/>
            </a:xfrm>
            <a:prstGeom prst="roundRect">
              <a:avLst>
                <a:gd name="adj" fmla="val 50000"/>
              </a:avLst>
            </a:prstGeom>
            <a:solidFill>
              <a:srgbClr val="10B981"/>
            </a:solidFill>
            <a:ln>
              <a:noFill/>
            </a:ln>
          </p:spPr>
          <p:txBody>
            <a:bodyPr rtlCol="0" anchor="ctr"/>
            <a:lstStyle/>
            <a:p/>
          </p:txBody>
        </p:sp>
        <p:sp>
          <p:nvSpPr>
            <p:cNvPr id="38" name="text_441"/>
            <p:cNvSpPr txBox="1"/>
            <p:nvPr/>
          </p:nvSpPr>
          <p:spPr>
            <a:xfrm>
              <a:off x="7315200" y="3282696"/>
              <a:ext cx="4005072" cy="274320"/>
            </a:xfrm>
            <a:prstGeom prst="rect">
              <a:avLst/>
            </a:prstGeom>
            <a:noFill/>
          </p:spPr>
          <p:txBody>
            <a:bodyPr wrap="square" lIns="0" rIns="0" tIns="0" bIns="0" anchor="ctr">
              <a:spAutoFit/>
            </a:bodyPr>
            <a:lstStyle/>
            <a:p>
              <a:pPr algn="l"/>
              <a:r>
                <a:rPr sz="1200" b="0" i="0">
                  <a:solidFill>
                    <a:srgbClr val="8B90A0"/>
                  </a:solidFill>
                  <a:latin typeface="Arial"/>
                </a:rPr>
                <a:t>~400× cheaper, on duty 24/7</a:t>
              </a:r>
            </a:p>
          </p:txBody>
        </p:sp>
      </p:grpSp>
      <p:grpSp>
        <p:nvGrpSpPr>
          <p:cNvPr id="39" name="group_442"/>
          <p:cNvGrpSpPr/>
          <p:nvPr/>
        </p:nvGrpSpPr>
        <p:grpSpPr>
          <a:xfrm>
            <a:off x="548640" y="4160520"/>
            <a:ext cx="1901952" cy="1920240"/>
            <a:chOff x="548640" y="4160520"/>
            <a:chExt cx="1901952" cy="1920240"/>
          </a:xfrm>
        </p:grpSpPr>
        <p:sp>
          <p:nvSpPr>
            <p:cNvPr id="40" name="shape_443"/>
            <p:cNvSpPr/>
            <p:nvPr/>
          </p:nvSpPr>
          <p:spPr>
            <a:xfrm>
              <a:off x="548640" y="4160520"/>
              <a:ext cx="1901952" cy="1920240"/>
            </a:xfrm>
            <a:prstGeom prst="roundRect">
              <a:avLst>
                <a:gd name="adj" fmla="val 8653"/>
              </a:avLst>
            </a:prstGeom>
            <a:solidFill>
              <a:srgbClr val="A78BFA">
                <a:alpha val="6000"/>
              </a:srgbClr>
            </a:solidFill>
            <a:ln w="9525">
              <a:solidFill>
                <a:srgbClr val="A78BFA">
                  <a:alpha val="30000"/>
                </a:srgbClr>
              </a:solidFill>
            </a:ln>
          </p:spPr>
          <p:txBody>
            <a:bodyPr rtlCol="0" anchor="ctr"/>
            <a:lstStyle/>
            <a:p/>
          </p:txBody>
        </p:sp>
        <p:sp>
          <p:nvSpPr>
            <p:cNvPr id="41" name="text_444"/>
            <p:cNvSpPr txBox="1"/>
            <p:nvPr/>
          </p:nvSpPr>
          <p:spPr>
            <a:xfrm>
              <a:off x="749808" y="4389120"/>
              <a:ext cx="1536192" cy="594360"/>
            </a:xfrm>
            <a:prstGeom prst="rect">
              <a:avLst/>
            </a:prstGeom>
            <a:noFill/>
          </p:spPr>
          <p:txBody>
            <a:bodyPr wrap="square" lIns="0" rIns="0" tIns="0" bIns="0" anchor="t">
              <a:spAutoFit/>
            </a:bodyPr>
            <a:lstStyle/>
            <a:p>
              <a:pPr algn="l"/>
              <a:r>
                <a:rPr sz="3000" b="1" i="0">
                  <a:solidFill>
                    <a:srgbClr val="A78BFA"/>
                  </a:solidFill>
                  <a:latin typeface="Arial"/>
                </a:rPr>
                <a:t>$15B+</a:t>
              </a:r>
            </a:p>
          </p:txBody>
        </p:sp>
        <p:sp>
          <p:nvSpPr>
            <p:cNvPr id="42" name="text_445"/>
            <p:cNvSpPr txBox="1"/>
            <p:nvPr/>
          </p:nvSpPr>
          <p:spPr>
            <a:xfrm>
              <a:off x="749808" y="5074920"/>
              <a:ext cx="1499616" cy="822960"/>
            </a:xfrm>
            <a:prstGeom prst="rect">
              <a:avLst/>
            </a:prstGeom>
            <a:noFill/>
          </p:spPr>
          <p:txBody>
            <a:bodyPr wrap="square" lIns="0" rIns="0" tIns="0" bIns="0" anchor="t">
              <a:spAutoFit/>
            </a:bodyPr>
            <a:lstStyle/>
            <a:p>
              <a:pPr algn="l"/>
              <a:r>
                <a:rPr sz="1200" b="0" i="0">
                  <a:solidFill>
                    <a:srgbClr val="8B90A0"/>
                  </a:solidFill>
                  <a:latin typeface="Arial"/>
                </a:rPr>
                <a:t>trust &amp; safety market</a:t>
              </a:r>
            </a:p>
          </p:txBody>
        </p:sp>
      </p:grpSp>
      <p:grpSp>
        <p:nvGrpSpPr>
          <p:cNvPr id="43" name="group_446"/>
          <p:cNvGrpSpPr/>
          <p:nvPr/>
        </p:nvGrpSpPr>
        <p:grpSpPr>
          <a:xfrm>
            <a:off x="2633472" y="4160520"/>
            <a:ext cx="1901952" cy="1920240"/>
            <a:chOff x="2633472" y="4160520"/>
            <a:chExt cx="1901952" cy="1920240"/>
          </a:xfrm>
        </p:grpSpPr>
        <p:sp>
          <p:nvSpPr>
            <p:cNvPr id="44" name="shape_447"/>
            <p:cNvSpPr/>
            <p:nvPr/>
          </p:nvSpPr>
          <p:spPr>
            <a:xfrm>
              <a:off x="2633472" y="4160520"/>
              <a:ext cx="1901952" cy="1920240"/>
            </a:xfrm>
            <a:prstGeom prst="roundRect">
              <a:avLst>
                <a:gd name="adj" fmla="val 8653"/>
              </a:avLst>
            </a:prstGeom>
            <a:solidFill>
              <a:srgbClr val="22D3EE">
                <a:alpha val="6000"/>
              </a:srgbClr>
            </a:solidFill>
            <a:ln w="9525">
              <a:solidFill>
                <a:srgbClr val="22D3EE">
                  <a:alpha val="30000"/>
                </a:srgbClr>
              </a:solidFill>
            </a:ln>
          </p:spPr>
          <p:txBody>
            <a:bodyPr rtlCol="0" anchor="ctr"/>
            <a:lstStyle/>
            <a:p/>
          </p:txBody>
        </p:sp>
        <p:sp>
          <p:nvSpPr>
            <p:cNvPr id="45" name="text_448"/>
            <p:cNvSpPr txBox="1"/>
            <p:nvPr/>
          </p:nvSpPr>
          <p:spPr>
            <a:xfrm>
              <a:off x="2834640" y="4389120"/>
              <a:ext cx="1536192" cy="594360"/>
            </a:xfrm>
            <a:prstGeom prst="rect">
              <a:avLst/>
            </a:prstGeom>
            <a:noFill/>
          </p:spPr>
          <p:txBody>
            <a:bodyPr wrap="square" lIns="0" rIns="0" tIns="0" bIns="0" anchor="t">
              <a:spAutoFit/>
            </a:bodyPr>
            <a:lstStyle/>
            <a:p>
              <a:pPr algn="l"/>
              <a:r>
                <a:rPr sz="3000" b="1" i="0">
                  <a:solidFill>
                    <a:srgbClr val="22D3EE"/>
                  </a:solidFill>
                  <a:latin typeface="Arial"/>
                </a:rPr>
                <a:t>30M+</a:t>
              </a:r>
            </a:p>
          </p:txBody>
        </p:sp>
        <p:sp>
          <p:nvSpPr>
            <p:cNvPr id="46" name="text_449"/>
            <p:cNvSpPr txBox="1"/>
            <p:nvPr/>
          </p:nvSpPr>
          <p:spPr>
            <a:xfrm>
              <a:off x="2834640" y="5074920"/>
              <a:ext cx="1499616" cy="822960"/>
            </a:xfrm>
            <a:prstGeom prst="rect">
              <a:avLst/>
            </a:prstGeom>
            <a:noFill/>
          </p:spPr>
          <p:txBody>
            <a:bodyPr wrap="square" lIns="0" rIns="0" tIns="0" bIns="0" anchor="t">
              <a:spAutoFit/>
            </a:bodyPr>
            <a:lstStyle/>
            <a:p>
              <a:pPr algn="l"/>
              <a:r>
                <a:rPr sz="1200" b="0" i="0">
                  <a:solidFill>
                    <a:srgbClr val="8B90A0"/>
                  </a:solidFill>
                  <a:latin typeface="Arial"/>
                </a:rPr>
                <a:t>communities to serve</a:t>
              </a:r>
            </a:p>
          </p:txBody>
        </p:sp>
      </p:grpSp>
      <p:grpSp>
        <p:nvGrpSpPr>
          <p:cNvPr id="47" name="group_450"/>
          <p:cNvGrpSpPr/>
          <p:nvPr/>
        </p:nvGrpSpPr>
        <p:grpSpPr>
          <a:xfrm>
            <a:off x="4718304" y="4160520"/>
            <a:ext cx="1901952" cy="1920240"/>
            <a:chOff x="4718304" y="4160520"/>
            <a:chExt cx="1901952" cy="1920240"/>
          </a:xfrm>
        </p:grpSpPr>
        <p:sp>
          <p:nvSpPr>
            <p:cNvPr id="48" name="shape_451"/>
            <p:cNvSpPr/>
            <p:nvPr/>
          </p:nvSpPr>
          <p:spPr>
            <a:xfrm>
              <a:off x="4718304" y="4160520"/>
              <a:ext cx="1901952" cy="1920240"/>
            </a:xfrm>
            <a:prstGeom prst="roundRect">
              <a:avLst>
                <a:gd name="adj" fmla="val 8653"/>
              </a:avLst>
            </a:prstGeom>
            <a:solidFill>
              <a:srgbClr val="10B981">
                <a:alpha val="6000"/>
              </a:srgbClr>
            </a:solidFill>
            <a:ln w="9525">
              <a:solidFill>
                <a:srgbClr val="10B981">
                  <a:alpha val="30000"/>
                </a:srgbClr>
              </a:solidFill>
            </a:ln>
          </p:spPr>
          <p:txBody>
            <a:bodyPr rtlCol="0" anchor="ctr"/>
            <a:lstStyle/>
            <a:p/>
          </p:txBody>
        </p:sp>
        <p:sp>
          <p:nvSpPr>
            <p:cNvPr id="49" name="text_452"/>
            <p:cNvSpPr txBox="1"/>
            <p:nvPr/>
          </p:nvSpPr>
          <p:spPr>
            <a:xfrm>
              <a:off x="4919472" y="4389120"/>
              <a:ext cx="1536192" cy="594360"/>
            </a:xfrm>
            <a:prstGeom prst="rect">
              <a:avLst/>
            </a:prstGeom>
            <a:noFill/>
          </p:spPr>
          <p:txBody>
            <a:bodyPr wrap="square" lIns="0" rIns="0" tIns="0" bIns="0" anchor="t">
              <a:spAutoFit/>
            </a:bodyPr>
            <a:lstStyle/>
            <a:p>
              <a:pPr algn="l"/>
              <a:r>
                <a:rPr sz="3000" b="1" i="0">
                  <a:solidFill>
                    <a:srgbClr val="10B981"/>
                  </a:solidFill>
                  <a:latin typeface="Arial"/>
                </a:rPr>
                <a:t>40k</a:t>
              </a:r>
            </a:p>
          </p:txBody>
        </p:sp>
        <p:sp>
          <p:nvSpPr>
            <p:cNvPr id="50" name="text_453"/>
            <p:cNvSpPr txBox="1"/>
            <p:nvPr/>
          </p:nvSpPr>
          <p:spPr>
            <a:xfrm>
              <a:off x="4919472" y="5074920"/>
              <a:ext cx="1499616" cy="822960"/>
            </a:xfrm>
            <a:prstGeom prst="rect">
              <a:avLst/>
            </a:prstGeom>
            <a:noFill/>
          </p:spPr>
          <p:txBody>
            <a:bodyPr wrap="square" lIns="0" rIns="0" tIns="0" bIns="0" anchor="t">
              <a:spAutoFit/>
            </a:bodyPr>
            <a:lstStyle/>
            <a:p>
              <a:pPr algn="l"/>
              <a:r>
                <a:rPr sz="1200" b="0" i="0">
                  <a:solidFill>
                    <a:srgbClr val="8B90A0"/>
                  </a:solidFill>
                  <a:latin typeface="Arial"/>
                </a:rPr>
                <a:t>members protected across 4 demo communities</a:t>
              </a:r>
            </a:p>
          </p:txBody>
        </p:sp>
      </p:grpSp>
      <p:sp>
        <p:nvSpPr>
          <p:cNvPr id="51" name="shape_454"/>
          <p:cNvSpPr/>
          <p:nvPr/>
        </p:nvSpPr>
        <p:spPr>
          <a:xfrm>
            <a:off x="6812280" y="4160520"/>
            <a:ext cx="4828032" cy="1920240"/>
          </a:xfrm>
          <a:prstGeom prst="roundRect">
            <a:avLst>
              <a:gd name="adj" fmla="val 8571"/>
            </a:avLst>
          </a:prstGeom>
          <a:solidFill>
            <a:srgbClr val="FFFFFF">
              <a:alpha val="5000"/>
            </a:srgbClr>
          </a:solidFill>
          <a:ln w="9525">
            <a:solidFill>
              <a:srgbClr val="FFFFFF">
                <a:alpha val="10000"/>
              </a:srgbClr>
            </a:solidFill>
          </a:ln>
        </p:spPr>
        <p:txBody>
          <a:bodyPr rtlCol="0" anchor="ctr"/>
          <a:lstStyle/>
          <a:p/>
        </p:txBody>
      </p:sp>
      <p:sp>
        <p:nvSpPr>
          <p:cNvPr id="52" name="text_455"/>
          <p:cNvSpPr txBox="1"/>
          <p:nvPr/>
        </p:nvSpPr>
        <p:spPr>
          <a:xfrm>
            <a:off x="7086600" y="4306824"/>
            <a:ext cx="4279392" cy="274320"/>
          </a:xfrm>
          <a:prstGeom prst="rect">
            <a:avLst/>
          </a:prstGeom>
          <a:noFill/>
        </p:spPr>
        <p:txBody>
          <a:bodyPr wrap="square" lIns="0" rIns="0" tIns="0" bIns="0" anchor="t">
            <a:spAutoFit/>
          </a:bodyPr>
          <a:lstStyle/>
          <a:p>
            <a:pPr algn="l"/>
            <a:r>
              <a:rPr sz="1100" b="1" i="0" spc="200">
                <a:solidFill>
                  <a:srgbClr val="22D3EE"/>
                </a:solidFill>
                <a:latin typeface="Arial"/>
              </a:rPr>
              <a:t>MRR PROJECTION (ILLUSTRATIVE)</a:t>
            </a:r>
          </a:p>
        </p:txBody>
      </p:sp>
      <p:graphicFrame>
        <p:nvGraphicFramePr>
          <p:cNvPr id="53" name="chart_456"/>
          <p:cNvGraphicFramePr>
            <a:graphicFrameLocks noGrp="1"/>
          </p:cNvGraphicFramePr>
          <p:nvPr/>
        </p:nvGraphicFramePr>
        <p:xfrm>
          <a:off x="6949440" y="4544568"/>
          <a:ext cx="4553712" cy="1463040"/>
        </p:xfrm>
        <a:graphic>
          <a:graphicData uri="http://schemas.openxmlformats.org/drawingml/2006/chart">
            <c:chart xmlns:c="http://schemas.openxmlformats.org/drawingml/2006/chart" r:id="rId7"/>
          </a:graphicData>
        </a:graphic>
      </p:graphicFrame>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600"/>
                                        <p:tgtEl>
                                          <p:spTgt spid="10"/>
                                        </p:tgtEl>
                                      </p:cBhvr>
                                    </p:animEffect>
                                    <p:anim calcmode="lin" valueType="num">
                                      <p:cBhvr additive="base">
                                        <p:cTn id="11" dur="600" fill="hold"/>
                                        <p:tgtEl>
                                          <p:spTgt spid="10"/>
                                        </p:tgtEl>
                                        <p:attrNameLst>
                                          <p:attrName>ppt_x</p:attrName>
                                        </p:attrNameLst>
                                      </p:cBhvr>
                                      <p:tavLst>
                                        <p:tav tm="0">
                                          <p:val>
                                            <p:strVal val="#ppt_x"/>
                                          </p:val>
                                        </p:tav>
                                        <p:tav tm="100000">
                                          <p:val>
                                            <p:strVal val="#ppt_x"/>
                                          </p:val>
                                        </p:tav>
                                      </p:tavLst>
                                    </p:anim>
                                    <p:anim calcmode="lin" valueType="num">
                                      <p:cBhvr additive="base">
                                        <p:cTn id="12" dur="600" fill="hold"/>
                                        <p:tgtEl>
                                          <p:spTgt spid="10"/>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35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600"/>
                                        <p:tgtEl>
                                          <p:spTgt spid="11"/>
                                        </p:tgtEl>
                                      </p:cBhvr>
                                    </p:animEffect>
                                    <p:anim calcmode="lin" valueType="num">
                                      <p:cBhvr additive="base">
                                        <p:cTn id="16" dur="600" fill="hold"/>
                                        <p:tgtEl>
                                          <p:spTgt spid="11"/>
                                        </p:tgtEl>
                                        <p:attrNameLst>
                                          <p:attrName>ppt_x</p:attrName>
                                        </p:attrNameLst>
                                      </p:cBhvr>
                                      <p:tavLst>
                                        <p:tav tm="0">
                                          <p:val>
                                            <p:strVal val="#ppt_x"/>
                                          </p:val>
                                        </p:tav>
                                        <p:tav tm="100000">
                                          <p:val>
                                            <p:strVal val="#ppt_x"/>
                                          </p:val>
                                        </p:tav>
                                      </p:tavLst>
                                    </p:anim>
                                    <p:anim calcmode="lin" valueType="num">
                                      <p:cBhvr additive="base">
                                        <p:cTn id="17" dur="600" fill="hold"/>
                                        <p:tgtEl>
                                          <p:spTgt spid="11"/>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50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600"/>
                                        <p:tgtEl>
                                          <p:spTgt spid="16"/>
                                        </p:tgtEl>
                                      </p:cBhvr>
                                    </p:animEffect>
                                    <p:anim calcmode="lin" valueType="num">
                                      <p:cBhvr additive="base">
                                        <p:cTn id="21" dur="600" fill="hold"/>
                                        <p:tgtEl>
                                          <p:spTgt spid="16"/>
                                        </p:tgtEl>
                                        <p:attrNameLst>
                                          <p:attrName>ppt_x</p:attrName>
                                        </p:attrNameLst>
                                      </p:cBhvr>
                                      <p:tavLst>
                                        <p:tav tm="0">
                                          <p:val>
                                            <p:strVal val="#ppt_x"/>
                                          </p:val>
                                        </p:tav>
                                        <p:tav tm="100000">
                                          <p:val>
                                            <p:strVal val="#ppt_x"/>
                                          </p:val>
                                        </p:tav>
                                      </p:tavLst>
                                    </p:anim>
                                    <p:anim calcmode="lin" valueType="num">
                                      <p:cBhvr additive="base">
                                        <p:cTn id="22" dur="600" fill="hold"/>
                                        <p:tgtEl>
                                          <p:spTgt spid="16"/>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65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600"/>
                                        <p:tgtEl>
                                          <p:spTgt spid="24"/>
                                        </p:tgtEl>
                                      </p:cBhvr>
                                    </p:animEffect>
                                    <p:anim calcmode="lin" valueType="num">
                                      <p:cBhvr additive="base">
                                        <p:cTn id="26" dur="600" fill="hold"/>
                                        <p:tgtEl>
                                          <p:spTgt spid="24"/>
                                        </p:tgtEl>
                                        <p:attrNameLst>
                                          <p:attrName>ppt_x</p:attrName>
                                        </p:attrNameLst>
                                      </p:cBhvr>
                                      <p:tavLst>
                                        <p:tav tm="0">
                                          <p:val>
                                            <p:strVal val="#ppt_x"/>
                                          </p:val>
                                        </p:tav>
                                        <p:tav tm="100000">
                                          <p:val>
                                            <p:strVal val="#ppt_x"/>
                                          </p:val>
                                        </p:tav>
                                      </p:tavLst>
                                    </p:anim>
                                    <p:anim calcmode="lin" valueType="num">
                                      <p:cBhvr additive="base">
                                        <p:cTn id="27" dur="600" fill="hold"/>
                                        <p:tgtEl>
                                          <p:spTgt spid="24"/>
                                        </p:tgtEl>
                                        <p:attrNameLst>
                                          <p:attrName>ppt_y</p:attrName>
                                        </p:attrNameLst>
                                      </p:cBhvr>
                                      <p:tavLst>
                                        <p:tav tm="0">
                                          <p:val>
                                            <p:strVal val="#ppt_y+.06"/>
                                          </p:val>
                                        </p:tav>
                                        <p:tav tm="100000">
                                          <p:val>
                                            <p:strVal val="#ppt_y"/>
                                          </p:val>
                                        </p:tav>
                                      </p:tavLst>
                                    </p:anim>
                                  </p:childTnLst>
                                </p:cTn>
                              </p:par>
                              <p:par>
                                <p:cTn id="28" presetID="47" presetClass="entr" presetSubtype="0" fill="hold" grpId="0" nodeType="withEffect">
                                  <p:stCondLst>
                                    <p:cond delay="80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600"/>
                                        <p:tgtEl>
                                          <p:spTgt spid="29"/>
                                        </p:tgtEl>
                                      </p:cBhvr>
                                    </p:animEffect>
                                    <p:anim calcmode="lin" valueType="num">
                                      <p:cBhvr additive="base">
                                        <p:cTn id="31" dur="600" fill="hold"/>
                                        <p:tgtEl>
                                          <p:spTgt spid="29"/>
                                        </p:tgtEl>
                                        <p:attrNameLst>
                                          <p:attrName>ppt_x</p:attrName>
                                        </p:attrNameLst>
                                      </p:cBhvr>
                                      <p:tavLst>
                                        <p:tav tm="0">
                                          <p:val>
                                            <p:strVal val="#ppt_x-.06"/>
                                          </p:val>
                                        </p:tav>
                                        <p:tav tm="100000">
                                          <p:val>
                                            <p:strVal val="#ppt_x"/>
                                          </p:val>
                                        </p:tav>
                                      </p:tavLst>
                                    </p:anim>
                                    <p:anim calcmode="lin" valueType="num">
                                      <p:cBhvr additive="base">
                                        <p:cTn id="32" dur="600" fill="hold"/>
                                        <p:tgtEl>
                                          <p:spTgt spid="29"/>
                                        </p:tgtEl>
                                        <p:attrNameLst>
                                          <p:attrName>ppt_y</p:attrName>
                                        </p:attrNameLst>
                                      </p:cBhvr>
                                      <p:tavLst>
                                        <p:tav tm="0">
                                          <p:val>
                                            <p:strVal val="#ppt_y"/>
                                          </p:val>
                                        </p:tav>
                                        <p:tav tm="100000">
                                          <p:val>
                                            <p:strVal val="#ppt_y"/>
                                          </p:val>
                                        </p:tav>
                                      </p:tavLst>
                                    </p:anim>
                                  </p:childTnLst>
                                </p:cTn>
                              </p:par>
                              <p:par>
                                <p:cTn id="33" presetID="42" presetClass="entr" presetSubtype="0" fill="hold" grpId="0" nodeType="withEffect">
                                  <p:stCondLst>
                                    <p:cond delay="110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600"/>
                                        <p:tgtEl>
                                          <p:spTgt spid="39"/>
                                        </p:tgtEl>
                                      </p:cBhvr>
                                    </p:animEffect>
                                    <p:anim calcmode="lin" valueType="num">
                                      <p:cBhvr additive="base">
                                        <p:cTn id="36" dur="600" fill="hold"/>
                                        <p:tgtEl>
                                          <p:spTgt spid="39"/>
                                        </p:tgtEl>
                                        <p:attrNameLst>
                                          <p:attrName>ppt_x</p:attrName>
                                        </p:attrNameLst>
                                      </p:cBhvr>
                                      <p:tavLst>
                                        <p:tav tm="0">
                                          <p:val>
                                            <p:strVal val="#ppt_x"/>
                                          </p:val>
                                        </p:tav>
                                        <p:tav tm="100000">
                                          <p:val>
                                            <p:strVal val="#ppt_x"/>
                                          </p:val>
                                        </p:tav>
                                      </p:tavLst>
                                    </p:anim>
                                    <p:anim calcmode="lin" valueType="num">
                                      <p:cBhvr additive="base">
                                        <p:cTn id="37" dur="600" fill="hold"/>
                                        <p:tgtEl>
                                          <p:spTgt spid="39"/>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1250"/>
                                  </p:stCondLst>
                                  <p:childTnLst>
                                    <p:set>
                                      <p:cBhvr>
                                        <p:cTn id="39" dur="1" fill="hold">
                                          <p:stCondLst>
                                            <p:cond delay="0"/>
                                          </p:stCondLst>
                                        </p:cTn>
                                        <p:tgtEl>
                                          <p:spTgt spid="43"/>
                                        </p:tgtEl>
                                        <p:attrNameLst>
                                          <p:attrName>style.visibility</p:attrName>
                                        </p:attrNameLst>
                                      </p:cBhvr>
                                      <p:to>
                                        <p:strVal val="visible"/>
                                      </p:to>
                                    </p:set>
                                    <p:animEffect transition="in" filter="fade">
                                      <p:cBhvr>
                                        <p:cTn id="40" dur="600"/>
                                        <p:tgtEl>
                                          <p:spTgt spid="43"/>
                                        </p:tgtEl>
                                      </p:cBhvr>
                                    </p:animEffect>
                                    <p:anim calcmode="lin" valueType="num">
                                      <p:cBhvr additive="base">
                                        <p:cTn id="41" dur="600" fill="hold"/>
                                        <p:tgtEl>
                                          <p:spTgt spid="43"/>
                                        </p:tgtEl>
                                        <p:attrNameLst>
                                          <p:attrName>ppt_x</p:attrName>
                                        </p:attrNameLst>
                                      </p:cBhvr>
                                      <p:tavLst>
                                        <p:tav tm="0">
                                          <p:val>
                                            <p:strVal val="#ppt_x"/>
                                          </p:val>
                                        </p:tav>
                                        <p:tav tm="100000">
                                          <p:val>
                                            <p:strVal val="#ppt_x"/>
                                          </p:val>
                                        </p:tav>
                                      </p:tavLst>
                                    </p:anim>
                                    <p:anim calcmode="lin" valueType="num">
                                      <p:cBhvr additive="base">
                                        <p:cTn id="42" dur="600" fill="hold"/>
                                        <p:tgtEl>
                                          <p:spTgt spid="43"/>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1400"/>
                                  </p:stCondLst>
                                  <p:childTnLst>
                                    <p:set>
                                      <p:cBhvr>
                                        <p:cTn id="44" dur="1" fill="hold">
                                          <p:stCondLst>
                                            <p:cond delay="0"/>
                                          </p:stCondLst>
                                        </p:cTn>
                                        <p:tgtEl>
                                          <p:spTgt spid="47"/>
                                        </p:tgtEl>
                                        <p:attrNameLst>
                                          <p:attrName>style.visibility</p:attrName>
                                        </p:attrNameLst>
                                      </p:cBhvr>
                                      <p:to>
                                        <p:strVal val="visible"/>
                                      </p:to>
                                    </p:set>
                                    <p:animEffect transition="in" filter="fade">
                                      <p:cBhvr>
                                        <p:cTn id="45" dur="600"/>
                                        <p:tgtEl>
                                          <p:spTgt spid="47"/>
                                        </p:tgtEl>
                                      </p:cBhvr>
                                    </p:animEffect>
                                    <p:anim calcmode="lin" valueType="num">
                                      <p:cBhvr additive="base">
                                        <p:cTn id="46" dur="600" fill="hold"/>
                                        <p:tgtEl>
                                          <p:spTgt spid="47"/>
                                        </p:tgtEl>
                                        <p:attrNameLst>
                                          <p:attrName>ppt_x</p:attrName>
                                        </p:attrNameLst>
                                      </p:cBhvr>
                                      <p:tavLst>
                                        <p:tav tm="0">
                                          <p:val>
                                            <p:strVal val="#ppt_x"/>
                                          </p:val>
                                        </p:tav>
                                        <p:tav tm="100000">
                                          <p:val>
                                            <p:strVal val="#ppt_x"/>
                                          </p:val>
                                        </p:tav>
                                      </p:tavLst>
                                    </p:anim>
                                    <p:anim calcmode="lin" valueType="num">
                                      <p:cBhvr additive="base">
                                        <p:cTn id="47" dur="600" fill="hold"/>
                                        <p:tgtEl>
                                          <p:spTgt spid="47"/>
                                        </p:tgtEl>
                                        <p:attrNameLst>
                                          <p:attrName>ppt_y</p:attrName>
                                        </p:attrNameLst>
                                      </p:cBhvr>
                                      <p:tavLst>
                                        <p:tav tm="0">
                                          <p:val>
                                            <p:strVal val="#ppt_y+.06"/>
                                          </p:val>
                                        </p:tav>
                                        <p:tav tm="100000">
                                          <p:val>
                                            <p:strVal val="#ppt_y"/>
                                          </p:val>
                                        </p:tav>
                                      </p:tavLst>
                                    </p:anim>
                                  </p:childTnLst>
                                </p:cTn>
                              </p:par>
                              <p:par>
                                <p:cTn id="48" presetID="10" presetClass="entr" presetSubtype="0" fill="hold" grpId="0" nodeType="withEffect">
                                  <p:stCondLst>
                                    <p:cond delay="1500"/>
                                  </p:stCondLst>
                                  <p:childTnLst>
                                    <p:set>
                                      <p:cBhvr>
                                        <p:cTn id="49" dur="1" fill="hold">
                                          <p:stCondLst>
                                            <p:cond delay="0"/>
                                          </p:stCondLst>
                                        </p:cTn>
                                        <p:tgtEl>
                                          <p:spTgt spid="51"/>
                                        </p:tgtEl>
                                        <p:attrNameLst>
                                          <p:attrName>style.visibility</p:attrName>
                                        </p:attrNameLst>
                                      </p:cBhvr>
                                      <p:to>
                                        <p:strVal val="visible"/>
                                      </p:to>
                                    </p:set>
                                    <p:animEffect transition="in" filter="fade">
                                      <p:cBhvr>
                                        <p:cTn id="50" dur="600"/>
                                        <p:tgtEl>
                                          <p:spTgt spid="51"/>
                                        </p:tgtEl>
                                      </p:cBhvr>
                                    </p:animEffect>
                                  </p:childTnLst>
                                </p:cTn>
                              </p:par>
                              <p:par>
                                <p:cTn id="51" presetID="10" presetClass="entr" presetSubtype="0" fill="hold" grpId="0" nodeType="withEffect">
                                  <p:stCondLst>
                                    <p:cond delay="1550"/>
                                  </p:stCondLst>
                                  <p:childTnLst>
                                    <p:set>
                                      <p:cBhvr>
                                        <p:cTn id="52" dur="1" fill="hold">
                                          <p:stCondLst>
                                            <p:cond delay="0"/>
                                          </p:stCondLst>
                                        </p:cTn>
                                        <p:tgtEl>
                                          <p:spTgt spid="52"/>
                                        </p:tgtEl>
                                        <p:attrNameLst>
                                          <p:attrName>style.visibility</p:attrName>
                                        </p:attrNameLst>
                                      </p:cBhvr>
                                      <p:to>
                                        <p:strVal val="visible"/>
                                      </p:to>
                                    </p:set>
                                    <p:animEffect transition="in" filter="fade">
                                      <p:cBhvr>
                                        <p:cTn id="53" dur="600"/>
                                        <p:tgtEl>
                                          <p:spTgt spid="52"/>
                                        </p:tgtEl>
                                      </p:cBhvr>
                                    </p:animEffect>
                                  </p:childTnLst>
                                </p:cTn>
                              </p:par>
                              <p:par>
                                <p:cTn id="54" presetID="10" presetClass="entr" presetSubtype="0" fill="hold" grpId="0" nodeType="withEffect">
                                  <p:stCondLst>
                                    <p:cond delay="1650"/>
                                  </p:stCondLst>
                                  <p:childTnLst>
                                    <p:set>
                                      <p:cBhvr>
                                        <p:cTn id="55" dur="1" fill="hold">
                                          <p:stCondLst>
                                            <p:cond delay="0"/>
                                          </p:stCondLst>
                                        </p:cTn>
                                        <p:tgtEl>
                                          <p:spTgt spid="53"/>
                                        </p:tgtEl>
                                        <p:attrNameLst>
                                          <p:attrName>style.visibility</p:attrName>
                                        </p:attrNameLst>
                                      </p:cBhvr>
                                      <p:to>
                                        <p:strVal val="visible"/>
                                      </p:to>
                                    </p:set>
                                    <p:animEffect transition="in" filter="fade">
                                      <p:cBhvr>
                                        <p:cTn id="56" dur="8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51" grpId="0" animBg="1"/>
      <p:bldP spid="52"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060A"/>
        </a:solidFill>
        <a:effectLst/>
      </p:bgPr>
    </p:bg>
    <p:spTree>
      <p:nvGrpSpPr>
        <p:cNvPr id="1" name=""/>
        <p:cNvGrpSpPr/>
        <p:nvPr/>
      </p:nvGrpSpPr>
      <p:grpSpPr/>
      <p:pic>
        <p:nvPicPr>
          <p:cNvPr id="2" name="!!bg" descr="bg.png"/>
          <p:cNvPicPr>
            <a:picLocks noChangeAspect="1"/>
          </p:cNvPicPr>
          <p:nvPr/>
        </p:nvPicPr>
        <p:blipFill>
          <a:blip r:embed="rId2"/>
          <a:stretch>
            <a:fillRect/>
          </a:stretch>
        </p:blipFill>
        <p:spPr>
          <a:xfrm>
            <a:off x="0" y="0"/>
            <a:ext cx="12191695" cy="6858000"/>
          </a:xfrm>
          <a:prstGeom prst="rect">
            <a:avLst/>
          </a:prstGeom>
        </p:spPr>
      </p:pic>
      <p:pic>
        <p:nvPicPr>
          <p:cNvPr id="3" name="!!orb_violet" descr="orb_violet.png"/>
          <p:cNvPicPr>
            <a:picLocks noChangeAspect="1"/>
          </p:cNvPicPr>
          <p:nvPr/>
        </p:nvPicPr>
        <p:blipFill>
          <a:blip r:embed="rId3"/>
          <a:stretch>
            <a:fillRect/>
          </a:stretch>
        </p:blipFill>
        <p:spPr>
          <a:xfrm>
            <a:off x="-914400" y="-1371600"/>
            <a:ext cx="7772400" cy="7772400"/>
          </a:xfrm>
          <a:prstGeom prst="rect">
            <a:avLst/>
          </a:prstGeom>
        </p:spPr>
      </p:pic>
      <p:pic>
        <p:nvPicPr>
          <p:cNvPr id="4" name="!!orb_cyan" descr="orb_cyan.png"/>
          <p:cNvPicPr>
            <a:picLocks noChangeAspect="1"/>
          </p:cNvPicPr>
          <p:nvPr/>
        </p:nvPicPr>
        <p:blipFill>
          <a:blip r:embed="rId4"/>
          <a:stretch>
            <a:fillRect/>
          </a:stretch>
        </p:blipFill>
        <p:spPr>
          <a:xfrm>
            <a:off x="5943600" y="1828800"/>
            <a:ext cx="7772400" cy="7772400"/>
          </a:xfrm>
          <a:prstGeom prst="rect">
            <a:avLst/>
          </a:prstGeom>
        </p:spPr>
      </p:pic>
      <p:pic>
        <p:nvPicPr>
          <p:cNvPr id="5" name="!!orb_rose" descr="orb_rose.png"/>
          <p:cNvPicPr>
            <a:picLocks noChangeAspect="1"/>
          </p:cNvPicPr>
          <p:nvPr/>
        </p:nvPicPr>
        <p:blipFill>
          <a:blip r:embed="rId5"/>
          <a:stretch>
            <a:fillRect/>
          </a:stretch>
        </p:blipFill>
        <p:spPr>
          <a:xfrm>
            <a:off x="3200400" y="4572000"/>
            <a:ext cx="4572000" cy="4572000"/>
          </a:xfrm>
          <a:prstGeom prst="rect">
            <a:avLst/>
          </a:prstGeom>
        </p:spPr>
      </p:pic>
      <p:pic>
        <p:nvPicPr>
          <p:cNvPr id="6" name="!!footlogo" descr="logo.png"/>
          <p:cNvPicPr>
            <a:picLocks noChangeAspect="1"/>
          </p:cNvPicPr>
          <p:nvPr/>
        </p:nvPicPr>
        <p:blipFill>
          <a:blip r:embed="rId6"/>
          <a:stretch>
            <a:fillRect/>
          </a:stretch>
        </p:blipFill>
        <p:spPr>
          <a:xfrm>
            <a:off x="548640" y="6327648"/>
            <a:ext cx="237744" cy="237744"/>
          </a:xfrm>
          <a:prstGeom prst="rect">
            <a:avLst/>
          </a:prstGeom>
        </p:spPr>
      </p:pic>
      <p:sp>
        <p:nvSpPr>
          <p:cNvPr id="7" name="!!footname"/>
          <p:cNvSpPr txBox="1"/>
          <p:nvPr/>
        </p:nvSpPr>
        <p:spPr>
          <a:xfrm>
            <a:off x="868680" y="6327648"/>
            <a:ext cx="2743200" cy="237744"/>
          </a:xfrm>
          <a:prstGeom prst="rect">
            <a:avLst/>
          </a:prstGeom>
          <a:noFill/>
        </p:spPr>
        <p:txBody>
          <a:bodyPr wrap="square" lIns="0" rIns="0" tIns="0" bIns="0" anchor="ctr">
            <a:spAutoFit/>
          </a:bodyPr>
          <a:lstStyle/>
          <a:p>
            <a:pPr algn="l"/>
            <a:r>
              <a:rPr sz="1100" b="1" i="0">
                <a:solidFill>
                  <a:srgbClr val="8B90A0"/>
                </a:solidFill>
                <a:latin typeface="Arial"/>
              </a:rPr>
              <a:t>Haven</a:t>
            </a:r>
          </a:p>
        </p:txBody>
      </p:sp>
      <p:sp>
        <p:nvSpPr>
          <p:cNvPr id="8" name="!!pageno"/>
          <p:cNvSpPr txBox="1"/>
          <p:nvPr/>
        </p:nvSpPr>
        <p:spPr>
          <a:xfrm>
            <a:off x="9814255" y="6327648"/>
            <a:ext cx="1828800" cy="237744"/>
          </a:xfrm>
          <a:prstGeom prst="rect">
            <a:avLst/>
          </a:prstGeom>
          <a:noFill/>
        </p:spPr>
        <p:txBody>
          <a:bodyPr wrap="square" lIns="0" rIns="0" tIns="0" bIns="0" anchor="ctr">
            <a:spAutoFit/>
          </a:bodyPr>
          <a:lstStyle/>
          <a:p>
            <a:pPr algn="r"/>
            <a:r>
              <a:rPr sz="1100" b="0" i="0">
                <a:solidFill>
                  <a:srgbClr val="8B90A0"/>
                </a:solidFill>
                <a:latin typeface="Arial"/>
              </a:rPr>
              <a:t>10 / 10</a:t>
            </a:r>
          </a:p>
        </p:txBody>
      </p:sp>
      <p:pic>
        <p:nvPicPr>
          <p:cNvPr id="9" name="!!herologo" descr="logo.png"/>
          <p:cNvPicPr>
            <a:picLocks noChangeAspect="1"/>
          </p:cNvPicPr>
          <p:nvPr/>
        </p:nvPicPr>
        <p:blipFill>
          <a:blip r:embed="rId6"/>
          <a:stretch>
            <a:fillRect/>
          </a:stretch>
        </p:blipFill>
        <p:spPr>
          <a:xfrm>
            <a:off x="5684367" y="594360"/>
            <a:ext cx="822960" cy="822960"/>
          </a:xfrm>
          <a:prstGeom prst="rect">
            <a:avLst/>
          </a:prstGeom>
        </p:spPr>
      </p:pic>
      <p:sp>
        <p:nvSpPr>
          <p:cNvPr id="10" name="text_457"/>
          <p:cNvSpPr txBox="1"/>
          <p:nvPr/>
        </p:nvSpPr>
        <p:spPr>
          <a:xfrm>
            <a:off x="914400" y="1600200"/>
            <a:ext cx="10362895" cy="274320"/>
          </a:xfrm>
          <a:prstGeom prst="rect">
            <a:avLst/>
          </a:prstGeom>
          <a:noFill/>
        </p:spPr>
        <p:txBody>
          <a:bodyPr wrap="square" lIns="0" rIns="0" tIns="0" bIns="0" anchor="t">
            <a:spAutoFit/>
          </a:bodyPr>
          <a:lstStyle/>
          <a:p>
            <a:pPr algn="ctr"/>
            <a:r>
              <a:rPr sz="1200" b="1" i="0" spc="300">
                <a:solidFill>
                  <a:srgbClr val="22D3EE"/>
                </a:solidFill>
                <a:latin typeface="Arial"/>
              </a:rPr>
              <a:t>VISION</a:t>
            </a:r>
          </a:p>
        </p:txBody>
      </p:sp>
      <p:sp>
        <p:nvSpPr>
          <p:cNvPr id="11" name="text_458"/>
          <p:cNvSpPr txBox="1"/>
          <p:nvPr/>
        </p:nvSpPr>
        <p:spPr>
          <a:xfrm>
            <a:off x="914400" y="1920240"/>
            <a:ext cx="10362895" cy="1188720"/>
          </a:xfrm>
          <a:prstGeom prst="rect">
            <a:avLst/>
          </a:prstGeom>
          <a:noFill/>
        </p:spPr>
        <p:txBody>
          <a:bodyPr wrap="square" lIns="0" rIns="0" tIns="0" bIns="0" anchor="ctr">
            <a:spAutoFit/>
          </a:bodyPr>
          <a:lstStyle/>
          <a:p>
            <a:pPr algn="ctr"/>
            <a:r>
              <a:rPr sz="3800" b="1" i="0">
                <a:solidFill>
                  <a:srgbClr val="FFFFFF"/>
                </a:solidFill>
                <a:latin typeface="Arial"/>
              </a:rPr>
              <a:t>Every community gets a</a:t>
            </a:r>
          </a:p>
          <a:p>
            <a:pPr algn="ctr"/>
            <a:r>
              <a:rPr sz="3800" b="1" i="0">
                <a:gradFill>
                  <a:gsLst>
                    <a:gs pos="0">
                      <a:srgbClr val="A78BFA"/>
                    </a:gs>
                    <a:gs pos="100000">
                      <a:srgbClr val="22D3EE"/>
                    </a:gs>
                  </a:gsLst>
                  <a:lin ang="0" scaled="0"/>
                </a:gradFill>
                <a:latin typeface="Arial"/>
              </a:rPr>
              <a:t>24/7 AI Trust &amp; Safety team</a:t>
            </a:r>
          </a:p>
        </p:txBody>
      </p:sp>
      <p:sp>
        <p:nvSpPr>
          <p:cNvPr id="12" name="text_459"/>
          <p:cNvSpPr txBox="1"/>
          <p:nvPr/>
        </p:nvSpPr>
        <p:spPr>
          <a:xfrm>
            <a:off x="678027" y="3383280"/>
            <a:ext cx="5486400" cy="274320"/>
          </a:xfrm>
          <a:prstGeom prst="rect">
            <a:avLst/>
          </a:prstGeom>
          <a:noFill/>
        </p:spPr>
        <p:txBody>
          <a:bodyPr wrap="square" lIns="0" rIns="0" tIns="0" bIns="0" anchor="t">
            <a:spAutoFit/>
          </a:bodyPr>
          <a:lstStyle/>
          <a:p>
            <a:pPr algn="l"/>
            <a:r>
              <a:rPr sz="1100" b="1" i="0" spc="200">
                <a:solidFill>
                  <a:srgbClr val="8B90A0"/>
                </a:solidFill>
                <a:latin typeface="Arial"/>
              </a:rPr>
              <a:t>OUR ASK</a:t>
            </a:r>
          </a:p>
        </p:txBody>
      </p:sp>
      <p:grpSp>
        <p:nvGrpSpPr>
          <p:cNvPr id="13" name="group_460"/>
          <p:cNvGrpSpPr/>
          <p:nvPr/>
        </p:nvGrpSpPr>
        <p:grpSpPr>
          <a:xfrm>
            <a:off x="678027" y="3749039"/>
            <a:ext cx="3429000" cy="1280160"/>
            <a:chOff x="678027" y="3749039"/>
            <a:chExt cx="3429000" cy="1280160"/>
          </a:xfrm>
        </p:grpSpPr>
        <p:sp>
          <p:nvSpPr>
            <p:cNvPr id="14" name="shape_461"/>
            <p:cNvSpPr/>
            <p:nvPr/>
          </p:nvSpPr>
          <p:spPr>
            <a:xfrm>
              <a:off x="678027" y="3749039"/>
              <a:ext cx="3429000" cy="1280160"/>
            </a:xfrm>
            <a:prstGeom prst="roundRect">
              <a:avLst>
                <a:gd name="adj" fmla="val 12857"/>
              </a:avLst>
            </a:prstGeom>
            <a:solidFill>
              <a:srgbClr val="22D3EE">
                <a:alpha val="7000"/>
              </a:srgbClr>
            </a:solidFill>
            <a:ln w="9525">
              <a:solidFill>
                <a:srgbClr val="22D3EE">
                  <a:alpha val="40000"/>
                </a:srgbClr>
              </a:solidFill>
            </a:ln>
          </p:spPr>
          <p:txBody>
            <a:bodyPr rtlCol="0" anchor="ctr"/>
            <a:lstStyle/>
            <a:p/>
          </p:txBody>
        </p:sp>
        <p:sp>
          <p:nvSpPr>
            <p:cNvPr id="15" name="text_462"/>
            <p:cNvSpPr txBox="1"/>
            <p:nvPr/>
          </p:nvSpPr>
          <p:spPr>
            <a:xfrm>
              <a:off x="952347" y="3931920"/>
              <a:ext cx="2880360" cy="320040"/>
            </a:xfrm>
            <a:prstGeom prst="rect">
              <a:avLst/>
            </a:prstGeom>
            <a:noFill/>
          </p:spPr>
          <p:txBody>
            <a:bodyPr wrap="square" lIns="0" rIns="0" tIns="0" bIns="0" anchor="t">
              <a:spAutoFit/>
            </a:bodyPr>
            <a:lstStyle/>
            <a:p>
              <a:pPr algn="l"/>
              <a:r>
                <a:rPr sz="1700" b="1" i="0">
                  <a:solidFill>
                    <a:srgbClr val="FFFFFF"/>
                  </a:solidFill>
                  <a:latin typeface="Arial"/>
                </a:rPr>
                <a:t>Design partners</a:t>
              </a:r>
            </a:p>
          </p:txBody>
        </p:sp>
        <p:sp>
          <p:nvSpPr>
            <p:cNvPr id="16" name="text_463"/>
            <p:cNvSpPr txBox="1"/>
            <p:nvPr/>
          </p:nvSpPr>
          <p:spPr>
            <a:xfrm>
              <a:off x="952347" y="4297680"/>
              <a:ext cx="2880360" cy="640080"/>
            </a:xfrm>
            <a:prstGeom prst="rect">
              <a:avLst/>
            </a:prstGeom>
            <a:noFill/>
          </p:spPr>
          <p:txBody>
            <a:bodyPr wrap="square" lIns="0" rIns="0" tIns="0" bIns="0" anchor="t">
              <a:spAutoFit/>
            </a:bodyPr>
            <a:lstStyle/>
            <a:p>
              <a:pPr algn="l"/>
              <a:r>
                <a:rPr sz="1300" b="0" i="0">
                  <a:solidFill>
                    <a:srgbClr val="8B90A0"/>
                  </a:solidFill>
                  <a:latin typeface="Arial"/>
                </a:rPr>
                <a:t>10 communities to pilot Starter and Growth this quarter</a:t>
              </a:r>
            </a:p>
          </p:txBody>
        </p:sp>
      </p:grpSp>
      <p:grpSp>
        <p:nvGrpSpPr>
          <p:cNvPr id="17" name="group_464"/>
          <p:cNvGrpSpPr/>
          <p:nvPr/>
        </p:nvGrpSpPr>
        <p:grpSpPr>
          <a:xfrm>
            <a:off x="4381347" y="3749039"/>
            <a:ext cx="3429000" cy="1280160"/>
            <a:chOff x="4381347" y="3749039"/>
            <a:chExt cx="3429000" cy="1280160"/>
          </a:xfrm>
        </p:grpSpPr>
        <p:sp>
          <p:nvSpPr>
            <p:cNvPr id="18" name="shape_465"/>
            <p:cNvSpPr/>
            <p:nvPr/>
          </p:nvSpPr>
          <p:spPr>
            <a:xfrm>
              <a:off x="4381347" y="3749039"/>
              <a:ext cx="3429000" cy="1280160"/>
            </a:xfrm>
            <a:prstGeom prst="roundRect">
              <a:avLst>
                <a:gd name="adj" fmla="val 12857"/>
              </a:avLst>
            </a:prstGeom>
            <a:solidFill>
              <a:srgbClr val="A78BFA">
                <a:alpha val="7000"/>
              </a:srgbClr>
            </a:solidFill>
            <a:ln w="9525">
              <a:solidFill>
                <a:srgbClr val="A78BFA">
                  <a:alpha val="40000"/>
                </a:srgbClr>
              </a:solidFill>
            </a:ln>
          </p:spPr>
          <p:txBody>
            <a:bodyPr rtlCol="0" anchor="ctr"/>
            <a:lstStyle/>
            <a:p/>
          </p:txBody>
        </p:sp>
        <p:sp>
          <p:nvSpPr>
            <p:cNvPr id="19" name="text_466"/>
            <p:cNvSpPr txBox="1"/>
            <p:nvPr/>
          </p:nvSpPr>
          <p:spPr>
            <a:xfrm>
              <a:off x="4655667" y="3931920"/>
              <a:ext cx="2880360" cy="320040"/>
            </a:xfrm>
            <a:prstGeom prst="rect">
              <a:avLst/>
            </a:prstGeom>
            <a:noFill/>
          </p:spPr>
          <p:txBody>
            <a:bodyPr wrap="square" lIns="0" rIns="0" tIns="0" bIns="0" anchor="t">
              <a:spAutoFit/>
            </a:bodyPr>
            <a:lstStyle/>
            <a:p>
              <a:pPr algn="l"/>
              <a:r>
                <a:rPr sz="1700" b="1" i="0">
                  <a:solidFill>
                    <a:srgbClr val="FFFFFF"/>
                  </a:solidFill>
                  <a:latin typeface="Arial"/>
                </a:rPr>
                <a:t>Platform partners</a:t>
              </a:r>
            </a:p>
          </p:txBody>
        </p:sp>
        <p:sp>
          <p:nvSpPr>
            <p:cNvPr id="20" name="text_467"/>
            <p:cNvSpPr txBox="1"/>
            <p:nvPr/>
          </p:nvSpPr>
          <p:spPr>
            <a:xfrm>
              <a:off x="4655667" y="4297680"/>
              <a:ext cx="2880360" cy="640080"/>
            </a:xfrm>
            <a:prstGeom prst="rect">
              <a:avLst/>
            </a:prstGeom>
            <a:noFill/>
          </p:spPr>
          <p:txBody>
            <a:bodyPr wrap="square" lIns="0" rIns="0" tIns="0" bIns="0" anchor="t">
              <a:spAutoFit/>
            </a:bodyPr>
            <a:lstStyle/>
            <a:p>
              <a:pPr algn="l"/>
              <a:r>
                <a:rPr sz="1300" b="0" i="0">
                  <a:solidFill>
                    <a:srgbClr val="8B90A0"/>
                  </a:solidFill>
                  <a:latin typeface="Arial"/>
                </a:rPr>
                <a:t>Discord, Slack and Telegram app-directory distribution</a:t>
              </a:r>
            </a:p>
          </p:txBody>
        </p:sp>
      </p:grpSp>
      <p:grpSp>
        <p:nvGrpSpPr>
          <p:cNvPr id="21" name="group_468"/>
          <p:cNvGrpSpPr/>
          <p:nvPr/>
        </p:nvGrpSpPr>
        <p:grpSpPr>
          <a:xfrm>
            <a:off x="8084667" y="3749039"/>
            <a:ext cx="3429000" cy="1280160"/>
            <a:chOff x="8084667" y="3749039"/>
            <a:chExt cx="3429000" cy="1280160"/>
          </a:xfrm>
        </p:grpSpPr>
        <p:sp>
          <p:nvSpPr>
            <p:cNvPr id="22" name="shape_469"/>
            <p:cNvSpPr/>
            <p:nvPr/>
          </p:nvSpPr>
          <p:spPr>
            <a:xfrm>
              <a:off x="8084667" y="3749039"/>
              <a:ext cx="3429000" cy="1280160"/>
            </a:xfrm>
            <a:prstGeom prst="roundRect">
              <a:avLst>
                <a:gd name="adj" fmla="val 12857"/>
              </a:avLst>
            </a:prstGeom>
            <a:solidFill>
              <a:srgbClr val="10B981">
                <a:alpha val="7000"/>
              </a:srgbClr>
            </a:solidFill>
            <a:ln w="9525">
              <a:solidFill>
                <a:srgbClr val="10B981">
                  <a:alpha val="40000"/>
                </a:srgbClr>
              </a:solidFill>
            </a:ln>
          </p:spPr>
          <p:txBody>
            <a:bodyPr rtlCol="0" anchor="ctr"/>
            <a:lstStyle/>
            <a:p/>
          </p:txBody>
        </p:sp>
        <p:sp>
          <p:nvSpPr>
            <p:cNvPr id="23" name="text_470"/>
            <p:cNvSpPr txBox="1"/>
            <p:nvPr/>
          </p:nvSpPr>
          <p:spPr>
            <a:xfrm>
              <a:off x="8358987" y="3931920"/>
              <a:ext cx="2880360" cy="320040"/>
            </a:xfrm>
            <a:prstGeom prst="rect">
              <a:avLst/>
            </a:prstGeom>
            <a:noFill/>
          </p:spPr>
          <p:txBody>
            <a:bodyPr wrap="square" lIns="0" rIns="0" tIns="0" bIns="0" anchor="t">
              <a:spAutoFit/>
            </a:bodyPr>
            <a:lstStyle/>
            <a:p>
              <a:pPr algn="l"/>
              <a:r>
                <a:rPr sz="1700" b="1" i="0">
                  <a:solidFill>
                    <a:srgbClr val="FFFFFF"/>
                  </a:solidFill>
                  <a:latin typeface="Arial"/>
                </a:rPr>
                <a:t>Support</a:t>
              </a:r>
            </a:p>
          </p:txBody>
        </p:sp>
        <p:sp>
          <p:nvSpPr>
            <p:cNvPr id="24" name="text_471"/>
            <p:cNvSpPr txBox="1"/>
            <p:nvPr/>
          </p:nvSpPr>
          <p:spPr>
            <a:xfrm>
              <a:off x="8358987" y="4297680"/>
              <a:ext cx="2880360" cy="640080"/>
            </a:xfrm>
            <a:prstGeom prst="rect">
              <a:avLst/>
            </a:prstGeom>
            <a:noFill/>
          </p:spPr>
          <p:txBody>
            <a:bodyPr wrap="square" lIns="0" rIns="0" tIns="0" bIns="0" anchor="t">
              <a:spAutoFit/>
            </a:bodyPr>
            <a:lstStyle/>
            <a:p>
              <a:pPr algn="l"/>
              <a:r>
                <a:rPr sz="1300" b="0" i="0">
                  <a:solidFill>
                    <a:srgbClr val="8B90A0"/>
                  </a:solidFill>
                  <a:latin typeface="Arial"/>
                </a:rPr>
                <a:t>Sponsor credits and prize funding to scale the AI team</a:t>
              </a:r>
            </a:p>
          </p:txBody>
        </p:sp>
      </p:grpSp>
      <p:grpSp>
        <p:nvGrpSpPr>
          <p:cNvPr id="25" name="group_472"/>
          <p:cNvGrpSpPr/>
          <p:nvPr/>
        </p:nvGrpSpPr>
        <p:grpSpPr>
          <a:xfrm>
            <a:off x="3718407" y="5394960"/>
            <a:ext cx="4754880" cy="566928"/>
            <a:chOff x="3718407" y="5394960"/>
            <a:chExt cx="4754880" cy="566928"/>
          </a:xfrm>
        </p:grpSpPr>
        <p:sp>
          <p:nvSpPr>
            <p:cNvPr id="26" name="shape_473"/>
            <p:cNvSpPr/>
            <p:nvPr/>
          </p:nvSpPr>
          <p:spPr>
            <a:xfrm>
              <a:off x="3718407" y="5394960"/>
              <a:ext cx="4754880" cy="566928"/>
            </a:xfrm>
            <a:prstGeom prst="roundRect">
              <a:avLst>
                <a:gd name="adj" fmla="val 50000"/>
              </a:avLst>
            </a:prstGeom>
            <a:gradFill rotWithShape="1">
              <a:gsLst>
                <a:gs pos="0">
                  <a:srgbClr val="8B5CF6"/>
                </a:gs>
                <a:gs pos="100000">
                  <a:srgbClr val="0891B2"/>
                </a:gs>
              </a:gsLst>
              <a:lin scaled="0" ang="0"/>
            </a:gradFill>
            <a:ln>
              <a:noFill/>
            </a:ln>
            <a:effectLst>
              <a:glow rad="203200">
                <a:srgbClr val="8B5CF6">
                  <a:alpha val="40000"/>
                </a:srgbClr>
              </a:glow>
            </a:effectLst>
          </p:spPr>
          <p:txBody>
            <a:bodyPr rtlCol="0" anchor="ctr"/>
            <a:lstStyle/>
            <a:p/>
          </p:txBody>
        </p:sp>
        <p:sp>
          <p:nvSpPr>
            <p:cNvPr id="27" name="text_474">
              <a:hlinkClick r:id="rId7"/>
            </p:cNvPr>
            <p:cNvSpPr txBox="1"/>
            <p:nvPr/>
          </p:nvSpPr>
          <p:spPr>
            <a:xfrm>
              <a:off x="3718407" y="5394960"/>
              <a:ext cx="4754880" cy="566928"/>
            </a:xfrm>
            <a:prstGeom prst="rect">
              <a:avLst/>
            </a:prstGeom>
            <a:noFill/>
          </p:spPr>
          <p:txBody>
            <a:bodyPr wrap="square" lIns="0" rIns="0" tIns="0" bIns="0" anchor="ctr">
              <a:spAutoFit/>
            </a:bodyPr>
            <a:lstStyle/>
            <a:p>
              <a:pPr algn="ctr"/>
              <a:r>
                <a:rPr sz="1700" b="1" i="0">
                  <a:solidFill>
                    <a:srgbClr val="FFFFFF"/>
                  </a:solidFill>
                  <a:latin typeface="Arial"/>
                </a:rPr>
                <a:t>github.com/vnmoorthy/haven  →</a:t>
              </a:r>
            </a:p>
          </p:txBody>
        </p:sp>
      </p:grpSp>
      <p:sp>
        <p:nvSpPr>
          <p:cNvPr id="28" name="text_475"/>
          <p:cNvSpPr txBox="1"/>
          <p:nvPr/>
        </p:nvSpPr>
        <p:spPr>
          <a:xfrm>
            <a:off x="914400" y="6172200"/>
            <a:ext cx="10362895" cy="274320"/>
          </a:xfrm>
          <a:prstGeom prst="rect">
            <a:avLst/>
          </a:prstGeom>
          <a:noFill/>
        </p:spPr>
        <p:txBody>
          <a:bodyPr wrap="square" lIns="0" rIns="0" tIns="0" bIns="0" anchor="t">
            <a:spAutoFit/>
          </a:bodyPr>
          <a:lstStyle/>
          <a:p>
            <a:pPr algn="ctr"/>
            <a:r>
              <a:rPr sz="1200" b="0" i="0">
                <a:solidFill>
                  <a:srgbClr val="8B90A0"/>
                </a:solidFill>
                <a:latin typeface="Arial"/>
              </a:rPr>
              <a:t>Built by Moorthy + 8 AI employees  ·  Thank you</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00" fill="hold"/>
                                        <p:tgtEl>
                                          <p:spTgt spid="9"/>
                                        </p:tgtEl>
                                        <p:attrNameLst>
                                          <p:attrName>ppt_w</p:attrName>
                                        </p:attrNameLst>
                                      </p:cBhvr>
                                      <p:tavLst>
                                        <p:tav tm="0">
                                          <p:val>
                                            <p:strVal val="0"/>
                                          </p:val>
                                        </p:tav>
                                        <p:tav tm="100000">
                                          <p:val>
                                            <p:strVal val="#ppt_w"/>
                                          </p:val>
                                        </p:tav>
                                      </p:tavLst>
                                    </p:anim>
                                    <p:anim calcmode="lin" valueType="num">
                                      <p:cBhvr additive="base">
                                        <p:cTn id="8" dur="700" fill="hold"/>
                                        <p:tgtEl>
                                          <p:spTgt spid="9"/>
                                        </p:tgtEl>
                                        <p:attrNameLst>
                                          <p:attrName>ppt_h</p:attrName>
                                        </p:attrNameLst>
                                      </p:cBhvr>
                                      <p:tavLst>
                                        <p:tav tm="0">
                                          <p:val>
                                            <p:strVal val="0"/>
                                          </p:val>
                                        </p:tav>
                                        <p:tav tm="100000">
                                          <p:val>
                                            <p:strVal val="#ppt_h"/>
                                          </p:val>
                                        </p:tav>
                                      </p:tavLst>
                                    </p:anim>
                                    <p:animEffect transition="in" filter="fade">
                                      <p:cBhvr>
                                        <p:cTn id="9" dur="700"/>
                                        <p:tgtEl>
                                          <p:spTgt spid="9"/>
                                        </p:tgtEl>
                                      </p:cBhvr>
                                    </p:animEffect>
                                  </p:childTnLst>
                                </p:cTn>
                              </p:par>
                              <p:par>
                                <p:cTn id="10" presetID="10" presetClass="entr" presetSubtype="0" fill="hold" grpId="0" nodeType="withEffect">
                                  <p:stCondLst>
                                    <p:cond delay="20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600"/>
                                        <p:tgtEl>
                                          <p:spTgt spid="10"/>
                                        </p:tgtEl>
                                      </p:cBhvr>
                                    </p:animEffect>
                                  </p:childTnLst>
                                </p:cTn>
                              </p:par>
                              <p:par>
                                <p:cTn id="13" presetID="42" presetClass="entr" presetSubtype="0" fill="hold" grpId="0" nodeType="withEffect">
                                  <p:stCondLst>
                                    <p:cond delay="35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800"/>
                                        <p:tgtEl>
                                          <p:spTgt spid="11"/>
                                        </p:tgtEl>
                                      </p:cBhvr>
                                    </p:animEffect>
                                    <p:anim calcmode="lin" valueType="num">
                                      <p:cBhvr additive="base">
                                        <p:cTn id="16" dur="800" fill="hold"/>
                                        <p:tgtEl>
                                          <p:spTgt spid="11"/>
                                        </p:tgtEl>
                                        <p:attrNameLst>
                                          <p:attrName>ppt_x</p:attrName>
                                        </p:attrNameLst>
                                      </p:cBhvr>
                                      <p:tavLst>
                                        <p:tav tm="0">
                                          <p:val>
                                            <p:strVal val="#ppt_x"/>
                                          </p:val>
                                        </p:tav>
                                        <p:tav tm="100000">
                                          <p:val>
                                            <p:strVal val="#ppt_x"/>
                                          </p:val>
                                        </p:tav>
                                      </p:tavLst>
                                    </p:anim>
                                    <p:anim calcmode="lin" valueType="num">
                                      <p:cBhvr additive="base">
                                        <p:cTn id="17" dur="800" fill="hold"/>
                                        <p:tgtEl>
                                          <p:spTgt spid="11"/>
                                        </p:tgtEl>
                                        <p:attrNameLst>
                                          <p:attrName>ppt_y</p:attrName>
                                        </p:attrNameLst>
                                      </p:cBhvr>
                                      <p:tavLst>
                                        <p:tav tm="0">
                                          <p:val>
                                            <p:strVal val="#ppt_y+.06"/>
                                          </p:val>
                                        </p:tav>
                                        <p:tav tm="100000">
                                          <p:val>
                                            <p:strVal val="#ppt_y"/>
                                          </p:val>
                                        </p:tav>
                                      </p:tavLst>
                                    </p:anim>
                                  </p:childTnLst>
                                </p:cTn>
                              </p:par>
                              <p:par>
                                <p:cTn id="18" presetID="10" presetClass="entr" presetSubtype="0" fill="hold" grpId="0" nodeType="withEffect">
                                  <p:stCondLst>
                                    <p:cond delay="80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600"/>
                                        <p:tgtEl>
                                          <p:spTgt spid="12"/>
                                        </p:tgtEl>
                                      </p:cBhvr>
                                    </p:animEffect>
                                  </p:childTnLst>
                                </p:cTn>
                              </p:par>
                              <p:par>
                                <p:cTn id="21" presetID="42" presetClass="entr" presetSubtype="0" fill="hold" grpId="0" nodeType="withEffect">
                                  <p:stCondLst>
                                    <p:cond delay="95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600"/>
                                        <p:tgtEl>
                                          <p:spTgt spid="13"/>
                                        </p:tgtEl>
                                      </p:cBhvr>
                                    </p:animEffect>
                                    <p:anim calcmode="lin" valueType="num">
                                      <p:cBhvr additive="base">
                                        <p:cTn id="24" dur="600" fill="hold"/>
                                        <p:tgtEl>
                                          <p:spTgt spid="13"/>
                                        </p:tgtEl>
                                        <p:attrNameLst>
                                          <p:attrName>ppt_x</p:attrName>
                                        </p:attrNameLst>
                                      </p:cBhvr>
                                      <p:tavLst>
                                        <p:tav tm="0">
                                          <p:val>
                                            <p:strVal val="#ppt_x"/>
                                          </p:val>
                                        </p:tav>
                                        <p:tav tm="100000">
                                          <p:val>
                                            <p:strVal val="#ppt_x"/>
                                          </p:val>
                                        </p:tav>
                                      </p:tavLst>
                                    </p:anim>
                                    <p:anim calcmode="lin" valueType="num">
                                      <p:cBhvr additive="base">
                                        <p:cTn id="25" dur="600" fill="hold"/>
                                        <p:tgtEl>
                                          <p:spTgt spid="13"/>
                                        </p:tgtEl>
                                        <p:attrNameLst>
                                          <p:attrName>ppt_y</p:attrName>
                                        </p:attrNameLst>
                                      </p:cBhvr>
                                      <p:tavLst>
                                        <p:tav tm="0">
                                          <p:val>
                                            <p:strVal val="#ppt_y+.06"/>
                                          </p:val>
                                        </p:tav>
                                        <p:tav tm="100000">
                                          <p:val>
                                            <p:strVal val="#ppt_y"/>
                                          </p:val>
                                        </p:tav>
                                      </p:tavLst>
                                    </p:anim>
                                  </p:childTnLst>
                                </p:cTn>
                              </p:par>
                              <p:par>
                                <p:cTn id="26" presetID="42" presetClass="entr" presetSubtype="0" fill="hold" grpId="0" nodeType="withEffect">
                                  <p:stCondLst>
                                    <p:cond delay="113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600"/>
                                        <p:tgtEl>
                                          <p:spTgt spid="17"/>
                                        </p:tgtEl>
                                      </p:cBhvr>
                                    </p:animEffect>
                                    <p:anim calcmode="lin" valueType="num">
                                      <p:cBhvr additive="base">
                                        <p:cTn id="29" dur="600" fill="hold"/>
                                        <p:tgtEl>
                                          <p:spTgt spid="17"/>
                                        </p:tgtEl>
                                        <p:attrNameLst>
                                          <p:attrName>ppt_x</p:attrName>
                                        </p:attrNameLst>
                                      </p:cBhvr>
                                      <p:tavLst>
                                        <p:tav tm="0">
                                          <p:val>
                                            <p:strVal val="#ppt_x"/>
                                          </p:val>
                                        </p:tav>
                                        <p:tav tm="100000">
                                          <p:val>
                                            <p:strVal val="#ppt_x"/>
                                          </p:val>
                                        </p:tav>
                                      </p:tavLst>
                                    </p:anim>
                                    <p:anim calcmode="lin" valueType="num">
                                      <p:cBhvr additive="base">
                                        <p:cTn id="30" dur="600" fill="hold"/>
                                        <p:tgtEl>
                                          <p:spTgt spid="17"/>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131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600"/>
                                        <p:tgtEl>
                                          <p:spTgt spid="21"/>
                                        </p:tgtEl>
                                      </p:cBhvr>
                                    </p:animEffect>
                                    <p:anim calcmode="lin" valueType="num">
                                      <p:cBhvr additive="base">
                                        <p:cTn id="34" dur="600" fill="hold"/>
                                        <p:tgtEl>
                                          <p:spTgt spid="21"/>
                                        </p:tgtEl>
                                        <p:attrNameLst>
                                          <p:attrName>ppt_x</p:attrName>
                                        </p:attrNameLst>
                                      </p:cBhvr>
                                      <p:tavLst>
                                        <p:tav tm="0">
                                          <p:val>
                                            <p:strVal val="#ppt_x"/>
                                          </p:val>
                                        </p:tav>
                                        <p:tav tm="100000">
                                          <p:val>
                                            <p:strVal val="#ppt_x"/>
                                          </p:val>
                                        </p:tav>
                                      </p:tavLst>
                                    </p:anim>
                                    <p:anim calcmode="lin" valueType="num">
                                      <p:cBhvr additive="base">
                                        <p:cTn id="35" dur="600" fill="hold"/>
                                        <p:tgtEl>
                                          <p:spTgt spid="21"/>
                                        </p:tgtEl>
                                        <p:attrNameLst>
                                          <p:attrName>ppt_y</p:attrName>
                                        </p:attrNameLst>
                                      </p:cBhvr>
                                      <p:tavLst>
                                        <p:tav tm="0">
                                          <p:val>
                                            <p:strVal val="#ppt_y+.06"/>
                                          </p:val>
                                        </p:tav>
                                        <p:tav tm="100000">
                                          <p:val>
                                            <p:strVal val="#ppt_y"/>
                                          </p:val>
                                        </p:tav>
                                      </p:tavLst>
                                    </p:anim>
                                  </p:childTnLst>
                                </p:cTn>
                              </p:par>
                              <p:par>
                                <p:cTn id="36" presetID="53" presetClass="entr" presetSubtype="16" fill="hold" grpId="0" nodeType="withEffect">
                                  <p:stCondLst>
                                    <p:cond delay="1600"/>
                                  </p:stCondLst>
                                  <p:childTnLst>
                                    <p:set>
                                      <p:cBhvr>
                                        <p:cTn id="37" dur="1" fill="hold">
                                          <p:stCondLst>
                                            <p:cond delay="0"/>
                                          </p:stCondLst>
                                        </p:cTn>
                                        <p:tgtEl>
                                          <p:spTgt spid="25"/>
                                        </p:tgtEl>
                                        <p:attrNameLst>
                                          <p:attrName>style.visibility</p:attrName>
                                        </p:attrNameLst>
                                      </p:cBhvr>
                                      <p:to>
                                        <p:strVal val="visible"/>
                                      </p:to>
                                    </p:set>
                                    <p:anim calcmode="lin" valueType="num">
                                      <p:cBhvr additive="base">
                                        <p:cTn id="38" dur="700" fill="hold"/>
                                        <p:tgtEl>
                                          <p:spTgt spid="25"/>
                                        </p:tgtEl>
                                        <p:attrNameLst>
                                          <p:attrName>ppt_w</p:attrName>
                                        </p:attrNameLst>
                                      </p:cBhvr>
                                      <p:tavLst>
                                        <p:tav tm="0">
                                          <p:val>
                                            <p:strVal val="0"/>
                                          </p:val>
                                        </p:tav>
                                        <p:tav tm="100000">
                                          <p:val>
                                            <p:strVal val="#ppt_w"/>
                                          </p:val>
                                        </p:tav>
                                      </p:tavLst>
                                    </p:anim>
                                    <p:anim calcmode="lin" valueType="num">
                                      <p:cBhvr additive="base">
                                        <p:cTn id="39" dur="700" fill="hold"/>
                                        <p:tgtEl>
                                          <p:spTgt spid="25"/>
                                        </p:tgtEl>
                                        <p:attrNameLst>
                                          <p:attrName>ppt_h</p:attrName>
                                        </p:attrNameLst>
                                      </p:cBhvr>
                                      <p:tavLst>
                                        <p:tav tm="0">
                                          <p:val>
                                            <p:strVal val="0"/>
                                          </p:val>
                                        </p:tav>
                                        <p:tav tm="100000">
                                          <p:val>
                                            <p:strVal val="#ppt_h"/>
                                          </p:val>
                                        </p:tav>
                                      </p:tavLst>
                                    </p:anim>
                                    <p:animEffect transition="in" filter="fade">
                                      <p:cBhvr>
                                        <p:cTn id="40" dur="700"/>
                                        <p:tgtEl>
                                          <p:spTgt spid="25"/>
                                        </p:tgtEl>
                                      </p:cBhvr>
                                    </p:animEffect>
                                  </p:childTnLst>
                                </p:cTn>
                              </p:par>
                              <p:par>
                                <p:cTn id="41" presetID="10" presetClass="entr" presetSubtype="0" fill="hold" grpId="0" nodeType="withEffect">
                                  <p:stCondLst>
                                    <p:cond delay="210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6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2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Haven — Pitch</dc:title>
  <dc:subject>The AI Trust &amp; Safety team for every online community</dc:subject>
  <dc:creator>Moorthy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